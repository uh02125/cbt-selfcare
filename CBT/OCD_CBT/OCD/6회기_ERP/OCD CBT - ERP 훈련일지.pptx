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handoutMasterIdLst>
    <p:handoutMasterId r:id="rId14"/>
  </p:handoutMasterIdLst>
  <p:sldIdLst>
    <p:sldId id="260" r:id="rId2"/>
    <p:sldId id="320" r:id="rId3"/>
    <p:sldId id="348" r:id="rId4"/>
    <p:sldId id="349" r:id="rId5"/>
    <p:sldId id="350" r:id="rId6"/>
    <p:sldId id="358" r:id="rId7"/>
    <p:sldId id="357" r:id="rId8"/>
    <p:sldId id="352" r:id="rId9"/>
    <p:sldId id="353" r:id="rId10"/>
    <p:sldId id="354" r:id="rId11"/>
    <p:sldId id="355" r:id="rId12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D5D"/>
    <a:srgbClr val="DDD2B5"/>
    <a:srgbClr val="9773AE"/>
    <a:srgbClr val="9CD100"/>
    <a:srgbClr val="FF7C80"/>
    <a:srgbClr val="00CC99"/>
    <a:srgbClr val="009999"/>
    <a:srgbClr val="33CC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>
      <p:cViewPr>
        <p:scale>
          <a:sx n="100" d="100"/>
          <a:sy n="100" d="100"/>
        </p:scale>
        <p:origin x="-119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D676CADA-8BA1-4ED6-8A17-60CA8E1AB4A3}" type="datetimeFigureOut">
              <a:rPr lang="ko-KR" altLang="en-US"/>
              <a:pPr>
                <a:defRPr/>
              </a:pPr>
              <a:t>2010-12-30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D2D86BEE-42A7-4614-ABFB-DC23BFCFC2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5E55F055-A9DD-46EE-89CE-7EDCDEE33221}" type="datetimeFigureOut">
              <a:rPr lang="ko-KR" altLang="en-US"/>
              <a:pPr>
                <a:defRPr/>
              </a:pPr>
              <a:t>2010-12-30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B7C6A71F-2822-4043-9351-05414AE3757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 bwMode="auto">
          <a:xfrm>
            <a:off x="385763" y="547688"/>
            <a:ext cx="8758237" cy="714375"/>
          </a:xfrm>
          <a:prstGeom prst="rect">
            <a:avLst/>
          </a:prstGeom>
          <a:solidFill>
            <a:srgbClr val="27305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b="1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  <p:sp>
        <p:nvSpPr>
          <p:cNvPr id="3" name="직사각형 2"/>
          <p:cNvSpPr/>
          <p:nvPr/>
        </p:nvSpPr>
        <p:spPr bwMode="auto">
          <a:xfrm>
            <a:off x="0" y="547688"/>
            <a:ext cx="120650" cy="71437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b="1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  <p:pic>
        <p:nvPicPr>
          <p:cNvPr id="4" name="그림 8" descr="The_Presentation_logo_M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72375" y="142875"/>
            <a:ext cx="13906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9A0C1-1DF7-438A-BE44-98AB5A85E6B2}" type="datetimeFigureOut">
              <a:rPr lang="ko-KR" altLang="en-US"/>
              <a:pPr>
                <a:defRPr/>
              </a:pPr>
              <a:t>2010-12-30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935E6-50EA-4E12-B797-D50C5A526C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5CBD4-0650-402A-893C-31CCDA46DF74}" type="datetimeFigureOut">
              <a:rPr lang="ko-KR" altLang="en-US"/>
              <a:pPr>
                <a:defRPr/>
              </a:pPr>
              <a:t>2010-12-30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2D826-EEB6-4B28-930C-1AB104AC0EF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1C2C83B-A358-471F-B7B9-13E67019DF24}" type="datetimeFigureOut">
              <a:rPr lang="ko-KR" altLang="en-US"/>
              <a:pPr>
                <a:defRPr/>
              </a:pPr>
              <a:t>2010-12-30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F8C8351-8F2B-4AA7-B733-72337AAC6E2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77" r:id="rId2"/>
    <p:sldLayoutId id="2147483778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42938" y="1571625"/>
            <a:ext cx="7786687" cy="18573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z="3000" b="1" dirty="0" smtClean="0">
                <a:latin typeface="HY강M" pitchFamily="18" charset="-127"/>
                <a:ea typeface="HY강M" pitchFamily="18" charset="-127"/>
              </a:rPr>
              <a:t> </a:t>
            </a:r>
            <a:r>
              <a:rPr lang="ko-KR" altLang="en-US" sz="3000" b="1" dirty="0" err="1" smtClean="0">
                <a:solidFill>
                  <a:schemeClr val="accent5">
                    <a:lumMod val="50000"/>
                  </a:schemeClr>
                </a:solidFill>
              </a:rPr>
              <a:t>강박증</a:t>
            </a:r>
            <a:r>
              <a:rPr lang="ko-KR" altLang="en-US" sz="3000" b="1" dirty="0" smtClean="0">
                <a:solidFill>
                  <a:schemeClr val="accent5">
                    <a:lumMod val="50000"/>
                  </a:schemeClr>
                </a:solidFill>
              </a:rPr>
              <a:t> 인지행동치료 프로그램</a:t>
            </a:r>
            <a:r>
              <a:rPr lang="en-US" altLang="ko-KR" sz="30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altLang="ko-KR" sz="30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C</a:t>
            </a:r>
            <a:r>
              <a:rPr kumimoji="1" lang="en-US" altLang="ko-KR" sz="2800" b="1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ognitive </a:t>
            </a: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B</a:t>
            </a:r>
            <a:r>
              <a:rPr kumimoji="1" lang="en-US" altLang="ko-KR" sz="2800" b="1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ehavior </a:t>
            </a: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T</a:t>
            </a:r>
            <a:r>
              <a:rPr kumimoji="1" lang="en-US" altLang="ko-KR" sz="2800" b="1" dirty="0" smtClean="0">
                <a:solidFill>
                  <a:schemeClr val="bg1">
                    <a:lumMod val="65000"/>
                  </a:schemeClr>
                </a:solidFill>
                <a:latin typeface="Arial Narrow" pitchFamily="34" charset="0"/>
              </a:rPr>
              <a:t>reatment for </a:t>
            </a:r>
            <a:r>
              <a:rPr kumimoji="1" lang="en-US" altLang="ko-KR" sz="2800" b="1" dirty="0" smtClean="0">
                <a:solidFill>
                  <a:schemeClr val="accent5">
                    <a:lumMod val="75000"/>
                  </a:schemeClr>
                </a:solidFill>
                <a:latin typeface="Arial Narrow" pitchFamily="34" charset="0"/>
              </a:rPr>
              <a:t>OCD</a:t>
            </a:r>
            <a:endParaRPr lang="ko-KR" altLang="en-US" sz="28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785813" y="3357563"/>
            <a:ext cx="7715250" cy="2092325"/>
          </a:xfrm>
        </p:spPr>
        <p:txBody>
          <a:bodyPr/>
          <a:lstStyle/>
          <a:p>
            <a:pPr eaLnBrk="1" hangingPunct="1"/>
            <a:endParaRPr lang="en-US" altLang="ko-KR" sz="2400" dirty="0" smtClean="0">
              <a:solidFill>
                <a:schemeClr val="tx1"/>
              </a:solidFill>
            </a:endParaRPr>
          </a:p>
          <a:p>
            <a:pPr eaLnBrk="1" hangingPunct="1"/>
            <a:r>
              <a:rPr lang="en-US" altLang="ko-KR" b="1" dirty="0" smtClean="0">
                <a:solidFill>
                  <a:srgbClr val="FF7C80"/>
                </a:solidFill>
              </a:rPr>
              <a:t>Session 6</a:t>
            </a:r>
            <a:endParaRPr lang="ko-KR" altLang="en-US" sz="2800" b="1" dirty="0" smtClean="0">
              <a:solidFill>
                <a:srgbClr val="FF7C8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4375" y="3071813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714375" y="1857375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5" y="5429250"/>
            <a:ext cx="9144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직선 연결선 11"/>
          <p:cNvCxnSpPr/>
          <p:nvPr/>
        </p:nvCxnSpPr>
        <p:spPr>
          <a:xfrm>
            <a:off x="785813" y="2357438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785813" y="1143000"/>
            <a:ext cx="77152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2"/>
          <p:cNvSpPr txBox="1">
            <a:spLocks noChangeArrowheads="1"/>
          </p:cNvSpPr>
          <p:nvPr/>
        </p:nvSpPr>
        <p:spPr bwMode="auto">
          <a:xfrm>
            <a:off x="1000125" y="928688"/>
            <a:ext cx="7239000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kumimoji="0" lang="en-US" altLang="ko-KR" sz="2800" b="1" dirty="0">
                <a:latin typeface="맑은 고딕" pitchFamily="50" charset="-127"/>
                <a:ea typeface="맑은 고딕" pitchFamily="50" charset="-127"/>
                <a:cs typeface="+mj-cs"/>
              </a:rPr>
              <a:t> </a:t>
            </a:r>
            <a:r>
              <a:rPr kumimoji="0" lang="en-US" altLang="ko-KR" sz="2400" b="1" dirty="0" smtClean="0">
                <a:latin typeface="맑은 고딕" pitchFamily="50" charset="-127"/>
                <a:ea typeface="맑은 고딕" pitchFamily="50" charset="-127"/>
                <a:cs typeface="+mj-cs"/>
              </a:rPr>
              <a:t>6</a:t>
            </a:r>
            <a:r>
              <a:rPr kumimoji="0" lang="ko-KR" altLang="en-US" sz="2400" b="1" dirty="0" smtClean="0">
                <a:latin typeface="맑은 고딕" pitchFamily="50" charset="-127"/>
                <a:ea typeface="맑은 고딕" pitchFamily="50" charset="-127"/>
                <a:cs typeface="+mj-cs"/>
              </a:rPr>
              <a:t>주차 </a:t>
            </a: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  <a:cs typeface="+mj-cs"/>
              </a:rPr>
              <a:t>인지행동치료 프로그램 </a:t>
            </a:r>
            <a:r>
              <a:rPr kumimoji="0" lang="en-US" altLang="ko-KR" sz="2800" b="1" dirty="0">
                <a:latin typeface="맑은 고딕" pitchFamily="50" charset="-127"/>
                <a:ea typeface="맑은 고딕" pitchFamily="50" charset="-127"/>
                <a:cs typeface="+mj-cs"/>
              </a:rPr>
              <a:t/>
            </a:r>
            <a:br>
              <a:rPr kumimoji="0" lang="en-US" altLang="ko-KR" sz="2800" b="1" dirty="0">
                <a:latin typeface="맑은 고딕" pitchFamily="50" charset="-127"/>
                <a:ea typeface="맑은 고딕" pitchFamily="50" charset="-127"/>
                <a:cs typeface="+mj-cs"/>
              </a:rPr>
            </a:br>
            <a:r>
              <a:rPr kumimoji="0" lang="en-US" altLang="ko-KR" sz="2800" b="1" dirty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 </a:t>
            </a:r>
            <a:r>
              <a:rPr kumimoji="0" lang="ko-KR" altLang="en-US" sz="2800" b="1" dirty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단계별 노출 및 반응 방지 </a:t>
            </a:r>
            <a:r>
              <a:rPr kumimoji="0" lang="ko-KR" altLang="en-US" sz="28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연습하기 </a:t>
            </a:r>
            <a:r>
              <a:rPr kumimoji="0" lang="en-US" altLang="ko-KR" sz="2800" b="1" dirty="0" smtClean="0">
                <a:solidFill>
                  <a:srgbClr val="FF7C80"/>
                </a:solidFill>
                <a:latin typeface="맑은 고딕" pitchFamily="50" charset="-127"/>
                <a:ea typeface="맑은 고딕" pitchFamily="50" charset="-127"/>
                <a:cs typeface="+mj-cs"/>
              </a:rPr>
              <a:t>(2)</a:t>
            </a:r>
            <a:endParaRPr kumimoji="0" lang="ko-KR" altLang="en-US" sz="2800" b="1" dirty="0">
              <a:solidFill>
                <a:srgbClr val="FF7C80"/>
              </a:solidFill>
              <a:latin typeface="맑은 고딕" pitchFamily="50" charset="-127"/>
              <a:ea typeface="맑은 고딕" pitchFamily="50" charset="-127"/>
              <a:cs typeface="+mj-cs"/>
            </a:endParaRPr>
          </a:p>
        </p:txBody>
      </p:sp>
      <p:grpSp>
        <p:nvGrpSpPr>
          <p:cNvPr id="4104" name="그룹 9"/>
          <p:cNvGrpSpPr>
            <a:grpSpLocks/>
          </p:cNvGrpSpPr>
          <p:nvPr/>
        </p:nvGrpSpPr>
        <p:grpSpPr bwMode="auto">
          <a:xfrm>
            <a:off x="933450" y="3014663"/>
            <a:ext cx="7500938" cy="2728199"/>
            <a:chOff x="1428728" y="4786322"/>
            <a:chExt cx="7143800" cy="2730356"/>
          </a:xfrm>
        </p:grpSpPr>
        <p:sp>
          <p:nvSpPr>
            <p:cNvPr id="18" name="TextBox 17"/>
            <p:cNvSpPr txBox="1"/>
            <p:nvPr/>
          </p:nvSpPr>
          <p:spPr>
            <a:xfrm>
              <a:off x="1428728" y="4929311"/>
              <a:ext cx="7143800" cy="2587367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buFont typeface="Arial" pitchFamily="34" charset="0"/>
                <a:buChar char="•"/>
                <a:defRPr/>
              </a:pPr>
              <a:endParaRPr lang="en-US" altLang="ko-KR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1. 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ERP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훈련기법 중 상상노출 훈련 예시</a:t>
              </a: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2. 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ERP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훈련 시 발생하는 문제들에 대처하기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나의 계획 조율하기</a:t>
              </a: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3.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개인별 훈련사항 서로 이야기 나누기</a:t>
              </a:r>
              <a:endParaRPr lang="en-US" altLang="ko-KR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r>
                <a:rPr lang="en-US" altLang="ko-KR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 4. ERP </a:t>
              </a:r>
              <a:r>
                <a:rPr lang="ko-KR" altLang="en-US" b="1" dirty="0" smtClean="0">
                  <a:solidFill>
                    <a:srgbClr val="660033"/>
                  </a:solidFill>
                  <a:latin typeface="맑은 고딕" pitchFamily="50" charset="-127"/>
                  <a:ea typeface="맑은 고딕" pitchFamily="50" charset="-127"/>
                </a:rPr>
                <a:t>훈련 일지 기록 사례</a:t>
              </a: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defRPr/>
              </a:pPr>
              <a:endParaRPr lang="en-US" altLang="ko-KR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06" name="TextBox 9"/>
            <p:cNvSpPr txBox="1">
              <a:spLocks noChangeArrowheads="1"/>
            </p:cNvSpPr>
            <p:nvPr/>
          </p:nvSpPr>
          <p:spPr bwMode="auto">
            <a:xfrm>
              <a:off x="1643042" y="4786322"/>
              <a:ext cx="1857388" cy="338822"/>
            </a:xfrm>
            <a:prstGeom prst="rect">
              <a:avLst/>
            </a:prstGeom>
            <a:solidFill>
              <a:srgbClr val="003366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목표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755575" y="1412776"/>
            <a:ext cx="7357493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반복적으로 씻는 사람의 상상 노출 스크립트</a:t>
            </a: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 - </a:t>
            </a: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유인물 참고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      </a:t>
            </a:r>
            <a:endParaRPr kumimoji="0" lang="en-US" altLang="ko-KR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                              나에게 적용한다면</a:t>
            </a:r>
            <a:r>
              <a:rPr kumimoji="0"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600" b="1" dirty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ERP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훈련기법 중 상상노출 훈련 예시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827584" y="2924944"/>
            <a:ext cx="7272808" cy="266429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그룹 9"/>
          <p:cNvGrpSpPr>
            <a:grpSpLocks/>
          </p:cNvGrpSpPr>
          <p:nvPr/>
        </p:nvGrpSpPr>
        <p:grpSpPr bwMode="auto">
          <a:xfrm>
            <a:off x="683568" y="1412776"/>
            <a:ext cx="7992887" cy="4464496"/>
            <a:chOff x="1070441" y="1123035"/>
            <a:chExt cx="7254875" cy="4014190"/>
          </a:xfrm>
        </p:grpSpPr>
        <p:sp>
          <p:nvSpPr>
            <p:cNvPr id="7" name="Rectangle 8"/>
            <p:cNvSpPr txBox="1">
              <a:spLocks noChangeArrowheads="1"/>
            </p:cNvSpPr>
            <p:nvPr/>
          </p:nvSpPr>
          <p:spPr bwMode="auto">
            <a:xfrm>
              <a:off x="1070441" y="1123035"/>
              <a:ext cx="7254875" cy="4014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b="1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ERP </a:t>
              </a:r>
              <a:r>
                <a:rPr kumimoji="0" lang="ko-KR" altLang="en-US" b="1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훈련 중 퇴보하는 이유</a:t>
              </a:r>
              <a:r>
                <a:rPr kumimoji="0" lang="en-US" altLang="ko-KR" b="1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: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endPara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스스로 노출을 </a:t>
              </a:r>
              <a:r>
                <a:rPr kumimoji="0" lang="ko-KR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회피</a:t>
              </a: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하기 때문</a:t>
              </a:r>
              <a:endPara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스트레스</a:t>
              </a: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는 강박증상이 다시 발생하는데 취약하게 만든다</a:t>
              </a:r>
              <a:endPara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훈련목표 중 </a:t>
              </a:r>
              <a:r>
                <a:rPr kumimoji="0" lang="ko-KR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예외</a:t>
              </a: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를 둔 경우</a:t>
              </a:r>
              <a:r>
                <a:rPr kumimoji="0"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두려워하는 상황 모두에 직면하지 않음</a:t>
              </a:r>
              <a:r>
                <a:rPr kumimoji="0"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불안 수준</a:t>
              </a: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을 적절한 수준으로 설정하지 않은 경우</a:t>
              </a:r>
              <a:r>
                <a:rPr kumimoji="0"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0" lang="ko-KR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너무 높거나 낮게</a:t>
              </a:r>
              <a:r>
                <a:rPr kumimoji="0" lang="en-US" altLang="ko-KR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endPara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 </a:t>
              </a:r>
              <a:r>
                <a:rPr kumimoji="0" lang="ko-KR" altLang="en-US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퇴보로부터 </a:t>
              </a: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‘</a:t>
              </a:r>
              <a:r>
                <a:rPr kumimoji="0" lang="ko-KR" altLang="en-US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계속 연습이 필요하다</a:t>
              </a: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’</a:t>
              </a:r>
              <a:r>
                <a:rPr kumimoji="0" lang="ko-KR" altLang="en-US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는 것을 배울 수 있다</a:t>
              </a: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 (</a:t>
              </a:r>
              <a:r>
                <a:rPr kumimoji="0" lang="ko-KR" altLang="en-US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구체적으로 기록해놓아야 왜 퇴보했는지 잘 알 수 있다</a:t>
              </a: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.)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 </a:t>
              </a:r>
              <a:r>
                <a:rPr kumimoji="0" lang="ko-KR" altLang="en-US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목표 지점에 도달할 때 까지 항상 퇴보가 있을 수 있다</a:t>
              </a: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 </a:t>
              </a:r>
              <a:r>
                <a:rPr kumimoji="0" lang="ko-KR" altLang="en-US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긴장을 풀고 편안함을 느낄 수 있는 기법들을 활용하자</a:t>
              </a: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 </a:t>
              </a:r>
              <a:r>
                <a:rPr kumimoji="0" lang="ko-KR" altLang="en-US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퇴보를 경험하면서 나의 훈련상황을 적절하게 재정비할 수 있다</a:t>
              </a:r>
              <a:r>
                <a:rPr kumimoji="0" lang="en-US" altLang="ko-KR" sz="2000" dirty="0" smtClean="0">
                  <a:solidFill>
                    <a:schemeClr val="accent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endPara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endParaRPr kumimoji="0"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Font typeface="Wingdings" pitchFamily="2" charset="2"/>
                <a:buChar char="l"/>
                <a:defRPr/>
              </a:pPr>
              <a:endParaRPr kumimoji="0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오른쪽 화살표 7"/>
            <p:cNvSpPr/>
            <p:nvPr/>
          </p:nvSpPr>
          <p:spPr>
            <a:xfrm>
              <a:off x="1201159" y="3259620"/>
              <a:ext cx="213926" cy="2143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2. ERP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훈련 시 발생하는 문제들에 대처하기 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&amp;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나의 계획 조율하기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그룹 9"/>
          <p:cNvGrpSpPr>
            <a:grpSpLocks/>
          </p:cNvGrpSpPr>
          <p:nvPr/>
        </p:nvGrpSpPr>
        <p:grpSpPr bwMode="auto">
          <a:xfrm>
            <a:off x="814908" y="1412776"/>
            <a:ext cx="7429501" cy="4014192"/>
            <a:chOff x="1198693" y="1123035"/>
            <a:chExt cx="7254875" cy="4014190"/>
          </a:xfrm>
        </p:grpSpPr>
        <p:sp>
          <p:nvSpPr>
            <p:cNvPr id="7" name="Rectangle 8"/>
            <p:cNvSpPr txBox="1">
              <a:spLocks noChangeArrowheads="1"/>
            </p:cNvSpPr>
            <p:nvPr/>
          </p:nvSpPr>
          <p:spPr bwMode="auto">
            <a:xfrm>
              <a:off x="1198693" y="1123035"/>
              <a:ext cx="7254875" cy="4014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defRPr/>
              </a:pPr>
              <a:endParaRPr kumimoji="0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endParaRPr kumimoji="0"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Font typeface="Wingdings" pitchFamily="2" charset="2"/>
                <a:buChar char="l"/>
                <a:defRPr/>
              </a:pPr>
              <a:endParaRPr kumimoji="0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오른쪽 화살표 7"/>
            <p:cNvSpPr/>
            <p:nvPr/>
          </p:nvSpPr>
          <p:spPr>
            <a:xfrm>
              <a:off x="1281386" y="1339059"/>
              <a:ext cx="213926" cy="2143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개인별 훈련사항 서로 이야기 나누기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259632" y="1556792"/>
            <a:ext cx="6521337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+mj-ea"/>
                <a:ea typeface="+mj-ea"/>
              </a:rPr>
              <a:t>나의 목표와 목표 설정의 이유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 smtClean="0">
              <a:latin typeface="+mj-ea"/>
              <a:ea typeface="+mj-ea"/>
            </a:endParaRPr>
          </a:p>
          <a:p>
            <a:r>
              <a:rPr lang="en-US" altLang="ko-KR" dirty="0" smtClean="0">
                <a:latin typeface="+mj-ea"/>
                <a:ea typeface="+mj-ea"/>
              </a:rPr>
              <a:t>ERP </a:t>
            </a:r>
            <a:r>
              <a:rPr lang="ko-KR" altLang="en-US" dirty="0" smtClean="0">
                <a:latin typeface="+mj-ea"/>
                <a:ea typeface="+mj-ea"/>
              </a:rPr>
              <a:t>훈련과정에 대해</a:t>
            </a:r>
            <a:r>
              <a:rPr lang="en-US" altLang="ko-KR" dirty="0" smtClean="0">
                <a:latin typeface="+mj-ea"/>
                <a:ea typeface="+mj-ea"/>
              </a:rPr>
              <a:t>: </a:t>
            </a:r>
            <a:r>
              <a:rPr lang="ko-KR" altLang="en-US" dirty="0" smtClean="0">
                <a:latin typeface="+mj-ea"/>
                <a:ea typeface="+mj-ea"/>
              </a:rPr>
              <a:t>증상에 있어 달라진 점</a:t>
            </a:r>
            <a:r>
              <a:rPr lang="en-US" altLang="ko-KR" dirty="0" smtClean="0">
                <a:latin typeface="+mj-ea"/>
                <a:ea typeface="+mj-ea"/>
              </a:rPr>
              <a:t>(</a:t>
            </a:r>
            <a:r>
              <a:rPr lang="ko-KR" altLang="en-US" dirty="0" smtClean="0">
                <a:latin typeface="+mj-ea"/>
                <a:ea typeface="+mj-ea"/>
              </a:rPr>
              <a:t>중간평가</a:t>
            </a:r>
            <a:r>
              <a:rPr lang="en-US" altLang="ko-KR" dirty="0" smtClean="0">
                <a:latin typeface="+mj-ea"/>
                <a:ea typeface="+mj-ea"/>
              </a:rPr>
              <a:t>), </a:t>
            </a:r>
          </a:p>
          <a:p>
            <a:r>
              <a:rPr lang="en-US" altLang="ko-KR" dirty="0" smtClean="0">
                <a:latin typeface="+mj-ea"/>
                <a:ea typeface="+mj-ea"/>
              </a:rPr>
              <a:t>                            </a:t>
            </a:r>
            <a:r>
              <a:rPr lang="ko-KR" altLang="en-US" dirty="0" smtClean="0">
                <a:latin typeface="+mj-ea"/>
                <a:ea typeface="+mj-ea"/>
              </a:rPr>
              <a:t>잘된 점</a:t>
            </a:r>
            <a:r>
              <a:rPr lang="en-US" altLang="ko-KR" dirty="0" smtClean="0">
                <a:latin typeface="+mj-ea"/>
                <a:ea typeface="+mj-ea"/>
              </a:rPr>
              <a:t>, </a:t>
            </a:r>
            <a:r>
              <a:rPr lang="ko-KR" altLang="en-US" dirty="0" smtClean="0">
                <a:latin typeface="+mj-ea"/>
                <a:ea typeface="+mj-ea"/>
              </a:rPr>
              <a:t>미흡했던 점</a:t>
            </a:r>
            <a:r>
              <a:rPr lang="en-US" altLang="ko-KR" dirty="0" smtClean="0">
                <a:latin typeface="+mj-ea"/>
                <a:ea typeface="+mj-ea"/>
              </a:rPr>
              <a:t>, </a:t>
            </a:r>
            <a:r>
              <a:rPr lang="ko-KR" altLang="en-US" dirty="0" smtClean="0">
                <a:latin typeface="+mj-ea"/>
                <a:ea typeface="+mj-ea"/>
              </a:rPr>
              <a:t>퇴보의 순간 등</a:t>
            </a:r>
            <a:r>
              <a:rPr lang="en-US" altLang="ko-KR" dirty="0" smtClean="0">
                <a:latin typeface="+mj-ea"/>
                <a:ea typeface="+mj-ea"/>
              </a:rPr>
              <a:t>….</a:t>
            </a:r>
          </a:p>
          <a:p>
            <a:endParaRPr lang="en-US" altLang="ko-KR" dirty="0" smtClean="0">
              <a:latin typeface="+mj-ea"/>
              <a:ea typeface="+mj-ea"/>
            </a:endParaRPr>
          </a:p>
          <a:p>
            <a:r>
              <a:rPr lang="ko-KR" altLang="en-US" dirty="0" smtClean="0">
                <a:latin typeface="+mj-ea"/>
                <a:ea typeface="+mj-ea"/>
              </a:rPr>
              <a:t>나에게 유용했던 노출기법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en-US" altLang="ko-KR" dirty="0" smtClean="0">
              <a:latin typeface="+mj-ea"/>
              <a:ea typeface="+mj-ea"/>
            </a:endParaRPr>
          </a:p>
          <a:p>
            <a:r>
              <a:rPr lang="ko-KR" altLang="en-US" dirty="0" smtClean="0">
                <a:latin typeface="+mj-ea"/>
                <a:ea typeface="+mj-ea"/>
              </a:rPr>
              <a:t>주변 사람들에게 도움을 요청한 경험이 있다면</a:t>
            </a:r>
            <a:r>
              <a:rPr lang="en-US" altLang="ko-KR" dirty="0" smtClean="0">
                <a:latin typeface="+mj-ea"/>
                <a:ea typeface="+mj-ea"/>
              </a:rPr>
              <a:t>?</a:t>
            </a:r>
          </a:p>
          <a:p>
            <a:endParaRPr lang="en-US" altLang="ko-KR" dirty="0" smtClean="0">
              <a:latin typeface="+mj-ea"/>
              <a:ea typeface="+mj-ea"/>
            </a:endParaRPr>
          </a:p>
          <a:p>
            <a:r>
              <a:rPr lang="ko-KR" altLang="en-US" dirty="0" smtClean="0">
                <a:latin typeface="+mj-ea"/>
                <a:ea typeface="+mj-ea"/>
              </a:rPr>
              <a:t>서로 평가하기</a:t>
            </a:r>
            <a:endParaRPr lang="en-US" altLang="ko-KR" dirty="0" smtClean="0">
              <a:latin typeface="+mj-ea"/>
              <a:ea typeface="+mj-ea"/>
            </a:endParaRPr>
          </a:p>
          <a:p>
            <a:endParaRPr lang="ko-KR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그룹 9"/>
          <p:cNvGrpSpPr>
            <a:grpSpLocks/>
          </p:cNvGrpSpPr>
          <p:nvPr/>
        </p:nvGrpSpPr>
        <p:grpSpPr bwMode="auto">
          <a:xfrm>
            <a:off x="467544" y="764705"/>
            <a:ext cx="8433203" cy="4968553"/>
            <a:chOff x="1070441" y="520907"/>
            <a:chExt cx="7254875" cy="4616319"/>
          </a:xfrm>
        </p:grpSpPr>
        <p:sp>
          <p:nvSpPr>
            <p:cNvPr id="7" name="Rectangle 8"/>
            <p:cNvSpPr txBox="1">
              <a:spLocks noChangeArrowheads="1"/>
            </p:cNvSpPr>
            <p:nvPr/>
          </p:nvSpPr>
          <p:spPr bwMode="auto">
            <a:xfrm>
              <a:off x="1070441" y="520907"/>
              <a:ext cx="7254875" cy="4616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defRPr/>
              </a:pPr>
              <a:r>
                <a:rPr kumimoji="0" lang="ko-KR" altLang="en-US" sz="2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강박사고 방법 바꾸기</a:t>
              </a:r>
              <a:endParaRPr kumimoji="0"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 algn="ctr">
                <a:spcBef>
                  <a:spcPct val="20000"/>
                </a:spcBef>
                <a:defRPr/>
              </a:pPr>
              <a:endParaRPr kumimoji="0" lang="en-US" altLang="ko-KR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AutoNum type="arabicPeriod"/>
                <a:defRPr/>
              </a:pP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정신적으로 한 발 물러나서 되짚어 보고                                    강박사고가 금방 시작되었다고 인식해라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eriod"/>
                <a:defRPr/>
              </a:pP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그 강박사고에 대한 당신의 정서적 반응을 인식해라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                  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즉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불안한지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놀랐는지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부끄러운지 등을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eriod"/>
                <a:defRPr/>
              </a:pP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순간적인 강박사고를 가지는 것은 괜찮다고 스스로 다짐해라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eriod"/>
                <a:defRPr/>
              </a:pP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 순간에 강박사고 내용이 불합리하다고 스스로를 안심시켜라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    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분석하지 마라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eriod"/>
                <a:defRPr/>
              </a:pP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특정 행위를 함으로써 그 강박사고에 대한 자신의 정서적 반응을 바꾸어 보도록 하라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   (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예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강박사고를 기록하거나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노래 부르거나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0" lang="ko-KR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장면을 바꾸면서</a:t>
              </a:r>
              <a:r>
                <a:rPr kumimoji="0" lang="en-US" altLang="ko-KR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…)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endParaRPr kumimoji="0"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Font typeface="Wingdings" pitchFamily="2" charset="2"/>
                <a:buChar char="l"/>
                <a:defRPr/>
              </a:pPr>
              <a:endParaRPr kumimoji="0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오른쪽 화살표 7"/>
            <p:cNvSpPr/>
            <p:nvPr/>
          </p:nvSpPr>
          <p:spPr>
            <a:xfrm>
              <a:off x="3300522" y="587809"/>
              <a:ext cx="213926" cy="2143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1" name="오른쪽 화살표 10"/>
          <p:cNvSpPr/>
          <p:nvPr/>
        </p:nvSpPr>
        <p:spPr bwMode="auto">
          <a:xfrm rot="10516414">
            <a:off x="6021241" y="846564"/>
            <a:ext cx="248672" cy="2306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그룹 9"/>
          <p:cNvGrpSpPr>
            <a:grpSpLocks/>
          </p:cNvGrpSpPr>
          <p:nvPr/>
        </p:nvGrpSpPr>
        <p:grpSpPr bwMode="auto">
          <a:xfrm>
            <a:off x="566781" y="764705"/>
            <a:ext cx="8433203" cy="4968553"/>
            <a:chOff x="1070441" y="520907"/>
            <a:chExt cx="7254875" cy="4616319"/>
          </a:xfrm>
        </p:grpSpPr>
        <p:sp>
          <p:nvSpPr>
            <p:cNvPr id="7" name="Rectangle 8"/>
            <p:cNvSpPr txBox="1">
              <a:spLocks noChangeArrowheads="1"/>
            </p:cNvSpPr>
            <p:nvPr/>
          </p:nvSpPr>
          <p:spPr bwMode="auto">
            <a:xfrm>
              <a:off x="1070441" y="520907"/>
              <a:ext cx="7254875" cy="4616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algn="ctr">
                <a:spcBef>
                  <a:spcPct val="20000"/>
                </a:spcBef>
                <a:defRPr/>
              </a:pPr>
              <a:r>
                <a:rPr kumimoji="0" lang="ko-KR" altLang="en-US" sz="2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강박사고를 없애도록 도와주는 지지적인 문구</a:t>
              </a:r>
              <a:endParaRPr kumimoji="0"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 algn="ctr">
                <a:spcBef>
                  <a:spcPct val="20000"/>
                </a:spcBef>
                <a:defRPr/>
              </a:pPr>
              <a:endParaRPr kumimoji="0"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지금은 그런 생각들을 할 때가 아니다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그건 나중에도 생각할 수 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이것은 불합리하다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그냥 지나쳐 버리면 된다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이것은 위협적이고 급하게 느껴지지만 실제로 그런 것은 아니다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이러한 의문을 해결할 필요가 없다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최선의 방법은 그냥 내버려두는 것이다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실수하는 것도 괜찮다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이러한 두려움이 비합리적이라는 것을 과거 경험으로부터 이미 알고 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자유롭게 되기 위해 모험을 해야만 한다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기꺼이 이러한 모험을 할 것이다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난 지금 계속 나아갈 준비가 되어있다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이러한 것으로 고통 받지 않아도 된다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편안하게 느낄 수 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그것은 나의 책임이 아니다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잘못된 것을 다룰 수 있다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buAutoNum type="arabicParenR"/>
                <a:defRPr/>
              </a:pP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이러한 걱정을 내버려두는 것도 좋은 연습이다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 </a:t>
              </a:r>
              <a:r>
                <a:rPr kumimoji="0" lang="ko-KR" altLang="en-US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나는 연습을 하고 싶다</a:t>
              </a:r>
              <a:r>
                <a:rPr kumimoji="0" lang="en-US" altLang="ko-KR" sz="1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342900" indent="-342900">
                <a:spcBef>
                  <a:spcPct val="20000"/>
                </a:spcBef>
                <a:defRPr/>
              </a:pPr>
              <a:endParaRPr kumimoji="0"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342900" indent="-342900">
                <a:spcBef>
                  <a:spcPct val="20000"/>
                </a:spcBef>
                <a:buFont typeface="Wingdings" pitchFamily="2" charset="2"/>
                <a:buChar char="l"/>
                <a:defRPr/>
              </a:pPr>
              <a:endParaRPr kumimoji="0"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오른쪽 화살표 7"/>
            <p:cNvSpPr/>
            <p:nvPr/>
          </p:nvSpPr>
          <p:spPr>
            <a:xfrm>
              <a:off x="2100110" y="587809"/>
              <a:ext cx="213926" cy="2143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1" name="오른쪽 화살표 10"/>
          <p:cNvSpPr/>
          <p:nvPr/>
        </p:nvSpPr>
        <p:spPr bwMode="auto">
          <a:xfrm rot="10516414">
            <a:off x="7605417" y="846565"/>
            <a:ext cx="248672" cy="2306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9" y="1412776"/>
            <a:ext cx="7429500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kumimoji="0"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감염에 대한 두려움 때문에 청결에 집착하는 </a:t>
            </a:r>
            <a:r>
              <a:rPr kumimoji="0"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r>
              <a:rPr kumimoji="0"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대 남자</a:t>
            </a:r>
            <a:endParaRPr kumimoji="0"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2010. 05. 13. 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4. ERP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훈련 일지 기록 사례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55576" y="2132856"/>
          <a:ext cx="7560840" cy="3752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/>
                <a:gridCol w="5256584"/>
              </a:tblGrid>
              <a:tr h="606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목표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자기평가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모니터링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1496702">
                <a:tc>
                  <a:txBody>
                    <a:bodyPr/>
                    <a:lstStyle/>
                    <a:p>
                      <a:pPr marL="266700" indent="-266700" latinLnBrk="1"/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공중화장실 바닥에 바지 닿게 한 후 침대에서 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 누워있기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불쾌감이 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 안에 사라질 정도로 좋아졌다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하지만 간간히 떠오르고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손이나 아끼는 물건이 발에 닿을 때면 갑자기 불안해진다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이것도 참으면 이내 없어졌다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Char char="-"/>
                        <a:defRPr/>
                      </a:pP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바닥이 척척한 상태에서는 진행해보지 않았다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</a:p>
                  </a:txBody>
                  <a:tcPr/>
                </a:tc>
              </a:tr>
              <a:tr h="1496702">
                <a:tc>
                  <a:txBody>
                    <a:bodyPr/>
                    <a:lstStyle/>
                    <a:p>
                      <a:pPr marL="266700" marR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현관에서 맨발로 서있기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신발 이곳 저곳을 닿으면서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defRPr/>
                      </a:pP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번 정도 시도했다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Char char="-"/>
                        <a:defRPr/>
                      </a:pP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침대에 올라가는 것은 역시나 힘들었고 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 동안 침대에서 벗어날 때 까지 고통은 지속되었다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  <a:defRPr/>
                      </a:pP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내가 시각이나 촉감에 대해 민감함을 느꼈다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0" lang="en-US" altLang="ko-KR" sz="1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>
                        <a:spcBef>
                          <a:spcPct val="20000"/>
                        </a:spcBef>
                        <a:defRPr/>
                      </a:pP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9" y="1412776"/>
            <a:ext cx="7429500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kumimoji="0"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감염에 대한 두려움 때문에 청결에 집착하는 </a:t>
            </a:r>
            <a:r>
              <a:rPr kumimoji="0"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r>
              <a:rPr kumimoji="0"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대 남자</a:t>
            </a:r>
            <a:endParaRPr kumimoji="0"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2010. 05. 13. 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4. ERP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훈련 일지 기록 사례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55576" y="2132856"/>
          <a:ext cx="7560840" cy="35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40"/>
              </a:tblGrid>
              <a:tr h="6069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잘 안 된 부분이나 느낀 점</a:t>
                      </a:r>
                      <a:endParaRPr lang="ko-KR" altLang="en-US" dirty="0"/>
                    </a:p>
                  </a:txBody>
                  <a:tcPr/>
                </a:tc>
              </a:tr>
              <a:tr h="1193204">
                <a:tc>
                  <a:txBody>
                    <a:bodyPr/>
                    <a:lstStyle/>
                    <a:p>
                      <a:pPr marL="266700" indent="-266700" latinLnBrk="1"/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공중화장실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과제에서 발견한 점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찝찝한 상황을 시각적으로 볼 때 더욱 힘들다는 것이다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현관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신발도 찝찝하지만 지금 당장은 어떠한 더러운 것들이 신발에 접촉되었는지 정확하게 시각적으로 그려지지 않았다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다만 이러이러해서 더럽겠지라는 생각이 맴돌았다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)</a:t>
                      </a:r>
                      <a:endParaRPr kumimoji="0" lang="en-US" altLang="ko-KR" sz="1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</a:tr>
              <a:tr h="1496702">
                <a:tc>
                  <a:txBody>
                    <a:bodyPr/>
                    <a:lstStyle/>
                    <a:p>
                      <a:pPr marL="266700" marR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kumimoji="0" lang="ko-KR" altLang="en-US" sz="18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오염물을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접할 당시의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나의 결정 혹은 단정이 문제가 된다는 것을 알았다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이것은 어떻게 해서 씻어야지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’,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혹은 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이것은 이러니 꼭 </a:t>
                      </a:r>
                      <a:r>
                        <a:rPr kumimoji="0" lang="ko-KR" altLang="en-US" sz="18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제거해야해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’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라는 단정을 내리게 되면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그 후에 괜찮다는 것을 인식하거나 불안을 감내하는데 큰 어려움이 따랐다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즉 초기 판단이 중요하다는 것이다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무언가 완벽하게 내 계획대로 이루어지지 않으면 </a:t>
                      </a:r>
                      <a:r>
                        <a:rPr kumimoji="0" lang="ko-KR" altLang="en-US" sz="1800" b="1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안된다는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강박관념과 불안감이 내 사고 전반을 지배하고 있다는 것을 느꼈다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endParaRPr lang="ko-KR" alt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9" y="1412776"/>
            <a:ext cx="7429500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kumimoji="0"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감염에 대한 두려움 때문에 청결에 집착하는 </a:t>
            </a:r>
            <a:r>
              <a:rPr kumimoji="0"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r>
              <a:rPr kumimoji="0"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대 남자</a:t>
            </a:r>
            <a:endParaRPr kumimoji="0"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r>
              <a:rPr kumimoji="0"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2010. 05. 13. </a:t>
            </a:r>
          </a:p>
          <a:p>
            <a:pPr>
              <a:spcBef>
                <a:spcPct val="20000"/>
              </a:spcBef>
              <a:defRPr/>
            </a:pPr>
            <a:r>
              <a:rPr kumimoji="0"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endParaRPr kumimoji="0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defRPr/>
            </a:pPr>
            <a:endParaRPr kumimoji="0"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4. ERP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훈련 일지 기록 사례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755576" y="2132856"/>
          <a:ext cx="7560840" cy="3874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40"/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성 과</a:t>
                      </a:r>
                      <a:endParaRPr lang="ko-KR" altLang="en-US" dirty="0"/>
                    </a:p>
                  </a:txBody>
                  <a:tcPr/>
                </a:tc>
              </a:tr>
              <a:tr h="1193204">
                <a:tc>
                  <a:txBody>
                    <a:bodyPr/>
                    <a:lstStyle/>
                    <a:p>
                      <a:pPr marL="266700" indent="-266700" latinLnBrk="1"/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내가 가장 두려워하는 것 중 하나인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청소부 아주머니의 고무장갑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’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 몸에 닿는 일이 벌어졌다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이럴 때 다른 사람이라면 어떻게 할 까 생각해 봤는데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두려움이 커서 그런지 도저히 감이 안 잡혀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선생님의 도움을 요청했다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ERP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를 시도했고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불안한 마음이 계속 떠올랐다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그런데 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시간 정도 지난 후에는 불안감이 거의 없어졌고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하루 후에 아무 문제 없이 생활할 수 있었다</a:t>
                      </a:r>
                      <a:r>
                        <a:rPr kumimoji="0" lang="en-US" altLang="ko-KR" sz="1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절대 없어질 것 같지 않은 불안감이 없어졌다는 것이 신기하고 자신감을 갖게 했다</a:t>
                      </a:r>
                      <a:r>
                        <a:rPr kumimoji="0" lang="en-US" altLang="ko-KR" sz="1800" b="1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endParaRPr kumimoji="0" lang="en-US" altLang="ko-KR" sz="1800" b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/>
                </a:tc>
              </a:tr>
              <a:tr h="1496702">
                <a:tc>
                  <a:txBody>
                    <a:bodyPr/>
                    <a:lstStyle/>
                    <a:p>
                      <a:pPr marL="266700" marR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나는 한 주의 과제가 끝나도 전 주의 과제를 누적해서 지속한다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이번 주에는 첫 주의 </a:t>
                      </a:r>
                      <a:r>
                        <a:rPr kumimoji="0" lang="ko-KR" altLang="en-US" sz="18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손씻기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과제를 지속하면서 지난 주보다 좋아지고 있는 것을 발견했다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현관 닿기 과제를 통해서 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땅에 있는 물건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’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 대한 거부감이 줄고 손씻기도 더 쉽게 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kumimoji="0" lang="ko-KR" altLang="en-US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할 수 있었다</a:t>
                      </a:r>
                      <a:r>
                        <a:rPr kumimoji="0" lang="en-US" altLang="ko-KR" sz="1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신경이 덜 날카로워지고 무뎌지는 것 같았다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0" lang="ko-KR" altLang="en-US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기록의 중요성도 매번 느꼈다</a:t>
                      </a:r>
                      <a:r>
                        <a:rPr kumimoji="0" lang="en-US" altLang="ko-KR" sz="1800" b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endParaRPr lang="ko-KR" altLang="en-US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/>
        </p:nvCxnSpPr>
        <p:spPr>
          <a:xfrm>
            <a:off x="428625" y="6072188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8625" y="571500"/>
            <a:ext cx="8286750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571875" y="6143625"/>
            <a:ext cx="4533900" cy="554038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  <a:alpha val="1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ognitive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B</a:t>
            </a: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ehavior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T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reatment</a:t>
            </a:r>
            <a:r>
              <a:rPr lang="en-US" altLang="ko-KR" sz="1500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for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O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bsessive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-C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ompulsive</a:t>
            </a:r>
            <a:r>
              <a:rPr lang="en-US" altLang="ko-KR" sz="1500" b="1" dirty="0">
                <a:solidFill>
                  <a:srgbClr val="FF7C80"/>
                </a:solidFill>
                <a:latin typeface="Arial Narrow" pitchFamily="34" charset="0"/>
                <a:ea typeface="맑은 고딕" pitchFamily="50" charset="-127"/>
              </a:rPr>
              <a:t> D</a:t>
            </a:r>
            <a:r>
              <a:rPr lang="en-US" altLang="ko-KR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맑은 고딕" pitchFamily="50" charset="-127"/>
              </a:rPr>
              <a:t>isorder</a:t>
            </a:r>
          </a:p>
        </p:txBody>
      </p:sp>
      <p:pic>
        <p:nvPicPr>
          <p:cNvPr id="6149" name="Picture 8" descr="J:\SNUH\BS0001_jpg\BS0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7363" y="6154738"/>
            <a:ext cx="5746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683569" y="1412776"/>
            <a:ext cx="7429500" cy="4014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l"/>
              <a:defRPr/>
            </a:pPr>
            <a:r>
              <a:rPr kumimoji="0"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메모</a:t>
            </a:r>
            <a:endParaRPr kumimoji="0"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755576" y="836712"/>
            <a:ext cx="7500938" cy="338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4. ERP </a:t>
            </a:r>
            <a:r>
              <a:rPr lang="ko-KR" altLang="en-US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훈련 일지 기록 사례</a:t>
            </a:r>
            <a:r>
              <a:rPr lang="en-US" altLang="ko-KR" sz="1600" b="1" dirty="0" smtClean="0">
                <a:solidFill>
                  <a:srgbClr val="6600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600" b="1" dirty="0">
              <a:solidFill>
                <a:srgbClr val="6600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55576" y="1916832"/>
            <a:ext cx="7488832" cy="38164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1558</TotalTime>
  <Words>917</Words>
  <Application>Microsoft Office PowerPoint</Application>
  <PresentationFormat>화면 슬라이드 쇼(4:3)</PresentationFormat>
  <Paragraphs>118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디자인 사용자 지정</vt:lpstr>
      <vt:lpstr> 강박증 인지행동치료 프로그램 Cognitive Behavior Treatment for OCD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정신분열병 환자를 위한 능력강화 프로그램</dc:title>
  <dc:creator>박나리</dc:creator>
  <cp:lastModifiedBy>Seojin</cp:lastModifiedBy>
  <cp:revision>176</cp:revision>
  <dcterms:created xsi:type="dcterms:W3CDTF">2010-04-20T13:29:40Z</dcterms:created>
  <dcterms:modified xsi:type="dcterms:W3CDTF">2010-12-30T06:23:47Z</dcterms:modified>
</cp:coreProperties>
</file>