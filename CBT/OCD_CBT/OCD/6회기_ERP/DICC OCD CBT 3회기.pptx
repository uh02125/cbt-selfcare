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2" r:id="rId8"/>
    <p:sldId id="267" r:id="rId9"/>
    <p:sldId id="263" r:id="rId10"/>
    <p:sldId id="264" r:id="rId11"/>
    <p:sldId id="268" r:id="rId12"/>
    <p:sldId id="261" r:id="rId13"/>
    <p:sldId id="266" r:id="rId14"/>
    <p:sldId id="265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8" autoAdjust="0"/>
    <p:restoredTop sz="93469" autoAdjust="0"/>
  </p:normalViewPr>
  <p:slideViewPr>
    <p:cSldViewPr>
      <p:cViewPr varScale="1">
        <p:scale>
          <a:sx n="102" d="100"/>
          <a:sy n="102" d="100"/>
        </p:scale>
        <p:origin x="-2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162F05-86C2-40FD-9096-3EBEFFAA2D43}" type="doc">
      <dgm:prSet loTypeId="urn:microsoft.com/office/officeart/2005/8/layout/matrix2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75AFF4A-CD34-4449-BA6F-A1BEBC1918AA}">
      <dgm:prSet phldrT="[텍스트]"/>
      <dgm:spPr/>
      <dgm:t>
        <a:bodyPr/>
        <a:lstStyle/>
        <a:p>
          <a:pPr latinLnBrk="1"/>
          <a:r>
            <a:rPr lang="ko-KR" altLang="en-US" b="1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rPr>
            <a:t>꼭    필요</a:t>
          </a:r>
          <a:endParaRPr lang="ko-KR" altLang="en-US" b="1" dirty="0">
            <a:solidFill>
              <a:schemeClr val="tx1"/>
            </a:solidFill>
            <a:latin typeface="맑은 고딕" pitchFamily="50" charset="-127"/>
            <a:ea typeface="맑은 고딕" pitchFamily="50" charset="-127"/>
          </a:endParaRPr>
        </a:p>
      </dgm:t>
    </dgm:pt>
    <dgm:pt modelId="{9472AFB8-2EE6-432F-A96B-25C5E581DDF2}" type="parTrans" cxnId="{CB0FC2A4-526B-49A8-8424-8E891E8B1DCC}">
      <dgm:prSet/>
      <dgm:spPr/>
      <dgm:t>
        <a:bodyPr/>
        <a:lstStyle/>
        <a:p>
          <a:pPr latinLnBrk="1"/>
          <a:endParaRPr lang="ko-KR" altLang="en-US" b="1">
            <a:latin typeface="맑은 고딕" pitchFamily="50" charset="-127"/>
            <a:ea typeface="맑은 고딕" pitchFamily="50" charset="-127"/>
          </a:endParaRPr>
        </a:p>
      </dgm:t>
    </dgm:pt>
    <dgm:pt modelId="{0AF160F5-891B-4239-9E2C-877CA07E7442}" type="sibTrans" cxnId="{CB0FC2A4-526B-49A8-8424-8E891E8B1DCC}">
      <dgm:prSet/>
      <dgm:spPr/>
      <dgm:t>
        <a:bodyPr/>
        <a:lstStyle/>
        <a:p>
          <a:pPr latinLnBrk="1"/>
          <a:endParaRPr lang="ko-KR" altLang="en-US" b="1">
            <a:latin typeface="맑은 고딕" pitchFamily="50" charset="-127"/>
            <a:ea typeface="맑은 고딕" pitchFamily="50" charset="-127"/>
          </a:endParaRPr>
        </a:p>
      </dgm:t>
    </dgm:pt>
    <dgm:pt modelId="{99FF26BB-56A1-4A5D-8F00-9D0618E13769}">
      <dgm:prSet phldrT="[텍스트]"/>
      <dgm:spPr/>
      <dgm:t>
        <a:bodyPr/>
        <a:lstStyle/>
        <a:p>
          <a:pPr latinLnBrk="1"/>
          <a:r>
            <a:rPr lang="ko-KR" altLang="en-US" b="1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rPr>
            <a:t>먼저</a:t>
          </a:r>
          <a:endParaRPr lang="ko-KR" altLang="en-US" b="1" dirty="0">
            <a:solidFill>
              <a:schemeClr val="tx1"/>
            </a:solidFill>
            <a:latin typeface="맑은 고딕" pitchFamily="50" charset="-127"/>
            <a:ea typeface="맑은 고딕" pitchFamily="50" charset="-127"/>
          </a:endParaRPr>
        </a:p>
      </dgm:t>
    </dgm:pt>
    <dgm:pt modelId="{861D20A8-DCB5-46B7-ADD1-66D22748AA91}" type="parTrans" cxnId="{86ECF0CB-CBEA-4F87-BA52-1B0F2D843BC5}">
      <dgm:prSet/>
      <dgm:spPr/>
      <dgm:t>
        <a:bodyPr/>
        <a:lstStyle/>
        <a:p>
          <a:pPr latinLnBrk="1"/>
          <a:endParaRPr lang="ko-KR" altLang="en-US" b="1">
            <a:latin typeface="맑은 고딕" pitchFamily="50" charset="-127"/>
            <a:ea typeface="맑은 고딕" pitchFamily="50" charset="-127"/>
          </a:endParaRPr>
        </a:p>
      </dgm:t>
    </dgm:pt>
    <dgm:pt modelId="{842FA188-8650-434F-84B8-403E1C215415}" type="sibTrans" cxnId="{86ECF0CB-CBEA-4F87-BA52-1B0F2D843BC5}">
      <dgm:prSet/>
      <dgm:spPr/>
      <dgm:t>
        <a:bodyPr/>
        <a:lstStyle/>
        <a:p>
          <a:pPr latinLnBrk="1"/>
          <a:endParaRPr lang="ko-KR" altLang="en-US" b="1">
            <a:latin typeface="맑은 고딕" pitchFamily="50" charset="-127"/>
            <a:ea typeface="맑은 고딕" pitchFamily="50" charset="-127"/>
          </a:endParaRPr>
        </a:p>
      </dgm:t>
    </dgm:pt>
    <dgm:pt modelId="{D450F3E3-2190-4846-A519-26E2C9CF7175}">
      <dgm:prSet phldrT="[텍스트]"/>
      <dgm:spPr/>
      <dgm:t>
        <a:bodyPr/>
        <a:lstStyle/>
        <a:p>
          <a:pPr latinLnBrk="1"/>
          <a:r>
            <a:rPr lang="ko-KR" altLang="en-US" b="1" dirty="0" smtClean="0">
              <a:latin typeface="맑은 고딕" pitchFamily="50" charset="-127"/>
              <a:ea typeface="맑은 고딕" pitchFamily="50" charset="-127"/>
            </a:rPr>
            <a:t>중간 불안</a:t>
          </a:r>
          <a:endParaRPr lang="ko-KR" altLang="en-US" b="1" dirty="0">
            <a:latin typeface="맑은 고딕" pitchFamily="50" charset="-127"/>
            <a:ea typeface="맑은 고딕" pitchFamily="50" charset="-127"/>
          </a:endParaRPr>
        </a:p>
      </dgm:t>
    </dgm:pt>
    <dgm:pt modelId="{F60AEED1-C2C2-4FF8-AF78-29CFE4747FCA}" type="parTrans" cxnId="{340D1E75-B752-4E2B-B2DC-AD1D14483C03}">
      <dgm:prSet/>
      <dgm:spPr/>
      <dgm:t>
        <a:bodyPr/>
        <a:lstStyle/>
        <a:p>
          <a:pPr latinLnBrk="1"/>
          <a:endParaRPr lang="ko-KR" altLang="en-US" b="1">
            <a:latin typeface="맑은 고딕" pitchFamily="50" charset="-127"/>
            <a:ea typeface="맑은 고딕" pitchFamily="50" charset="-127"/>
          </a:endParaRPr>
        </a:p>
      </dgm:t>
    </dgm:pt>
    <dgm:pt modelId="{21F9F937-254C-4FE8-8945-354E7E522FF5}" type="sibTrans" cxnId="{340D1E75-B752-4E2B-B2DC-AD1D14483C03}">
      <dgm:prSet/>
      <dgm:spPr/>
      <dgm:t>
        <a:bodyPr/>
        <a:lstStyle/>
        <a:p>
          <a:pPr latinLnBrk="1"/>
          <a:endParaRPr lang="ko-KR" altLang="en-US" b="1">
            <a:latin typeface="맑은 고딕" pitchFamily="50" charset="-127"/>
            <a:ea typeface="맑은 고딕" pitchFamily="50" charset="-127"/>
          </a:endParaRPr>
        </a:p>
      </dgm:t>
    </dgm:pt>
    <dgm:pt modelId="{3664EF2A-84B7-47B7-84A9-AA0BF0F3470D}">
      <dgm:prSet phldrT="[텍스트]"/>
      <dgm:spPr/>
      <dgm:t>
        <a:bodyPr/>
        <a:lstStyle/>
        <a:p>
          <a:pPr latinLnBrk="1"/>
          <a:r>
            <a:rPr lang="ko-KR" altLang="en-US" b="1" dirty="0" smtClean="0">
              <a:latin typeface="맑은 고딕" pitchFamily="50" charset="-127"/>
              <a:ea typeface="맑은 고딕" pitchFamily="50" charset="-127"/>
            </a:rPr>
            <a:t>효과 확인</a:t>
          </a:r>
          <a:endParaRPr lang="ko-KR" altLang="en-US" b="1" dirty="0">
            <a:latin typeface="맑은 고딕" pitchFamily="50" charset="-127"/>
            <a:ea typeface="맑은 고딕" pitchFamily="50" charset="-127"/>
          </a:endParaRPr>
        </a:p>
      </dgm:t>
    </dgm:pt>
    <dgm:pt modelId="{1C64F59D-5722-4FFB-97AA-019CC26DCDBC}" type="parTrans" cxnId="{98AEEE0A-86CA-4BEB-8995-DD4ED472905E}">
      <dgm:prSet/>
      <dgm:spPr/>
      <dgm:t>
        <a:bodyPr/>
        <a:lstStyle/>
        <a:p>
          <a:pPr latinLnBrk="1"/>
          <a:endParaRPr lang="ko-KR" altLang="en-US" b="1">
            <a:latin typeface="맑은 고딕" pitchFamily="50" charset="-127"/>
            <a:ea typeface="맑은 고딕" pitchFamily="50" charset="-127"/>
          </a:endParaRPr>
        </a:p>
      </dgm:t>
    </dgm:pt>
    <dgm:pt modelId="{6F4558FF-B694-4B2D-8B02-E6DCCF182A87}" type="sibTrans" cxnId="{98AEEE0A-86CA-4BEB-8995-DD4ED472905E}">
      <dgm:prSet/>
      <dgm:spPr/>
      <dgm:t>
        <a:bodyPr/>
        <a:lstStyle/>
        <a:p>
          <a:pPr latinLnBrk="1"/>
          <a:endParaRPr lang="ko-KR" altLang="en-US" b="1">
            <a:latin typeface="맑은 고딕" pitchFamily="50" charset="-127"/>
            <a:ea typeface="맑은 고딕" pitchFamily="50" charset="-127"/>
          </a:endParaRPr>
        </a:p>
      </dgm:t>
    </dgm:pt>
    <dgm:pt modelId="{EF478A34-77D8-4687-84DB-9C69E88CF2EB}" type="pres">
      <dgm:prSet presAssocID="{30162F05-86C2-40FD-9096-3EBEFFAA2D43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5428468-4DED-4E82-B16E-28DFFEF75A36}" type="pres">
      <dgm:prSet presAssocID="{30162F05-86C2-40FD-9096-3EBEFFAA2D43}" presName="axisShape" presStyleLbl="bgShp" presStyleIdx="0" presStyleCnt="1"/>
      <dgm:spPr/>
    </dgm:pt>
    <dgm:pt modelId="{C6F7EF5C-AEB0-48FC-8566-EE024FC66789}" type="pres">
      <dgm:prSet presAssocID="{30162F05-86C2-40FD-9096-3EBEFFAA2D43}" presName="rect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4F0166E-CC40-4918-82AC-2D0BBA0457E7}" type="pres">
      <dgm:prSet presAssocID="{30162F05-86C2-40FD-9096-3EBEFFAA2D43}" presName="rect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4E6D32F-4BB6-4D53-92F0-ADEB97A4CB39}" type="pres">
      <dgm:prSet presAssocID="{30162F05-86C2-40FD-9096-3EBEFFAA2D43}" presName="rect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202F442-686F-4879-A1B5-57ADD8EAB6EA}" type="pres">
      <dgm:prSet presAssocID="{30162F05-86C2-40FD-9096-3EBEFFAA2D43}" presName="rect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8AEEE0A-86CA-4BEB-8995-DD4ED472905E}" srcId="{30162F05-86C2-40FD-9096-3EBEFFAA2D43}" destId="{3664EF2A-84B7-47B7-84A9-AA0BF0F3470D}" srcOrd="3" destOrd="0" parTransId="{1C64F59D-5722-4FFB-97AA-019CC26DCDBC}" sibTransId="{6F4558FF-B694-4B2D-8B02-E6DCCF182A87}"/>
    <dgm:cxn modelId="{6A09A079-2792-432F-905C-77A951152FDD}" type="presOf" srcId="{275AFF4A-CD34-4449-BA6F-A1BEBC1918AA}" destId="{C6F7EF5C-AEB0-48FC-8566-EE024FC66789}" srcOrd="0" destOrd="0" presId="urn:microsoft.com/office/officeart/2005/8/layout/matrix2"/>
    <dgm:cxn modelId="{340D1E75-B752-4E2B-B2DC-AD1D14483C03}" srcId="{30162F05-86C2-40FD-9096-3EBEFFAA2D43}" destId="{D450F3E3-2190-4846-A519-26E2C9CF7175}" srcOrd="2" destOrd="0" parTransId="{F60AEED1-C2C2-4FF8-AF78-29CFE4747FCA}" sibTransId="{21F9F937-254C-4FE8-8945-354E7E522FF5}"/>
    <dgm:cxn modelId="{61F47065-A1C1-497B-8660-C202BA02D75E}" type="presOf" srcId="{99FF26BB-56A1-4A5D-8F00-9D0618E13769}" destId="{B4F0166E-CC40-4918-82AC-2D0BBA0457E7}" srcOrd="0" destOrd="0" presId="urn:microsoft.com/office/officeart/2005/8/layout/matrix2"/>
    <dgm:cxn modelId="{37E30BF3-E5F6-44BC-A254-5C80B0D25533}" type="presOf" srcId="{3664EF2A-84B7-47B7-84A9-AA0BF0F3470D}" destId="{D202F442-686F-4879-A1B5-57ADD8EAB6EA}" srcOrd="0" destOrd="0" presId="urn:microsoft.com/office/officeart/2005/8/layout/matrix2"/>
    <dgm:cxn modelId="{40AE928F-E675-4D0F-BE6C-57C8528288B7}" type="presOf" srcId="{D450F3E3-2190-4846-A519-26E2C9CF7175}" destId="{64E6D32F-4BB6-4D53-92F0-ADEB97A4CB39}" srcOrd="0" destOrd="0" presId="urn:microsoft.com/office/officeart/2005/8/layout/matrix2"/>
    <dgm:cxn modelId="{CB0FC2A4-526B-49A8-8424-8E891E8B1DCC}" srcId="{30162F05-86C2-40FD-9096-3EBEFFAA2D43}" destId="{275AFF4A-CD34-4449-BA6F-A1BEBC1918AA}" srcOrd="0" destOrd="0" parTransId="{9472AFB8-2EE6-432F-A96B-25C5E581DDF2}" sibTransId="{0AF160F5-891B-4239-9E2C-877CA07E7442}"/>
    <dgm:cxn modelId="{86ECF0CB-CBEA-4F87-BA52-1B0F2D843BC5}" srcId="{30162F05-86C2-40FD-9096-3EBEFFAA2D43}" destId="{99FF26BB-56A1-4A5D-8F00-9D0618E13769}" srcOrd="1" destOrd="0" parTransId="{861D20A8-DCB5-46B7-ADD1-66D22748AA91}" sibTransId="{842FA188-8650-434F-84B8-403E1C215415}"/>
    <dgm:cxn modelId="{4B8096BA-8ABA-48A9-9458-77D670915798}" type="presOf" srcId="{30162F05-86C2-40FD-9096-3EBEFFAA2D43}" destId="{EF478A34-77D8-4687-84DB-9C69E88CF2EB}" srcOrd="0" destOrd="0" presId="urn:microsoft.com/office/officeart/2005/8/layout/matrix2"/>
    <dgm:cxn modelId="{E0EFD826-14E4-49F0-A23A-A86774BE1939}" type="presParOf" srcId="{EF478A34-77D8-4687-84DB-9C69E88CF2EB}" destId="{05428468-4DED-4E82-B16E-28DFFEF75A36}" srcOrd="0" destOrd="0" presId="urn:microsoft.com/office/officeart/2005/8/layout/matrix2"/>
    <dgm:cxn modelId="{5401B7A2-29EF-43F3-8AEA-1A8DB8A36D73}" type="presParOf" srcId="{EF478A34-77D8-4687-84DB-9C69E88CF2EB}" destId="{C6F7EF5C-AEB0-48FC-8566-EE024FC66789}" srcOrd="1" destOrd="0" presId="urn:microsoft.com/office/officeart/2005/8/layout/matrix2"/>
    <dgm:cxn modelId="{A9F4FDFC-19AC-4906-95F0-6A3B357266D7}" type="presParOf" srcId="{EF478A34-77D8-4687-84DB-9C69E88CF2EB}" destId="{B4F0166E-CC40-4918-82AC-2D0BBA0457E7}" srcOrd="2" destOrd="0" presId="urn:microsoft.com/office/officeart/2005/8/layout/matrix2"/>
    <dgm:cxn modelId="{70E621A6-1DB3-4E4A-93B3-AA4016468DAA}" type="presParOf" srcId="{EF478A34-77D8-4687-84DB-9C69E88CF2EB}" destId="{64E6D32F-4BB6-4D53-92F0-ADEB97A4CB39}" srcOrd="3" destOrd="0" presId="urn:microsoft.com/office/officeart/2005/8/layout/matrix2"/>
    <dgm:cxn modelId="{E374164C-6716-40BB-B065-D0A20ADDE031}" type="presParOf" srcId="{EF478A34-77D8-4687-84DB-9C69E88CF2EB}" destId="{D202F442-686F-4879-A1B5-57ADD8EAB6E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428468-4DED-4E82-B16E-28DFFEF75A36}">
      <dsp:nvSpPr>
        <dsp:cNvPr id="0" name=""/>
        <dsp:cNvSpPr/>
      </dsp:nvSpPr>
      <dsp:spPr>
        <a:xfrm>
          <a:off x="1016000" y="0"/>
          <a:ext cx="4064000" cy="406400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7EF5C-AEB0-48FC-8566-EE024FC66789}">
      <dsp:nvSpPr>
        <dsp:cNvPr id="0" name=""/>
        <dsp:cNvSpPr/>
      </dsp:nvSpPr>
      <dsp:spPr>
        <a:xfrm>
          <a:off x="1280160" y="264160"/>
          <a:ext cx="1625600" cy="1625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000" b="1" kern="12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rPr>
            <a:t>꼭    필요</a:t>
          </a:r>
          <a:endParaRPr lang="ko-KR" altLang="en-US" sz="3000" b="1" kern="1200" dirty="0">
            <a:solidFill>
              <a:schemeClr val="tx1"/>
            </a:solidFill>
            <a:latin typeface="맑은 고딕" pitchFamily="50" charset="-127"/>
            <a:ea typeface="맑은 고딕" pitchFamily="50" charset="-127"/>
          </a:endParaRPr>
        </a:p>
      </dsp:txBody>
      <dsp:txXfrm>
        <a:off x="1280160" y="264160"/>
        <a:ext cx="1625600" cy="1625600"/>
      </dsp:txXfrm>
    </dsp:sp>
    <dsp:sp modelId="{B4F0166E-CC40-4918-82AC-2D0BBA0457E7}">
      <dsp:nvSpPr>
        <dsp:cNvPr id="0" name=""/>
        <dsp:cNvSpPr/>
      </dsp:nvSpPr>
      <dsp:spPr>
        <a:xfrm>
          <a:off x="3190240" y="264160"/>
          <a:ext cx="1625600" cy="1625600"/>
        </a:xfrm>
        <a:prstGeom prst="roundRect">
          <a:avLst/>
        </a:prstGeom>
        <a:solidFill>
          <a:schemeClr val="accent5">
            <a:hueOff val="1085675"/>
            <a:satOff val="3732"/>
            <a:lumOff val="-179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000" b="1" kern="12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rPr>
            <a:t>먼저</a:t>
          </a:r>
          <a:endParaRPr lang="ko-KR" altLang="en-US" sz="3000" b="1" kern="1200" dirty="0">
            <a:solidFill>
              <a:schemeClr val="tx1"/>
            </a:solidFill>
            <a:latin typeface="맑은 고딕" pitchFamily="50" charset="-127"/>
            <a:ea typeface="맑은 고딕" pitchFamily="50" charset="-127"/>
          </a:endParaRPr>
        </a:p>
      </dsp:txBody>
      <dsp:txXfrm>
        <a:off x="3190240" y="264160"/>
        <a:ext cx="1625600" cy="1625600"/>
      </dsp:txXfrm>
    </dsp:sp>
    <dsp:sp modelId="{64E6D32F-4BB6-4D53-92F0-ADEB97A4CB39}">
      <dsp:nvSpPr>
        <dsp:cNvPr id="0" name=""/>
        <dsp:cNvSpPr/>
      </dsp:nvSpPr>
      <dsp:spPr>
        <a:xfrm>
          <a:off x="1280160" y="2174240"/>
          <a:ext cx="1625600" cy="1625600"/>
        </a:xfrm>
        <a:prstGeom prst="roundRect">
          <a:avLst/>
        </a:prstGeom>
        <a:solidFill>
          <a:schemeClr val="accent5">
            <a:hueOff val="2171350"/>
            <a:satOff val="7464"/>
            <a:lumOff val="-358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000" b="1" kern="1200" dirty="0" smtClean="0">
              <a:latin typeface="맑은 고딕" pitchFamily="50" charset="-127"/>
              <a:ea typeface="맑은 고딕" pitchFamily="50" charset="-127"/>
            </a:rPr>
            <a:t>중간 불안</a:t>
          </a:r>
          <a:endParaRPr lang="ko-KR" altLang="en-US" sz="3000" b="1" kern="1200" dirty="0">
            <a:latin typeface="맑은 고딕" pitchFamily="50" charset="-127"/>
            <a:ea typeface="맑은 고딕" pitchFamily="50" charset="-127"/>
          </a:endParaRPr>
        </a:p>
      </dsp:txBody>
      <dsp:txXfrm>
        <a:off x="1280160" y="2174240"/>
        <a:ext cx="1625600" cy="1625600"/>
      </dsp:txXfrm>
    </dsp:sp>
    <dsp:sp modelId="{D202F442-686F-4879-A1B5-57ADD8EAB6EA}">
      <dsp:nvSpPr>
        <dsp:cNvPr id="0" name=""/>
        <dsp:cNvSpPr/>
      </dsp:nvSpPr>
      <dsp:spPr>
        <a:xfrm>
          <a:off x="3190240" y="2174240"/>
          <a:ext cx="1625600" cy="1625600"/>
        </a:xfrm>
        <a:prstGeom prst="roundRect">
          <a:avLst/>
        </a:prstGeom>
        <a:solidFill>
          <a:schemeClr val="accent5">
            <a:hueOff val="3257024"/>
            <a:satOff val="11196"/>
            <a:lumOff val="-53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000" b="1" kern="1200" dirty="0" smtClean="0">
              <a:latin typeface="맑은 고딕" pitchFamily="50" charset="-127"/>
              <a:ea typeface="맑은 고딕" pitchFamily="50" charset="-127"/>
            </a:rPr>
            <a:t>효과 확인</a:t>
          </a:r>
          <a:endParaRPr lang="ko-KR" altLang="en-US" sz="3000" b="1" kern="1200" dirty="0">
            <a:latin typeface="맑은 고딕" pitchFamily="50" charset="-127"/>
            <a:ea typeface="맑은 고딕" pitchFamily="50" charset="-127"/>
          </a:endParaRPr>
        </a:p>
      </dsp:txBody>
      <dsp:txXfrm>
        <a:off x="3190240" y="2174240"/>
        <a:ext cx="1625600" cy="1625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7696B-1678-4D18-A6A2-AC4B0DEF48AF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23688-7358-47C9-865F-F20144A77A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735B35-4B5A-4719-8F77-DC5EC5AF16BB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7FBD8-BDB0-4AE3-B653-3987E6F3EB3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D73E8-D7F9-4CB4-8D0E-529D3A1462B6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E8E70-7727-4E18-B0CF-7AD1560F706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5E29F-2857-4553-BC5C-3F1BDC52048E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BA95F-0352-4B36-9A49-2A21887741E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49F2D-0997-4CB8-9222-09AB71B84DAD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71079-B83A-4219-BBD0-49C4696799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B7328-B53E-4869-8CBE-36C68A07193B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0FB07-A31F-4189-A814-0DC7AE05608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D7688-A4A6-4A5B-A1A4-2BF6E628B018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BF600-99CB-4524-BE0F-F1E61DCF32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CEB5F-8FE5-4378-A399-3BF6CFABFCE4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82E12-F68D-4229-AE42-4A1E106D01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78630-7FDA-4739-8D97-841AA9369E0A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3F2CF-BEC4-4505-8863-45F3E01498C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FB346-4EE3-41C4-A32E-F2490E414539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5B034-6248-42AC-AA7D-78AED3AF2C2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3E142-4DA4-43D4-BFED-4F68711C8584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77CBA-F769-4B7A-88BE-260901B7E5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8E6DD52E-B83A-495F-BC74-6CB0092FBC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7F6328DC-2C8E-4F0B-927E-80AF2EABB0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F514C04B-6A49-4BE3-95E5-FF59DF6816D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49F9FE1F-7220-4D01-96B1-97CFA51A11A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13F294AC-1C59-44E1-AB66-6827B6EED8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C7D115E1-76A6-4D81-BAF0-133F30B842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1BCE37EC-FAF0-4686-9F73-9F94D7F299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26D362E8-FABA-488C-9E06-2F38BA41688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BEFC96AB-5D4D-43D6-9605-C5C548281B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3DF1BAC0-E2DE-4480-8374-8D77F1C8E4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CF6E85F9-7113-4097-9557-100F02438E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/>
            </a:lvl1pPr>
          </a:lstStyle>
          <a:p>
            <a:pPr>
              <a:defRPr/>
            </a:pPr>
            <a:fld id="{72DB86CA-22BB-4E80-A8E6-3F86E419D1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2FC4866-7C73-472B-BF41-C44584F1A5CB}" type="datetimeFigureOut">
              <a:rPr lang="ko-KR" altLang="en-US"/>
              <a:pPr>
                <a:defRPr/>
              </a:pPr>
              <a:t>2012-07-09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63373D5-F42E-4D7E-B7D8-E4B514E3735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75068F3-9045-4E3F-8391-FC587A64FE0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2055" name="Picture 7" descr="PPT 얼룩말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025" y="0"/>
            <a:ext cx="9036050" cy="710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3059113" y="6640513"/>
            <a:ext cx="2951162" cy="4333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4022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4429125"/>
            <a:ext cx="435768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395288" y="476250"/>
            <a:ext cx="40703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2800" dirty="0" smtClean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오늘의</a:t>
            </a:r>
            <a:r>
              <a:rPr lang="en-US" altLang="ko-KR" sz="2800" dirty="0" smtClean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8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Time</a:t>
            </a:r>
            <a:r>
              <a:rPr lang="ko-KR" altLang="en-US" sz="28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8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Table</a:t>
            </a:r>
            <a:endParaRPr lang="ko-KR" altLang="en-US" sz="2800" dirty="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95288" y="1785938"/>
            <a:ext cx="8615362" cy="237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긴장</a:t>
            </a:r>
            <a:r>
              <a:rPr lang="en-US" altLang="ko-KR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이완훈련으로 워밍업</a:t>
            </a:r>
            <a:r>
              <a:rPr lang="en-US" altLang="ko-KR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!</a:t>
            </a: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endParaRPr lang="en-US" altLang="ko-KR" sz="2400" dirty="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지난 회기 과제 점검</a:t>
            </a:r>
            <a:endParaRPr lang="en-US" altLang="ko-KR" sz="2400" dirty="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altLang="ko-KR" sz="2800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ERP</a:t>
            </a:r>
            <a:r>
              <a:rPr lang="en-US" altLang="ko-KR" sz="2400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400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전략 이해하기</a:t>
            </a:r>
            <a:r>
              <a:rPr lang="en-US" altLang="ko-KR" sz="2400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en-US" altLang="ko-KR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1) </a:t>
            </a:r>
            <a:r>
              <a:rPr lang="ko-KR" altLang="en-US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왜 </a:t>
            </a:r>
            <a:r>
              <a:rPr lang="ko-KR" altLang="en-US" u="sng" dirty="0" err="1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노출해야하나</a:t>
            </a:r>
            <a:r>
              <a:rPr lang="en-US" altLang="ko-KR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? 2) </a:t>
            </a:r>
            <a:r>
              <a:rPr lang="ko-KR" altLang="en-US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왜 </a:t>
            </a:r>
            <a:r>
              <a:rPr lang="ko-KR" altLang="en-US" u="sng" dirty="0" err="1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반응방지해야하나</a:t>
            </a:r>
            <a:r>
              <a:rPr lang="en-US" altLang="ko-KR" u="sng" dirty="0">
                <a:solidFill>
                  <a:schemeClr val="accent5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?</a:t>
            </a:r>
            <a:endParaRPr lang="en-US" altLang="ko-KR" sz="2400" u="sng" dirty="0">
              <a:solidFill>
                <a:schemeClr val="accent5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이번 회기 과제</a:t>
            </a:r>
            <a:r>
              <a:rPr lang="en-US" altLang="ko-KR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목표</a:t>
            </a:r>
            <a:r>
              <a:rPr lang="en-US" altLang="ko-KR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(target)</a:t>
            </a: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증상 정하기</a:t>
            </a:r>
            <a:r>
              <a:rPr lang="en-US" altLang="ko-KR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, mini list</a:t>
            </a:r>
          </a:p>
          <a:p>
            <a:pPr marL="457200" indent="-457200">
              <a:defRPr/>
            </a:pPr>
            <a:r>
              <a:rPr lang="en-US" altLang="ko-KR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                           </a:t>
            </a: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노출 훈련 기록표 이해하기</a:t>
            </a:r>
            <a:endParaRPr lang="en-US" altLang="ko-KR" sz="2400" dirty="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defRPr/>
            </a:pPr>
            <a:r>
              <a:rPr lang="en-US" altLang="ko-KR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5.  </a:t>
            </a:r>
            <a:r>
              <a:rPr lang="ko-KR" altLang="en-US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함께 이야기 나누기 </a:t>
            </a:r>
            <a:r>
              <a:rPr lang="en-US" altLang="ko-KR" sz="2400" dirty="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^ ^</a:t>
            </a:r>
            <a:endParaRPr lang="ko-KR" altLang="en-US" sz="2400" dirty="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5366" name="Picture 2" descr="C:\DOCUME~1\Seojin\LOCALS~1\Temp\_AZTMP0_\병원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0288" y="476250"/>
            <a:ext cx="1223962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714375" y="1773238"/>
            <a:ext cx="818197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ERP(</a:t>
            </a:r>
            <a:r>
              <a:rPr lang="en-US" altLang="ko-KR" sz="240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E</a:t>
            </a:r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xposure and </a:t>
            </a:r>
            <a:r>
              <a:rPr lang="en-US" altLang="ko-KR" sz="240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R</a:t>
            </a:r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esponse </a:t>
            </a:r>
            <a:r>
              <a:rPr lang="en-US" altLang="ko-KR" sz="240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P</a:t>
            </a:r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revention) </a:t>
            </a:r>
            <a:r>
              <a:rPr lang="ko-KR" altLang="en-US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시작</a:t>
            </a:r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!</a:t>
            </a:r>
          </a:p>
          <a:p>
            <a:endParaRPr lang="en-US" altLang="ko-KR" sz="2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22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의도적으로 불안을 유발하는 자극에 </a:t>
            </a:r>
            <a:r>
              <a:rPr lang="ko-KR" altLang="en-US" sz="220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노출</a:t>
            </a:r>
            <a:r>
              <a:rPr lang="ko-KR" altLang="en-US" sz="22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시키고</a:t>
            </a:r>
            <a:r>
              <a:rPr lang="en-US" altLang="ko-KR" sz="22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</a:t>
            </a:r>
          </a:p>
          <a:p>
            <a:r>
              <a:rPr lang="ko-KR" altLang="en-US" sz="22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불안을 감소시키기 위해 이전에 사용하던 반복적인 </a:t>
            </a:r>
            <a:r>
              <a:rPr lang="ko-KR" altLang="en-US" sz="220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행동을 차단</a:t>
            </a:r>
            <a:endParaRPr lang="en-US" altLang="ko-KR" sz="220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1600"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강박증의 치료에 있어 가장 많이 연구되었으며</a:t>
            </a: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,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 그 효과를 인정받은 치료법</a:t>
            </a:r>
            <a:endParaRPr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6" name="Picture 2" descr="C:\Documents and Settings\Seojin\바탕 화면\신문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4054475"/>
            <a:ext cx="2643187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C:\Documents and Settings\Seojin\바탕 화면\손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3488" y="4054475"/>
            <a:ext cx="257175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오른쪽 화살표 7"/>
          <p:cNvSpPr/>
          <p:nvPr/>
        </p:nvSpPr>
        <p:spPr>
          <a:xfrm>
            <a:off x="3900488" y="4768850"/>
            <a:ext cx="857250" cy="428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6392" name="직사각형 8"/>
          <p:cNvSpPr>
            <a:spLocks noChangeArrowheads="1"/>
          </p:cNvSpPr>
          <p:nvPr/>
        </p:nvSpPr>
        <p:spPr bwMode="auto">
          <a:xfrm>
            <a:off x="1900238" y="4768850"/>
            <a:ext cx="13477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E</a:t>
            </a:r>
            <a:r>
              <a:rPr lang="en-US" altLang="ko-KR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xposure</a:t>
            </a:r>
            <a:endParaRPr kumimoji="0" lang="ko-KR" altLang="en-US"/>
          </a:p>
        </p:txBody>
      </p:sp>
      <p:sp>
        <p:nvSpPr>
          <p:cNvPr id="16393" name="직사각형 9"/>
          <p:cNvSpPr>
            <a:spLocks noChangeArrowheads="1"/>
          </p:cNvSpPr>
          <p:nvPr/>
        </p:nvSpPr>
        <p:spPr bwMode="auto">
          <a:xfrm>
            <a:off x="5329238" y="4697413"/>
            <a:ext cx="14065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R</a:t>
            </a:r>
            <a:r>
              <a:rPr lang="en-US" altLang="ko-KR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esponse</a:t>
            </a:r>
            <a:endParaRPr kumimoji="0" lang="ko-KR" altLang="en-US"/>
          </a:p>
        </p:txBody>
      </p:sp>
      <p:sp>
        <p:nvSpPr>
          <p:cNvPr id="11" name="&quot;없음&quot; 기호 10"/>
          <p:cNvSpPr/>
          <p:nvPr/>
        </p:nvSpPr>
        <p:spPr>
          <a:xfrm>
            <a:off x="5543550" y="4197350"/>
            <a:ext cx="1571625" cy="1500188"/>
          </a:xfrm>
          <a:prstGeom prst="noSmoking">
            <a:avLst>
              <a:gd name="adj" fmla="val 14034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chemeClr val="tx1"/>
              </a:solidFill>
            </a:endParaRPr>
          </a:p>
        </p:txBody>
      </p:sp>
      <p:sp>
        <p:nvSpPr>
          <p:cNvPr id="16395" name="직사각형 11"/>
          <p:cNvSpPr>
            <a:spLocks noChangeArrowheads="1"/>
          </p:cNvSpPr>
          <p:nvPr/>
        </p:nvSpPr>
        <p:spPr bwMode="auto">
          <a:xfrm>
            <a:off x="683568" y="980728"/>
            <a:ext cx="36480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20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행동적 전략의 도입</a:t>
            </a:r>
            <a:endParaRPr lang="en-US" altLang="ko-KR" sz="20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11" name="_s1030"/>
          <p:cNvSpPr>
            <a:spLocks noChangeArrowheads="1"/>
          </p:cNvSpPr>
          <p:nvPr/>
        </p:nvSpPr>
        <p:spPr bwMode="auto">
          <a:xfrm>
            <a:off x="971550" y="1989138"/>
            <a:ext cx="7315200" cy="13684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2">
                  <a:alpha val="51999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wrap="none" lIns="157613" tIns="78807" rIns="157613" bIns="78807" anchor="ctr"/>
          <a:lstStyle/>
          <a:p>
            <a:pPr algn="ctr"/>
            <a:endParaRPr lang="ko-KR" altLang="ko-KR" sz="26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1042988" y="2174875"/>
            <a:ext cx="6367462" cy="144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8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“</a:t>
            </a:r>
            <a:r>
              <a:rPr lang="ko-KR" altLang="en-US" sz="28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습관화</a:t>
            </a:r>
            <a:r>
              <a:rPr lang="en-US" altLang="ko-KR" sz="28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”</a:t>
            </a:r>
          </a:p>
          <a:p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예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) 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악취가 나는 화장실에 처음 들어갔을 때의 냄새가 </a:t>
            </a:r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차츰 시간이 지나면서 약해지는 것</a:t>
            </a:r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67833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Q. 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왜 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Exposure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해야 하나요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? </a:t>
            </a:r>
            <a:endParaRPr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7414" name="Picture 2" descr="C:\Documents and Settings\Seojin\바탕 화면\비데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5" y="3571875"/>
            <a:ext cx="2151063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3" descr="C:\Documents and Settings\Seojin\바탕 화면\냄새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25" y="4000500"/>
            <a:ext cx="2428875" cy="182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번개 7"/>
          <p:cNvSpPr/>
          <p:nvPr/>
        </p:nvSpPr>
        <p:spPr>
          <a:xfrm>
            <a:off x="2857500" y="3643313"/>
            <a:ext cx="785813" cy="85725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" name="해 8"/>
          <p:cNvSpPr/>
          <p:nvPr/>
        </p:nvSpPr>
        <p:spPr>
          <a:xfrm>
            <a:off x="6786563" y="3714750"/>
            <a:ext cx="928687" cy="1000125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35" name="_s1030"/>
          <p:cNvSpPr>
            <a:spLocks noChangeArrowheads="1"/>
          </p:cNvSpPr>
          <p:nvPr/>
        </p:nvSpPr>
        <p:spPr bwMode="auto">
          <a:xfrm>
            <a:off x="971550" y="1989138"/>
            <a:ext cx="7315200" cy="13684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2">
                  <a:alpha val="51999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wrap="none" lIns="157613" tIns="78807" rIns="157613" bIns="78807" anchor="ctr"/>
          <a:lstStyle/>
          <a:p>
            <a:pPr algn="ctr"/>
            <a:endParaRPr lang="ko-KR" altLang="ko-KR" sz="26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1042988" y="2174875"/>
            <a:ext cx="64881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_____________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정도의 불안을 유발하는 자극 선택하기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!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15700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습관화</a:t>
            </a:r>
            <a:endParaRPr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8438" name="Picture 2" descr="C:\Documents and Settings\Seojin\바탕 화면\병아리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3786188"/>
            <a:ext cx="1500187" cy="1574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439" name="Picture 3" descr="C:\Documents and Settings\Seojin\바탕 화면\사자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75" y="3857625"/>
            <a:ext cx="1441450" cy="1577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440" name="직사각형 11"/>
          <p:cNvSpPr>
            <a:spLocks noChangeArrowheads="1"/>
          </p:cNvSpPr>
          <p:nvPr/>
        </p:nvSpPr>
        <p:spPr bwMode="auto">
          <a:xfrm>
            <a:off x="3071813" y="4357688"/>
            <a:ext cx="29543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………………………</a:t>
            </a:r>
            <a:endParaRPr kumimoji="0"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59" name="_s1030"/>
          <p:cNvSpPr>
            <a:spLocks noChangeArrowheads="1"/>
          </p:cNvSpPr>
          <p:nvPr/>
        </p:nvSpPr>
        <p:spPr bwMode="auto">
          <a:xfrm>
            <a:off x="971550" y="1989138"/>
            <a:ext cx="7315200" cy="13684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2">
                  <a:alpha val="51999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wrap="none" lIns="157613" tIns="78807" rIns="157613" bIns="78807" anchor="ctr"/>
          <a:lstStyle/>
          <a:p>
            <a:pPr algn="ctr"/>
            <a:endParaRPr lang="ko-KR" altLang="ko-KR" sz="26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1042988" y="2174875"/>
            <a:ext cx="69342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두려움이 약한 것부터 강한 것 쪽으로 점진적으로 노출한다</a:t>
            </a:r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algn="ctr"/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algn="ctr"/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“</a:t>
            </a:r>
            <a:r>
              <a:rPr lang="ko-KR" altLang="en-US" sz="200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체계적 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둔감화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”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26463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위계 정하기</a:t>
            </a:r>
            <a:endParaRPr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9462" name="Picture 2" descr="C:\Documents and Settings\Seojin\바탕 화면\병아리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88" y="3500438"/>
            <a:ext cx="1160462" cy="1217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3" descr="C:\Documents and Settings\Seojin\바탕 화면\사자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6563" y="3286125"/>
            <a:ext cx="1441450" cy="157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4" name="직사각형 11"/>
          <p:cNvSpPr>
            <a:spLocks noChangeArrowheads="1"/>
          </p:cNvSpPr>
          <p:nvPr/>
        </p:nvSpPr>
        <p:spPr bwMode="auto">
          <a:xfrm>
            <a:off x="2071688" y="3929063"/>
            <a:ext cx="480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…………       ………     …………</a:t>
            </a:r>
            <a:endParaRPr kumimoji="0" lang="ko-KR" altLang="en-US" sz="2400"/>
          </a:p>
        </p:txBody>
      </p:sp>
      <p:pic>
        <p:nvPicPr>
          <p:cNvPr id="2" name="Picture 2" descr="C:\Documents and Settings\Seojin\바탕 화면\고양이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43188" y="3643313"/>
            <a:ext cx="1425575" cy="102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 descr="C:\Documents and Settings\Seojin\바탕 화면\코.bmp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3438" y="3500438"/>
            <a:ext cx="177641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7" name="직사각형 10"/>
          <p:cNvSpPr>
            <a:spLocks noChangeArrowheads="1"/>
          </p:cNvSpPr>
          <p:nvPr/>
        </p:nvSpPr>
        <p:spPr bwMode="auto">
          <a:xfrm>
            <a:off x="1500188" y="5357813"/>
            <a:ext cx="58308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한 단계 한 단계를 거치면서 점차 </a:t>
            </a:r>
            <a:r>
              <a:rPr lang="ko-KR" altLang="en-US" u="sng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둔감화</a:t>
            </a:r>
            <a:r>
              <a:rPr lang="en-US" altLang="ko-KR" u="sng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u="sng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 습관화된다</a:t>
            </a:r>
            <a:r>
              <a:rPr lang="en-US" altLang="ko-KR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!</a:t>
            </a:r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83" name="_s1030"/>
          <p:cNvSpPr>
            <a:spLocks noChangeArrowheads="1"/>
          </p:cNvSpPr>
          <p:nvPr/>
        </p:nvSpPr>
        <p:spPr bwMode="auto">
          <a:xfrm>
            <a:off x="971550" y="1989138"/>
            <a:ext cx="7315200" cy="13684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2">
                  <a:alpha val="51999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wrap="none" lIns="157613" tIns="78807" rIns="157613" bIns="78807" anchor="ctr"/>
          <a:lstStyle/>
          <a:p>
            <a:pPr algn="ctr"/>
            <a:endParaRPr lang="ko-KR" altLang="ko-KR" sz="26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1042988" y="2174875"/>
            <a:ext cx="7156126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“</a:t>
            </a:r>
            <a:r>
              <a:rPr lang="ko-KR" altLang="en-US" sz="2800" dirty="0" smtClean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부정강화</a:t>
            </a:r>
            <a:r>
              <a:rPr lang="en-US" altLang="ko-KR" sz="28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(negative</a:t>
            </a:r>
            <a:r>
              <a:rPr lang="ko-KR" altLang="en-US" sz="28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reinforcement)”</a:t>
            </a:r>
          </a:p>
          <a:p>
            <a:r>
              <a:rPr lang="ko-KR" altLang="en-US" sz="20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왜 강박행동이 지속될까요</a:t>
            </a:r>
            <a:r>
              <a:rPr lang="en-US" altLang="ko-KR" sz="20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?</a:t>
            </a:r>
          </a:p>
          <a:p>
            <a:endParaRPr lang="en-US" altLang="ko-KR" sz="20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20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예</a:t>
            </a:r>
            <a:r>
              <a:rPr lang="en-US" altLang="ko-KR" sz="20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)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74168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Q. 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왜 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RP(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반응방지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해야 하나요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? </a:t>
            </a:r>
            <a:endParaRPr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20486" name="Picture 2" descr="C:\Documents and Settings\Seojin\바탕 화면\떼2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3643313"/>
            <a:ext cx="277495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3" descr="C:\Documents and Settings\Seojin\바탕 화면\손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0" y="3714750"/>
            <a:ext cx="3171825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07" name="_s1030"/>
          <p:cNvSpPr>
            <a:spLocks noChangeArrowheads="1"/>
          </p:cNvSpPr>
          <p:nvPr/>
        </p:nvSpPr>
        <p:spPr bwMode="auto">
          <a:xfrm>
            <a:off x="971550" y="1989138"/>
            <a:ext cx="7315200" cy="13684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2">
                  <a:alpha val="51999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wrap="none" lIns="157613" tIns="78807" rIns="157613" bIns="78807" anchor="ctr"/>
          <a:lstStyle/>
          <a:p>
            <a:pPr algn="ctr"/>
            <a:endParaRPr lang="ko-KR" altLang="ko-KR" sz="26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1042988" y="2133600"/>
            <a:ext cx="6932612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1) 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이전에 불안감을 줄이기 위해서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편안함을 얻기 위해서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) </a:t>
            </a:r>
          </a:p>
          <a:p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습관적으로 하던 행동을 포기하는 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‘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위험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’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을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감수할 때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</a:t>
            </a:r>
          </a:p>
          <a:p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비로소 편안함이 얻어질 수 있다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</a:p>
          <a:p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75326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Q. 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더 불편하고 위험해질 수 있다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? </a:t>
            </a:r>
            <a:endParaRPr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1510" name="_s1030"/>
          <p:cNvSpPr>
            <a:spLocks noChangeArrowheads="1"/>
          </p:cNvSpPr>
          <p:nvPr/>
        </p:nvSpPr>
        <p:spPr bwMode="auto">
          <a:xfrm>
            <a:off x="971550" y="3500438"/>
            <a:ext cx="7315200" cy="13684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2">
                  <a:alpha val="51999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wrap="none" lIns="157613" tIns="78807" rIns="157613" bIns="78807" anchor="ctr"/>
          <a:lstStyle/>
          <a:p>
            <a:pPr algn="ctr"/>
            <a:endParaRPr lang="ko-KR" altLang="ko-KR" sz="26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1511" name="Text Box 5"/>
          <p:cNvSpPr txBox="1">
            <a:spLocks noChangeArrowheads="1"/>
          </p:cNvSpPr>
          <p:nvPr/>
        </p:nvSpPr>
        <p:spPr bwMode="auto">
          <a:xfrm>
            <a:off x="1042988" y="3644900"/>
            <a:ext cx="7288212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2) 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완벽하게 안전한 삶이 있을까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? </a:t>
            </a:r>
          </a:p>
          <a:p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위험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고통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상실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실수 등이 전혀 없는 삶은 어디에도 없다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</a:p>
          <a:p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강박행동과 안전감 사이에는 사실 근거가 거의 없다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</a:p>
          <a:p>
            <a:r>
              <a:rPr lang="ko-KR" altLang="en-US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객관적인 근거와 무관하게 내가 만들어낸 연결고리일 뿐이다</a:t>
            </a:r>
            <a:r>
              <a:rPr lang="en-US" altLang="ko-KR" sz="2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</a:p>
          <a:p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endParaRPr lang="en-US" altLang="ko-KR" sz="20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4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2071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ERP</a:t>
            </a:r>
            <a:r>
              <a:rPr kumimoji="0" lang="ko-KR" altLang="en-US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의</a:t>
            </a:r>
            <a:r>
              <a:rPr kumimoji="0" lang="en-US" altLang="ko-KR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예</a:t>
            </a:r>
            <a:r>
              <a:rPr kumimoji="0" lang="en-US" altLang="ko-KR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endParaRPr kumimoji="0"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363538" y="3438525"/>
            <a:ext cx="1009650" cy="287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/>
          </a:p>
        </p:txBody>
      </p:sp>
      <p:sp>
        <p:nvSpPr>
          <p:cNvPr id="22533" name="Freeform 6"/>
          <p:cNvSpPr>
            <a:spLocks/>
          </p:cNvSpPr>
          <p:nvPr/>
        </p:nvSpPr>
        <p:spPr bwMode="auto">
          <a:xfrm>
            <a:off x="958850" y="2044700"/>
            <a:ext cx="320675" cy="3463925"/>
          </a:xfrm>
          <a:custGeom>
            <a:avLst/>
            <a:gdLst>
              <a:gd name="T0" fmla="*/ 2147483647 w 190"/>
              <a:gd name="T1" fmla="*/ 0 h 2182"/>
              <a:gd name="T2" fmla="*/ 0 w 190"/>
              <a:gd name="T3" fmla="*/ 0 h 2182"/>
              <a:gd name="T4" fmla="*/ 0 w 190"/>
              <a:gd name="T5" fmla="*/ 2147483647 h 2182"/>
              <a:gd name="T6" fmla="*/ 2147483647 w 190"/>
              <a:gd name="T7" fmla="*/ 2147483647 h 2182"/>
              <a:gd name="T8" fmla="*/ 0 60000 65536"/>
              <a:gd name="T9" fmla="*/ 0 60000 65536"/>
              <a:gd name="T10" fmla="*/ 0 60000 65536"/>
              <a:gd name="T11" fmla="*/ 0 60000 65536"/>
              <a:gd name="T12" fmla="*/ 0 w 190"/>
              <a:gd name="T13" fmla="*/ 0 h 2182"/>
              <a:gd name="T14" fmla="*/ 190 w 190"/>
              <a:gd name="T15" fmla="*/ 2182 h 21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0" h="2182">
                <a:moveTo>
                  <a:pt x="189" y="0"/>
                </a:moveTo>
                <a:lnTo>
                  <a:pt x="0" y="0"/>
                </a:lnTo>
                <a:lnTo>
                  <a:pt x="0" y="2181"/>
                </a:lnTo>
                <a:lnTo>
                  <a:pt x="189" y="2181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34" name="Line 7"/>
          <p:cNvSpPr>
            <a:spLocks noChangeShapeType="1"/>
          </p:cNvSpPr>
          <p:nvPr/>
        </p:nvSpPr>
        <p:spPr bwMode="auto">
          <a:xfrm>
            <a:off x="958850" y="2894013"/>
            <a:ext cx="320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35" name="Line 8"/>
          <p:cNvSpPr>
            <a:spLocks noChangeShapeType="1"/>
          </p:cNvSpPr>
          <p:nvPr/>
        </p:nvSpPr>
        <p:spPr bwMode="auto">
          <a:xfrm>
            <a:off x="958850" y="4570413"/>
            <a:ext cx="320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0"/>
          <p:cNvSpPr>
            <a:spLocks/>
          </p:cNvSpPr>
          <p:nvPr/>
        </p:nvSpPr>
        <p:spPr bwMode="auto">
          <a:xfrm>
            <a:off x="1154113" y="2597150"/>
            <a:ext cx="1554162" cy="5857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1" y="0"/>
              </a:cxn>
              <a:cxn ang="0">
                <a:pos x="751" y="96"/>
              </a:cxn>
              <a:cxn ang="0">
                <a:pos x="810" y="96"/>
              </a:cxn>
              <a:cxn ang="0">
                <a:pos x="810" y="3"/>
              </a:cxn>
              <a:cxn ang="0">
                <a:pos x="919" y="187"/>
              </a:cxn>
              <a:cxn ang="0">
                <a:pos x="810" y="368"/>
              </a:cxn>
              <a:cxn ang="0">
                <a:pos x="810" y="274"/>
              </a:cxn>
              <a:cxn ang="0">
                <a:pos x="749" y="274"/>
              </a:cxn>
              <a:cxn ang="0">
                <a:pos x="749" y="368"/>
              </a:cxn>
              <a:cxn ang="0">
                <a:pos x="0" y="368"/>
              </a:cxn>
              <a:cxn ang="0">
                <a:pos x="0" y="0"/>
              </a:cxn>
            </a:cxnLst>
            <a:rect l="0" t="0" r="r" b="b"/>
            <a:pathLst>
              <a:path w="920" h="369">
                <a:moveTo>
                  <a:pt x="0" y="0"/>
                </a:moveTo>
                <a:lnTo>
                  <a:pt x="751" y="0"/>
                </a:lnTo>
                <a:lnTo>
                  <a:pt x="751" y="96"/>
                </a:lnTo>
                <a:lnTo>
                  <a:pt x="810" y="96"/>
                </a:lnTo>
                <a:lnTo>
                  <a:pt x="810" y="3"/>
                </a:lnTo>
                <a:lnTo>
                  <a:pt x="919" y="187"/>
                </a:lnTo>
                <a:lnTo>
                  <a:pt x="810" y="368"/>
                </a:lnTo>
                <a:lnTo>
                  <a:pt x="810" y="274"/>
                </a:lnTo>
                <a:lnTo>
                  <a:pt x="749" y="274"/>
                </a:lnTo>
                <a:lnTo>
                  <a:pt x="749" y="368"/>
                </a:lnTo>
                <a:lnTo>
                  <a:pt x="0" y="368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17" name="Freeform 11"/>
          <p:cNvSpPr>
            <a:spLocks/>
          </p:cNvSpPr>
          <p:nvPr/>
        </p:nvSpPr>
        <p:spPr bwMode="auto">
          <a:xfrm>
            <a:off x="1154113" y="4300538"/>
            <a:ext cx="1554162" cy="5826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1" y="0"/>
              </a:cxn>
              <a:cxn ang="0">
                <a:pos x="751" y="95"/>
              </a:cxn>
              <a:cxn ang="0">
                <a:pos x="810" y="95"/>
              </a:cxn>
              <a:cxn ang="0">
                <a:pos x="810" y="3"/>
              </a:cxn>
              <a:cxn ang="0">
                <a:pos x="919" y="186"/>
              </a:cxn>
              <a:cxn ang="0">
                <a:pos x="810" y="366"/>
              </a:cxn>
              <a:cxn ang="0">
                <a:pos x="810" y="273"/>
              </a:cxn>
              <a:cxn ang="0">
                <a:pos x="749" y="273"/>
              </a:cxn>
              <a:cxn ang="0">
                <a:pos x="749" y="366"/>
              </a:cxn>
              <a:cxn ang="0">
                <a:pos x="0" y="366"/>
              </a:cxn>
              <a:cxn ang="0">
                <a:pos x="0" y="0"/>
              </a:cxn>
            </a:cxnLst>
            <a:rect l="0" t="0" r="r" b="b"/>
            <a:pathLst>
              <a:path w="920" h="367">
                <a:moveTo>
                  <a:pt x="0" y="0"/>
                </a:moveTo>
                <a:lnTo>
                  <a:pt x="751" y="0"/>
                </a:lnTo>
                <a:lnTo>
                  <a:pt x="751" y="95"/>
                </a:lnTo>
                <a:lnTo>
                  <a:pt x="810" y="95"/>
                </a:lnTo>
                <a:lnTo>
                  <a:pt x="810" y="3"/>
                </a:lnTo>
                <a:lnTo>
                  <a:pt x="919" y="186"/>
                </a:lnTo>
                <a:lnTo>
                  <a:pt x="810" y="366"/>
                </a:lnTo>
                <a:lnTo>
                  <a:pt x="810" y="273"/>
                </a:lnTo>
                <a:lnTo>
                  <a:pt x="749" y="273"/>
                </a:lnTo>
                <a:lnTo>
                  <a:pt x="749" y="366"/>
                </a:lnTo>
                <a:lnTo>
                  <a:pt x="0" y="36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18" name="Freeform 12"/>
          <p:cNvSpPr>
            <a:spLocks/>
          </p:cNvSpPr>
          <p:nvPr/>
        </p:nvSpPr>
        <p:spPr bwMode="auto">
          <a:xfrm>
            <a:off x="1154113" y="3506788"/>
            <a:ext cx="1554162" cy="585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1" y="0"/>
              </a:cxn>
              <a:cxn ang="0">
                <a:pos x="751" y="96"/>
              </a:cxn>
              <a:cxn ang="0">
                <a:pos x="810" y="96"/>
              </a:cxn>
              <a:cxn ang="0">
                <a:pos x="810" y="3"/>
              </a:cxn>
              <a:cxn ang="0">
                <a:pos x="919" y="187"/>
              </a:cxn>
              <a:cxn ang="0">
                <a:pos x="810" y="368"/>
              </a:cxn>
              <a:cxn ang="0">
                <a:pos x="810" y="274"/>
              </a:cxn>
              <a:cxn ang="0">
                <a:pos x="749" y="274"/>
              </a:cxn>
              <a:cxn ang="0">
                <a:pos x="749" y="368"/>
              </a:cxn>
              <a:cxn ang="0">
                <a:pos x="0" y="368"/>
              </a:cxn>
              <a:cxn ang="0">
                <a:pos x="0" y="0"/>
              </a:cxn>
            </a:cxnLst>
            <a:rect l="0" t="0" r="r" b="b"/>
            <a:pathLst>
              <a:path w="920" h="369">
                <a:moveTo>
                  <a:pt x="0" y="0"/>
                </a:moveTo>
                <a:lnTo>
                  <a:pt x="751" y="0"/>
                </a:lnTo>
                <a:lnTo>
                  <a:pt x="751" y="96"/>
                </a:lnTo>
                <a:lnTo>
                  <a:pt x="810" y="96"/>
                </a:lnTo>
                <a:lnTo>
                  <a:pt x="810" y="3"/>
                </a:lnTo>
                <a:lnTo>
                  <a:pt x="919" y="187"/>
                </a:lnTo>
                <a:lnTo>
                  <a:pt x="810" y="368"/>
                </a:lnTo>
                <a:lnTo>
                  <a:pt x="810" y="274"/>
                </a:lnTo>
                <a:lnTo>
                  <a:pt x="749" y="274"/>
                </a:lnTo>
                <a:lnTo>
                  <a:pt x="749" y="368"/>
                </a:lnTo>
                <a:lnTo>
                  <a:pt x="0" y="368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19" name="Freeform 13"/>
          <p:cNvSpPr>
            <a:spLocks/>
          </p:cNvSpPr>
          <p:nvPr/>
        </p:nvSpPr>
        <p:spPr bwMode="auto">
          <a:xfrm>
            <a:off x="1154113" y="5207000"/>
            <a:ext cx="1554162" cy="584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1" y="0"/>
              </a:cxn>
              <a:cxn ang="0">
                <a:pos x="751" y="96"/>
              </a:cxn>
              <a:cxn ang="0">
                <a:pos x="810" y="96"/>
              </a:cxn>
              <a:cxn ang="0">
                <a:pos x="810" y="3"/>
              </a:cxn>
              <a:cxn ang="0">
                <a:pos x="919" y="186"/>
              </a:cxn>
              <a:cxn ang="0">
                <a:pos x="810" y="367"/>
              </a:cxn>
              <a:cxn ang="0">
                <a:pos x="810" y="273"/>
              </a:cxn>
              <a:cxn ang="0">
                <a:pos x="749" y="273"/>
              </a:cxn>
              <a:cxn ang="0">
                <a:pos x="749" y="367"/>
              </a:cxn>
              <a:cxn ang="0">
                <a:pos x="0" y="367"/>
              </a:cxn>
              <a:cxn ang="0">
                <a:pos x="0" y="0"/>
              </a:cxn>
            </a:cxnLst>
            <a:rect l="0" t="0" r="r" b="b"/>
            <a:pathLst>
              <a:path w="920" h="368">
                <a:moveTo>
                  <a:pt x="0" y="0"/>
                </a:moveTo>
                <a:lnTo>
                  <a:pt x="751" y="0"/>
                </a:lnTo>
                <a:lnTo>
                  <a:pt x="751" y="96"/>
                </a:lnTo>
                <a:lnTo>
                  <a:pt x="810" y="96"/>
                </a:lnTo>
                <a:lnTo>
                  <a:pt x="810" y="3"/>
                </a:lnTo>
                <a:lnTo>
                  <a:pt x="919" y="186"/>
                </a:lnTo>
                <a:lnTo>
                  <a:pt x="810" y="367"/>
                </a:lnTo>
                <a:lnTo>
                  <a:pt x="810" y="273"/>
                </a:lnTo>
                <a:lnTo>
                  <a:pt x="749" y="273"/>
                </a:lnTo>
                <a:lnTo>
                  <a:pt x="749" y="367"/>
                </a:lnTo>
                <a:lnTo>
                  <a:pt x="0" y="367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0" name="Freeform 14"/>
          <p:cNvSpPr>
            <a:spLocks/>
          </p:cNvSpPr>
          <p:nvPr/>
        </p:nvSpPr>
        <p:spPr bwMode="auto">
          <a:xfrm>
            <a:off x="1154113" y="1743075"/>
            <a:ext cx="1554162" cy="584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1" y="0"/>
              </a:cxn>
              <a:cxn ang="0">
                <a:pos x="751" y="96"/>
              </a:cxn>
              <a:cxn ang="0">
                <a:pos x="810" y="96"/>
              </a:cxn>
              <a:cxn ang="0">
                <a:pos x="810" y="3"/>
              </a:cxn>
              <a:cxn ang="0">
                <a:pos x="919" y="186"/>
              </a:cxn>
              <a:cxn ang="0">
                <a:pos x="810" y="367"/>
              </a:cxn>
              <a:cxn ang="0">
                <a:pos x="810" y="273"/>
              </a:cxn>
              <a:cxn ang="0">
                <a:pos x="749" y="273"/>
              </a:cxn>
              <a:cxn ang="0">
                <a:pos x="749" y="367"/>
              </a:cxn>
              <a:cxn ang="0">
                <a:pos x="0" y="367"/>
              </a:cxn>
              <a:cxn ang="0">
                <a:pos x="0" y="0"/>
              </a:cxn>
            </a:cxnLst>
            <a:rect l="0" t="0" r="r" b="b"/>
            <a:pathLst>
              <a:path w="920" h="368">
                <a:moveTo>
                  <a:pt x="0" y="0"/>
                </a:moveTo>
                <a:lnTo>
                  <a:pt x="751" y="0"/>
                </a:lnTo>
                <a:lnTo>
                  <a:pt x="751" y="96"/>
                </a:lnTo>
                <a:lnTo>
                  <a:pt x="810" y="96"/>
                </a:lnTo>
                <a:lnTo>
                  <a:pt x="810" y="3"/>
                </a:lnTo>
                <a:lnTo>
                  <a:pt x="919" y="186"/>
                </a:lnTo>
                <a:lnTo>
                  <a:pt x="810" y="367"/>
                </a:lnTo>
                <a:lnTo>
                  <a:pt x="810" y="273"/>
                </a:lnTo>
                <a:lnTo>
                  <a:pt x="749" y="273"/>
                </a:lnTo>
                <a:lnTo>
                  <a:pt x="749" y="367"/>
                </a:lnTo>
                <a:lnTo>
                  <a:pt x="0" y="367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2541" name="Rectangle 15"/>
          <p:cNvSpPr>
            <a:spLocks noChangeArrowheads="1"/>
          </p:cNvSpPr>
          <p:nvPr/>
        </p:nvSpPr>
        <p:spPr bwMode="auto">
          <a:xfrm>
            <a:off x="1160463" y="2746375"/>
            <a:ext cx="8001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5250" tIns="47625" rIns="95250" bIns="47625">
            <a:spAutoFit/>
          </a:bodyPr>
          <a:lstStyle/>
          <a:p>
            <a:pPr marL="198438" indent="-198438" defTabSz="823913" eaLnBrk="0" latinLnBrk="0" hangingPunct="0">
              <a:spcBef>
                <a:spcPct val="50000"/>
              </a:spcBef>
              <a:tabLst>
                <a:tab pos="396875" algn="l"/>
              </a:tabLst>
            </a:pPr>
            <a:r>
              <a:rPr kumimoji="0" lang="en-US" altLang="ko-KR" sz="1600">
                <a:latin typeface="HY견고딕" pitchFamily="18" charset="-127"/>
                <a:ea typeface="HY견고딕" pitchFamily="18" charset="-127"/>
              </a:rPr>
              <a:t>2 </a:t>
            </a:r>
            <a:r>
              <a:rPr kumimoji="0" lang="ko-KR" altLang="en-US" sz="1600">
                <a:latin typeface="HY견고딕" pitchFamily="18" charset="-127"/>
                <a:ea typeface="HY견고딕" pitchFamily="18" charset="-127"/>
              </a:rPr>
              <a:t>단계</a:t>
            </a:r>
            <a:endParaRPr kumimoji="0"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2542" name="Rectangle 16"/>
          <p:cNvSpPr>
            <a:spLocks noChangeArrowheads="1"/>
          </p:cNvSpPr>
          <p:nvPr/>
        </p:nvSpPr>
        <p:spPr bwMode="auto">
          <a:xfrm>
            <a:off x="1160463" y="4443413"/>
            <a:ext cx="8001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5250" tIns="47625" rIns="95250" bIns="47625">
            <a:spAutoFit/>
          </a:bodyPr>
          <a:lstStyle/>
          <a:p>
            <a:pPr marL="198438" indent="-198438" defTabSz="823913" eaLnBrk="0" latinLnBrk="0" hangingPunct="0">
              <a:spcBef>
                <a:spcPct val="50000"/>
              </a:spcBef>
              <a:tabLst>
                <a:tab pos="396875" algn="l"/>
              </a:tabLst>
            </a:pPr>
            <a:r>
              <a:rPr kumimoji="0" lang="en-US" altLang="ko-KR" sz="1600">
                <a:latin typeface="HY견고딕" pitchFamily="18" charset="-127"/>
                <a:ea typeface="HY견고딕" pitchFamily="18" charset="-127"/>
              </a:rPr>
              <a:t>4</a:t>
            </a:r>
            <a:r>
              <a:rPr kumimoji="0" lang="ko-KR" altLang="en-US" sz="1600">
                <a:latin typeface="HY견고딕" pitchFamily="18" charset="-127"/>
                <a:ea typeface="HY견고딕" pitchFamily="18" charset="-127"/>
              </a:rPr>
              <a:t> 단계</a:t>
            </a:r>
            <a:endParaRPr kumimoji="0"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2543" name="Rectangle 17"/>
          <p:cNvSpPr>
            <a:spLocks noChangeArrowheads="1"/>
          </p:cNvSpPr>
          <p:nvPr/>
        </p:nvSpPr>
        <p:spPr bwMode="auto">
          <a:xfrm>
            <a:off x="1160463" y="3665538"/>
            <a:ext cx="8001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5250" tIns="47625" rIns="95250" bIns="47625">
            <a:spAutoFit/>
          </a:bodyPr>
          <a:lstStyle/>
          <a:p>
            <a:pPr marL="198438" indent="-198438" defTabSz="823913" eaLnBrk="0" latinLnBrk="0" hangingPunct="0">
              <a:spcBef>
                <a:spcPct val="50000"/>
              </a:spcBef>
              <a:tabLst>
                <a:tab pos="396875" algn="l"/>
              </a:tabLst>
            </a:pPr>
            <a:r>
              <a:rPr kumimoji="0" lang="en-US" altLang="ko-KR" sz="1600">
                <a:latin typeface="HY견고딕" pitchFamily="18" charset="-127"/>
                <a:ea typeface="HY견고딕" pitchFamily="18" charset="-127"/>
              </a:rPr>
              <a:t>3</a:t>
            </a:r>
            <a:r>
              <a:rPr kumimoji="0" lang="ko-KR" altLang="en-US" sz="1600">
                <a:latin typeface="HY견고딕" pitchFamily="18" charset="-127"/>
                <a:ea typeface="HY견고딕" pitchFamily="18" charset="-127"/>
              </a:rPr>
              <a:t> 단계</a:t>
            </a:r>
            <a:endParaRPr kumimoji="0"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2544" name="Rectangle 18"/>
          <p:cNvSpPr>
            <a:spLocks noChangeArrowheads="1"/>
          </p:cNvSpPr>
          <p:nvPr/>
        </p:nvSpPr>
        <p:spPr bwMode="auto">
          <a:xfrm>
            <a:off x="1157288" y="1906588"/>
            <a:ext cx="8001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5250" tIns="47625" rIns="95250" bIns="47625">
            <a:spAutoFit/>
          </a:bodyPr>
          <a:lstStyle/>
          <a:p>
            <a:pPr marL="198438" indent="-198438" defTabSz="823913" eaLnBrk="0" latinLnBrk="0" hangingPunct="0">
              <a:tabLst>
                <a:tab pos="396875" algn="l"/>
              </a:tabLst>
            </a:pPr>
            <a:r>
              <a:rPr kumimoji="0" lang="en-US" altLang="ko-KR" sz="1600">
                <a:latin typeface="HY견고딕" pitchFamily="18" charset="-127"/>
                <a:ea typeface="HY견고딕" pitchFamily="18" charset="-127"/>
              </a:rPr>
              <a:t>1 </a:t>
            </a:r>
            <a:r>
              <a:rPr kumimoji="0" lang="ko-KR" altLang="en-US" sz="1600">
                <a:latin typeface="HY견고딕" pitchFamily="18" charset="-127"/>
                <a:ea typeface="HY견고딕" pitchFamily="18" charset="-127"/>
              </a:rPr>
              <a:t>단계</a:t>
            </a:r>
            <a:endParaRPr kumimoji="0"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2545" name="Rectangle 19"/>
          <p:cNvSpPr>
            <a:spLocks noChangeArrowheads="1"/>
          </p:cNvSpPr>
          <p:nvPr/>
        </p:nvSpPr>
        <p:spPr bwMode="auto">
          <a:xfrm>
            <a:off x="1157288" y="5368925"/>
            <a:ext cx="8001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5250" tIns="47625" rIns="95250" bIns="47625">
            <a:spAutoFit/>
          </a:bodyPr>
          <a:lstStyle/>
          <a:p>
            <a:pPr marL="198438" indent="-198438" defTabSz="823913" eaLnBrk="0" latinLnBrk="0" hangingPunct="0">
              <a:spcBef>
                <a:spcPct val="50000"/>
              </a:spcBef>
              <a:tabLst>
                <a:tab pos="396875" algn="l"/>
              </a:tabLst>
            </a:pPr>
            <a:r>
              <a:rPr kumimoji="0" lang="en-US" altLang="ko-KR" sz="1600">
                <a:latin typeface="HY견고딕" pitchFamily="18" charset="-127"/>
                <a:ea typeface="HY견고딕" pitchFamily="18" charset="-127"/>
              </a:rPr>
              <a:t>5 </a:t>
            </a:r>
            <a:r>
              <a:rPr kumimoji="0" lang="ko-KR" altLang="en-US" sz="1600">
                <a:latin typeface="HY견고딕" pitchFamily="18" charset="-127"/>
                <a:ea typeface="HY견고딕" pitchFamily="18" charset="-127"/>
              </a:rPr>
              <a:t>단계</a:t>
            </a:r>
            <a:endParaRPr kumimoji="0"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8" name="Text Box 22"/>
          <p:cNvSpPr txBox="1">
            <a:spLocks noChangeArrowheads="1"/>
          </p:cNvSpPr>
          <p:nvPr/>
        </p:nvSpPr>
        <p:spPr bwMode="auto">
          <a:xfrm>
            <a:off x="2781300" y="1870075"/>
            <a:ext cx="44164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세면대에 걸려있는 수건으로 손을 닦는다</a:t>
            </a:r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2781300" y="2665413"/>
            <a:ext cx="43402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씻을 때 팔은 씻지 않고 손목에서 멈춘다</a:t>
            </a: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2843213" y="3500438"/>
            <a:ext cx="48006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수도꼭지를 씻은 뒤에 </a:t>
            </a:r>
            <a:endParaRPr kumimoji="0" lang="en-US" altLang="ko-KR">
              <a:latin typeface="HY견고딕" pitchFamily="18" charset="-127"/>
              <a:ea typeface="HY견고딕" pitchFamily="18" charset="-127"/>
            </a:endParaRPr>
          </a:p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손을 다시 물로만 헹구고 비누로 씻지 않는다</a:t>
            </a:r>
            <a:endParaRPr kumimoji="0" lang="en-US" altLang="ko-KR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781300" y="4429125"/>
            <a:ext cx="42624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수도꼭지를 씻지 않고 손만 씻고 나온다</a:t>
            </a:r>
            <a:endParaRPr kumimoji="0" lang="en-US" altLang="ko-KR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2781300" y="5127625"/>
            <a:ext cx="38877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집안에 있는 모든 문을 열고 닫는다 </a:t>
            </a:r>
            <a:endParaRPr kumimoji="0" lang="en-US" altLang="ko-KR">
              <a:latin typeface="HY견고딕" pitchFamily="18" charset="-127"/>
              <a:ea typeface="HY견고딕" pitchFamily="18" charset="-127"/>
            </a:endParaRPr>
          </a:p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그 후 샌드위치를 먹는다</a:t>
            </a:r>
            <a:r>
              <a:rPr kumimoji="0" lang="en-US" altLang="ko-KR"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손으로</a:t>
            </a:r>
            <a:r>
              <a:rPr kumimoji="0" lang="en-US" altLang="ko-KR">
                <a:latin typeface="HY견고딕" pitchFamily="18" charset="-127"/>
                <a:ea typeface="HY견고딕" pitchFamily="18" charset="-127"/>
              </a:rPr>
              <a:t>). </a:t>
            </a:r>
          </a:p>
        </p:txBody>
      </p:sp>
      <p:sp>
        <p:nvSpPr>
          <p:cNvPr id="23" name="AutoShape 9"/>
          <p:cNvSpPr>
            <a:spLocks noChangeArrowheads="1"/>
          </p:cNvSpPr>
          <p:nvPr/>
        </p:nvSpPr>
        <p:spPr bwMode="auto">
          <a:xfrm rot="-350279">
            <a:off x="3322638" y="671513"/>
            <a:ext cx="4838700" cy="977900"/>
          </a:xfrm>
          <a:prstGeom prst="wedgeEllipseCallout">
            <a:avLst>
              <a:gd name="adj1" fmla="val -59384"/>
              <a:gd name="adj2" fmla="val -34907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치료목표</a:t>
            </a:r>
            <a:r>
              <a:rPr kumimoji="0" lang="en-US" altLang="ko-KR">
                <a:latin typeface="HY견고딕" pitchFamily="18" charset="-127"/>
                <a:ea typeface="HY견고딕" pitchFamily="18" charset="-127"/>
              </a:rPr>
              <a:t>:</a:t>
            </a:r>
          </a:p>
          <a:p>
            <a:pPr algn="ctr"/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반나절 동안 손을 씻지 않기</a:t>
            </a:r>
            <a:endParaRPr kumimoji="0" lang="en-US" altLang="ko-KR"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4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55" name="Rectangle 5"/>
          <p:cNvSpPr>
            <a:spLocks noChangeArrowheads="1"/>
          </p:cNvSpPr>
          <p:nvPr/>
        </p:nvSpPr>
        <p:spPr bwMode="auto">
          <a:xfrm>
            <a:off x="363538" y="3438525"/>
            <a:ext cx="1009650" cy="287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56" name="Freeform 6"/>
          <p:cNvSpPr>
            <a:spLocks/>
          </p:cNvSpPr>
          <p:nvPr/>
        </p:nvSpPr>
        <p:spPr bwMode="auto">
          <a:xfrm>
            <a:off x="928688" y="2044700"/>
            <a:ext cx="350837" cy="1741488"/>
          </a:xfrm>
          <a:custGeom>
            <a:avLst/>
            <a:gdLst>
              <a:gd name="T0" fmla="*/ 2147483647 w 190"/>
              <a:gd name="T1" fmla="*/ 0 h 2182"/>
              <a:gd name="T2" fmla="*/ 0 w 190"/>
              <a:gd name="T3" fmla="*/ 0 h 2182"/>
              <a:gd name="T4" fmla="*/ 0 w 190"/>
              <a:gd name="T5" fmla="*/ 2147483647 h 2182"/>
              <a:gd name="T6" fmla="*/ 2147483647 w 190"/>
              <a:gd name="T7" fmla="*/ 2147483647 h 2182"/>
              <a:gd name="T8" fmla="*/ 0 60000 65536"/>
              <a:gd name="T9" fmla="*/ 0 60000 65536"/>
              <a:gd name="T10" fmla="*/ 0 60000 65536"/>
              <a:gd name="T11" fmla="*/ 0 60000 65536"/>
              <a:gd name="T12" fmla="*/ 0 w 190"/>
              <a:gd name="T13" fmla="*/ 0 h 2182"/>
              <a:gd name="T14" fmla="*/ 190 w 190"/>
              <a:gd name="T15" fmla="*/ 2182 h 21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0" h="2182">
                <a:moveTo>
                  <a:pt x="189" y="0"/>
                </a:moveTo>
                <a:lnTo>
                  <a:pt x="0" y="0"/>
                </a:lnTo>
                <a:lnTo>
                  <a:pt x="0" y="2181"/>
                </a:lnTo>
                <a:lnTo>
                  <a:pt x="189" y="2181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57" name="Line 7"/>
          <p:cNvSpPr>
            <a:spLocks noChangeShapeType="1"/>
          </p:cNvSpPr>
          <p:nvPr/>
        </p:nvSpPr>
        <p:spPr bwMode="auto">
          <a:xfrm>
            <a:off x="958850" y="2894013"/>
            <a:ext cx="320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0"/>
          <p:cNvSpPr>
            <a:spLocks/>
          </p:cNvSpPr>
          <p:nvPr/>
        </p:nvSpPr>
        <p:spPr bwMode="auto">
          <a:xfrm>
            <a:off x="1154113" y="2597150"/>
            <a:ext cx="1554162" cy="5857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1" y="0"/>
              </a:cxn>
              <a:cxn ang="0">
                <a:pos x="751" y="96"/>
              </a:cxn>
              <a:cxn ang="0">
                <a:pos x="810" y="96"/>
              </a:cxn>
              <a:cxn ang="0">
                <a:pos x="810" y="3"/>
              </a:cxn>
              <a:cxn ang="0">
                <a:pos x="919" y="187"/>
              </a:cxn>
              <a:cxn ang="0">
                <a:pos x="810" y="368"/>
              </a:cxn>
              <a:cxn ang="0">
                <a:pos x="810" y="274"/>
              </a:cxn>
              <a:cxn ang="0">
                <a:pos x="749" y="274"/>
              </a:cxn>
              <a:cxn ang="0">
                <a:pos x="749" y="368"/>
              </a:cxn>
              <a:cxn ang="0">
                <a:pos x="0" y="368"/>
              </a:cxn>
              <a:cxn ang="0">
                <a:pos x="0" y="0"/>
              </a:cxn>
            </a:cxnLst>
            <a:rect l="0" t="0" r="r" b="b"/>
            <a:pathLst>
              <a:path w="920" h="369">
                <a:moveTo>
                  <a:pt x="0" y="0"/>
                </a:moveTo>
                <a:lnTo>
                  <a:pt x="751" y="0"/>
                </a:lnTo>
                <a:lnTo>
                  <a:pt x="751" y="96"/>
                </a:lnTo>
                <a:lnTo>
                  <a:pt x="810" y="96"/>
                </a:lnTo>
                <a:lnTo>
                  <a:pt x="810" y="3"/>
                </a:lnTo>
                <a:lnTo>
                  <a:pt x="919" y="187"/>
                </a:lnTo>
                <a:lnTo>
                  <a:pt x="810" y="368"/>
                </a:lnTo>
                <a:lnTo>
                  <a:pt x="810" y="274"/>
                </a:lnTo>
                <a:lnTo>
                  <a:pt x="749" y="274"/>
                </a:lnTo>
                <a:lnTo>
                  <a:pt x="749" y="368"/>
                </a:lnTo>
                <a:lnTo>
                  <a:pt x="0" y="368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8" name="Freeform 12"/>
          <p:cNvSpPr>
            <a:spLocks/>
          </p:cNvSpPr>
          <p:nvPr/>
        </p:nvSpPr>
        <p:spPr bwMode="auto">
          <a:xfrm>
            <a:off x="1154113" y="3506788"/>
            <a:ext cx="1554162" cy="585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1" y="0"/>
              </a:cxn>
              <a:cxn ang="0">
                <a:pos x="751" y="96"/>
              </a:cxn>
              <a:cxn ang="0">
                <a:pos x="810" y="96"/>
              </a:cxn>
              <a:cxn ang="0">
                <a:pos x="810" y="3"/>
              </a:cxn>
              <a:cxn ang="0">
                <a:pos x="919" y="187"/>
              </a:cxn>
              <a:cxn ang="0">
                <a:pos x="810" y="368"/>
              </a:cxn>
              <a:cxn ang="0">
                <a:pos x="810" y="274"/>
              </a:cxn>
              <a:cxn ang="0">
                <a:pos x="749" y="274"/>
              </a:cxn>
              <a:cxn ang="0">
                <a:pos x="749" y="368"/>
              </a:cxn>
              <a:cxn ang="0">
                <a:pos x="0" y="368"/>
              </a:cxn>
              <a:cxn ang="0">
                <a:pos x="0" y="0"/>
              </a:cxn>
            </a:cxnLst>
            <a:rect l="0" t="0" r="r" b="b"/>
            <a:pathLst>
              <a:path w="920" h="369">
                <a:moveTo>
                  <a:pt x="0" y="0"/>
                </a:moveTo>
                <a:lnTo>
                  <a:pt x="751" y="0"/>
                </a:lnTo>
                <a:lnTo>
                  <a:pt x="751" y="96"/>
                </a:lnTo>
                <a:lnTo>
                  <a:pt x="810" y="96"/>
                </a:lnTo>
                <a:lnTo>
                  <a:pt x="810" y="3"/>
                </a:lnTo>
                <a:lnTo>
                  <a:pt x="919" y="187"/>
                </a:lnTo>
                <a:lnTo>
                  <a:pt x="810" y="368"/>
                </a:lnTo>
                <a:lnTo>
                  <a:pt x="810" y="274"/>
                </a:lnTo>
                <a:lnTo>
                  <a:pt x="749" y="274"/>
                </a:lnTo>
                <a:lnTo>
                  <a:pt x="749" y="368"/>
                </a:lnTo>
                <a:lnTo>
                  <a:pt x="0" y="368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20" name="Freeform 14"/>
          <p:cNvSpPr>
            <a:spLocks/>
          </p:cNvSpPr>
          <p:nvPr/>
        </p:nvSpPr>
        <p:spPr bwMode="auto">
          <a:xfrm>
            <a:off x="1154113" y="1743075"/>
            <a:ext cx="1554162" cy="584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1" y="0"/>
              </a:cxn>
              <a:cxn ang="0">
                <a:pos x="751" y="96"/>
              </a:cxn>
              <a:cxn ang="0">
                <a:pos x="810" y="96"/>
              </a:cxn>
              <a:cxn ang="0">
                <a:pos x="810" y="3"/>
              </a:cxn>
              <a:cxn ang="0">
                <a:pos x="919" y="186"/>
              </a:cxn>
              <a:cxn ang="0">
                <a:pos x="810" y="367"/>
              </a:cxn>
              <a:cxn ang="0">
                <a:pos x="810" y="273"/>
              </a:cxn>
              <a:cxn ang="0">
                <a:pos x="749" y="273"/>
              </a:cxn>
              <a:cxn ang="0">
                <a:pos x="749" y="367"/>
              </a:cxn>
              <a:cxn ang="0">
                <a:pos x="0" y="367"/>
              </a:cxn>
              <a:cxn ang="0">
                <a:pos x="0" y="0"/>
              </a:cxn>
            </a:cxnLst>
            <a:rect l="0" t="0" r="r" b="b"/>
            <a:pathLst>
              <a:path w="920" h="368">
                <a:moveTo>
                  <a:pt x="0" y="0"/>
                </a:moveTo>
                <a:lnTo>
                  <a:pt x="751" y="0"/>
                </a:lnTo>
                <a:lnTo>
                  <a:pt x="751" y="96"/>
                </a:lnTo>
                <a:lnTo>
                  <a:pt x="810" y="96"/>
                </a:lnTo>
                <a:lnTo>
                  <a:pt x="810" y="3"/>
                </a:lnTo>
                <a:lnTo>
                  <a:pt x="919" y="186"/>
                </a:lnTo>
                <a:lnTo>
                  <a:pt x="810" y="367"/>
                </a:lnTo>
                <a:lnTo>
                  <a:pt x="810" y="273"/>
                </a:lnTo>
                <a:lnTo>
                  <a:pt x="749" y="273"/>
                </a:lnTo>
                <a:lnTo>
                  <a:pt x="749" y="367"/>
                </a:lnTo>
                <a:lnTo>
                  <a:pt x="0" y="367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folHlink"/>
            </a:outerShdw>
          </a:effectLst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23561" name="Rectangle 15"/>
          <p:cNvSpPr>
            <a:spLocks noChangeArrowheads="1"/>
          </p:cNvSpPr>
          <p:nvPr/>
        </p:nvSpPr>
        <p:spPr bwMode="auto">
          <a:xfrm>
            <a:off x="1160463" y="2746375"/>
            <a:ext cx="8001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5250" tIns="47625" rIns="95250" bIns="47625">
            <a:spAutoFit/>
          </a:bodyPr>
          <a:lstStyle/>
          <a:p>
            <a:pPr marL="198438" indent="-198438" defTabSz="823913" eaLnBrk="0" latinLnBrk="0" hangingPunct="0">
              <a:spcBef>
                <a:spcPct val="50000"/>
              </a:spcBef>
              <a:tabLst>
                <a:tab pos="396875" algn="l"/>
              </a:tabLst>
            </a:pP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7 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단계</a:t>
            </a:r>
            <a:endParaRPr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3562" name="Rectangle 17"/>
          <p:cNvSpPr>
            <a:spLocks noChangeArrowheads="1"/>
          </p:cNvSpPr>
          <p:nvPr/>
        </p:nvSpPr>
        <p:spPr bwMode="auto">
          <a:xfrm>
            <a:off x="1160463" y="3665538"/>
            <a:ext cx="8001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5250" tIns="47625" rIns="95250" bIns="47625">
            <a:spAutoFit/>
          </a:bodyPr>
          <a:lstStyle/>
          <a:p>
            <a:pPr marL="198438" indent="-198438" defTabSz="823913" eaLnBrk="0" latinLnBrk="0" hangingPunct="0">
              <a:spcBef>
                <a:spcPct val="50000"/>
              </a:spcBef>
              <a:tabLst>
                <a:tab pos="396875" algn="l"/>
              </a:tabLst>
            </a:pP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8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 단계</a:t>
            </a:r>
            <a:endParaRPr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3563" name="Rectangle 18"/>
          <p:cNvSpPr>
            <a:spLocks noChangeArrowheads="1"/>
          </p:cNvSpPr>
          <p:nvPr/>
        </p:nvSpPr>
        <p:spPr bwMode="auto">
          <a:xfrm>
            <a:off x="1157288" y="1906588"/>
            <a:ext cx="73025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5250" tIns="47625" rIns="95250" bIns="47625">
            <a:spAutoFit/>
          </a:bodyPr>
          <a:lstStyle/>
          <a:p>
            <a:pPr marL="198438" indent="-198438" defTabSz="823913" eaLnBrk="0" latinLnBrk="0" hangingPunct="0">
              <a:tabLst>
                <a:tab pos="396875" algn="l"/>
              </a:tabLst>
            </a:pPr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6</a:t>
            </a:r>
            <a:r>
              <a:rPr lang="ko-KR" altLang="en-US" sz="1600">
                <a:latin typeface="HY견고딕" pitchFamily="18" charset="-127"/>
                <a:ea typeface="HY견고딕" pitchFamily="18" charset="-127"/>
              </a:rPr>
              <a:t>단계</a:t>
            </a:r>
            <a:endParaRPr lang="en-US" altLang="ko-KR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3564" name="Text Box 23"/>
          <p:cNvSpPr txBox="1">
            <a:spLocks noChangeArrowheads="1"/>
          </p:cNvSpPr>
          <p:nvPr/>
        </p:nvSpPr>
        <p:spPr bwMode="auto">
          <a:xfrm>
            <a:off x="2781300" y="2571750"/>
            <a:ext cx="87471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          </a:t>
            </a:r>
            <a:endParaRPr lang="ko-KR" altLang="en-US" sz="160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3565" name="Text Box 26"/>
          <p:cNvSpPr txBox="1">
            <a:spLocks noChangeArrowheads="1"/>
          </p:cNvSpPr>
          <p:nvPr/>
        </p:nvSpPr>
        <p:spPr bwMode="auto">
          <a:xfrm>
            <a:off x="2781300" y="3384550"/>
            <a:ext cx="13557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latin typeface="HY견고딕" pitchFamily="18" charset="-127"/>
                <a:ea typeface="HY견고딕" pitchFamily="18" charset="-127"/>
              </a:rPr>
              <a:t>                 </a:t>
            </a:r>
          </a:p>
        </p:txBody>
      </p:sp>
      <p:sp>
        <p:nvSpPr>
          <p:cNvPr id="23566" name="Text Box 5"/>
          <p:cNvSpPr txBox="1">
            <a:spLocks noChangeArrowheads="1"/>
          </p:cNvSpPr>
          <p:nvPr/>
        </p:nvSpPr>
        <p:spPr bwMode="auto">
          <a:xfrm>
            <a:off x="1042988" y="4900613"/>
            <a:ext cx="16287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000">
                <a:latin typeface="HY견고딕" pitchFamily="18" charset="-127"/>
                <a:ea typeface="HY견고딕" pitchFamily="18" charset="-127"/>
              </a:rPr>
              <a:t>                 </a:t>
            </a:r>
          </a:p>
        </p:txBody>
      </p:sp>
      <p:sp>
        <p:nvSpPr>
          <p:cNvPr id="23567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2071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ERP</a:t>
            </a:r>
            <a:r>
              <a:rPr kumimoji="0" lang="ko-KR" altLang="en-US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의</a:t>
            </a:r>
            <a:r>
              <a:rPr kumimoji="0" lang="en-US" altLang="ko-KR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예</a:t>
            </a:r>
            <a:r>
              <a:rPr kumimoji="0" lang="en-US" altLang="ko-KR" sz="28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endParaRPr kumimoji="0"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3568" name="AutoShape 9"/>
          <p:cNvSpPr>
            <a:spLocks noChangeArrowheads="1"/>
          </p:cNvSpPr>
          <p:nvPr/>
        </p:nvSpPr>
        <p:spPr bwMode="auto">
          <a:xfrm rot="-350279">
            <a:off x="3322638" y="671513"/>
            <a:ext cx="4838700" cy="977900"/>
          </a:xfrm>
          <a:prstGeom prst="wedgeEllipseCallout">
            <a:avLst>
              <a:gd name="adj1" fmla="val -59384"/>
              <a:gd name="adj2" fmla="val -34907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치료목표</a:t>
            </a:r>
            <a:r>
              <a:rPr kumimoji="0" lang="en-US" altLang="ko-KR">
                <a:latin typeface="HY견고딕" pitchFamily="18" charset="-127"/>
                <a:ea typeface="HY견고딕" pitchFamily="18" charset="-127"/>
              </a:rPr>
              <a:t>:</a:t>
            </a:r>
          </a:p>
          <a:p>
            <a:pPr algn="ctr"/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반나절 동안 손을 씻지 않기</a:t>
            </a:r>
            <a:endParaRPr kumimoji="0" lang="en-US" altLang="ko-KR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2781300" y="1870075"/>
            <a:ext cx="55705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야구를 하고 신발을 벗고 나서 점심을 만들어 먹는다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2786063" y="2733675"/>
            <a:ext cx="37242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화장실에 다녀올 때만 손을 씻는다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2786063" y="3643313"/>
            <a:ext cx="42814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전혀 씻지 않고 반나절</a:t>
            </a:r>
            <a:r>
              <a:rPr kumimoji="0" lang="en-US" altLang="ko-KR">
                <a:latin typeface="HY견고딕" pitchFamily="18" charset="-127"/>
                <a:ea typeface="HY견고딕" pitchFamily="18" charset="-127"/>
              </a:rPr>
              <a:t>/</a:t>
            </a:r>
            <a:r>
              <a:rPr kumimoji="0" lang="ko-KR" altLang="en-US">
                <a:latin typeface="HY견고딕" pitchFamily="18" charset="-127"/>
                <a:ea typeface="HY견고딕" pitchFamily="18" charset="-127"/>
              </a:rPr>
              <a:t>하루를 보내본다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1763713" y="4787900"/>
            <a:ext cx="49545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불편함의 정도에 따라 불안의 위계를 설정한다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3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755650" y="1844675"/>
            <a:ext cx="7956550" cy="430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ERP</a:t>
            </a:r>
            <a:r>
              <a:rPr lang="ko-KR" altLang="en-US" sz="240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의 변형과 활용</a:t>
            </a:r>
            <a:endParaRPr lang="en-US" altLang="ko-KR" sz="2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>
              <a:defRPr/>
            </a:pP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defRPr/>
            </a:pP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1)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강박사고 지연시키기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 : </a:t>
            </a:r>
          </a:p>
          <a:p>
            <a:pPr marL="457200" indent="-457200">
              <a:defRPr/>
            </a:pPr>
            <a:r>
              <a:rPr lang="ko-KR" altLang="en-US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일단 강박사고를 떨쳐버리려 애쓰지 말고 이에 주의를 기울인다</a:t>
            </a:r>
            <a:r>
              <a:rPr lang="en-US" altLang="ko-KR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</a:t>
            </a:r>
          </a:p>
          <a:p>
            <a:pPr marL="457200" indent="-457200">
              <a:defRPr/>
            </a:pPr>
            <a:endParaRPr lang="en-US" altLang="ko-KR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defRPr/>
            </a:pP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2) 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강박사고에 의도적으로 몰두하기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 : </a:t>
            </a:r>
          </a:p>
          <a:p>
            <a:pPr marL="457200" indent="-457200">
              <a:defRPr/>
            </a:pPr>
            <a:r>
              <a:rPr lang="ko-KR" altLang="en-US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걱정하는 시간을 정하고 이 시간에는 다른 어떤 긍정적인 생각도 하지 말고 </a:t>
            </a:r>
            <a:endParaRPr lang="en-US" altLang="ko-KR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defRPr/>
            </a:pPr>
            <a:r>
              <a:rPr lang="ko-KR" altLang="en-US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오로지 걱정이나 괴로운 강박사고에만 몰두한다</a:t>
            </a:r>
            <a:r>
              <a:rPr lang="en-US" altLang="ko-KR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가능한 괴로워 지도록</a:t>
            </a:r>
            <a:r>
              <a:rPr lang="en-US" altLang="ko-KR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!</a:t>
            </a:r>
          </a:p>
          <a:p>
            <a:pPr marL="457200" indent="-457200">
              <a:defRPr/>
            </a:pPr>
            <a:r>
              <a:rPr lang="en-US" altLang="ko-KR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강박사고에 억지로 저항하지 않으면 </a:t>
            </a:r>
            <a:endParaRPr lang="en-US" altLang="ko-KR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defRPr/>
            </a:pPr>
            <a:r>
              <a:rPr lang="ko-KR" altLang="en-US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오히려 이를 지속시키려 해도 뜻대로 되지 않는다는 것을 발견할 것임</a:t>
            </a:r>
            <a:r>
              <a:rPr lang="en-US" altLang="ko-KR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:)</a:t>
            </a:r>
          </a:p>
          <a:p>
            <a:pPr marL="457200" indent="-457200">
              <a:defRPr/>
            </a:pPr>
            <a:endParaRPr lang="en-US" altLang="ko-KR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457200" indent="-457200">
              <a:defRPr/>
            </a:pP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3) Audio loop technique</a:t>
            </a:r>
          </a:p>
          <a:p>
            <a:pPr marL="457200" indent="-457200">
              <a:defRPr/>
            </a:pPr>
            <a:r>
              <a:rPr lang="ko-KR" altLang="en-US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강박사고를 정확하고 구체적으로 적어서 있는 그대로 녹음한다</a:t>
            </a:r>
            <a:r>
              <a:rPr lang="en-US" altLang="ko-KR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</a:p>
          <a:p>
            <a:pPr marL="457200" indent="-457200">
              <a:defRPr/>
            </a:pPr>
            <a:r>
              <a:rPr lang="ko-KR" altLang="en-US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녹음된 것을 매일 들으면서 가능한 괴로운 감정을 생생하게 경험한다</a:t>
            </a:r>
            <a:r>
              <a:rPr lang="en-US" altLang="ko-KR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67437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Q. 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저는 강박사고만 있는데요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…</a:t>
            </a:r>
            <a:endParaRPr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714375" y="1773238"/>
            <a:ext cx="7904163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“</a:t>
            </a:r>
            <a:r>
              <a:rPr lang="ko-KR" altLang="en-US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더 이상 반복적인 행동을 하지 않아도 </a:t>
            </a:r>
            <a:endParaRPr lang="en-US" altLang="ko-KR" sz="2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불안감은 저절로 감소한다</a:t>
            </a:r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  <a:r>
              <a:rPr lang="ko-KR" altLang="en-US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내가 생각하는 것 처럼</a:t>
            </a:r>
            <a:endParaRPr lang="en-US" altLang="ko-KR" sz="2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끔찍하고 불행한 일은 일어나지 않는다</a:t>
            </a:r>
            <a:r>
              <a:rPr lang="en-US" altLang="ko-KR" sz="24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.”</a:t>
            </a:r>
          </a:p>
          <a:p>
            <a:endParaRPr lang="en-US" altLang="ko-KR" sz="2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2400" i="1" u="sng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우리 스스로가 </a:t>
            </a:r>
            <a:r>
              <a:rPr lang="ko-KR" altLang="en-US" sz="2400" i="1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증상을 조절할 수 있는 힘을 가지고 있다</a:t>
            </a:r>
            <a:r>
              <a:rPr lang="en-US" altLang="ko-KR" sz="2400" i="1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!</a:t>
            </a:r>
          </a:p>
        </p:txBody>
      </p:sp>
      <p:sp>
        <p:nvSpPr>
          <p:cNvPr id="25604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326231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ERP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를 통해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…</a:t>
            </a:r>
            <a:endParaRPr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25605" name="Picture 2" descr="C:\Documents and Settings\Seojin\바탕 화면\신문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563" y="4216400"/>
            <a:ext cx="2135187" cy="153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3" descr="C:\Documents and Settings\Seojin\바탕 화면\손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9375" y="4287838"/>
            <a:ext cx="2076450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오른쪽 화살표 7"/>
          <p:cNvSpPr/>
          <p:nvPr/>
        </p:nvSpPr>
        <p:spPr>
          <a:xfrm>
            <a:off x="3103563" y="4859338"/>
            <a:ext cx="595312" cy="346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25608" name="직사각형 8"/>
          <p:cNvSpPr>
            <a:spLocks noChangeArrowheads="1"/>
          </p:cNvSpPr>
          <p:nvPr/>
        </p:nvSpPr>
        <p:spPr bwMode="auto">
          <a:xfrm>
            <a:off x="1389063" y="5859463"/>
            <a:ext cx="1643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E</a:t>
            </a:r>
            <a:r>
              <a:rPr lang="en-US" altLang="ko-KR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xposure</a:t>
            </a:r>
            <a:endParaRPr kumimoji="0" lang="ko-KR" altLang="en-US"/>
          </a:p>
        </p:txBody>
      </p:sp>
      <p:sp>
        <p:nvSpPr>
          <p:cNvPr id="25609" name="직사각형 9"/>
          <p:cNvSpPr>
            <a:spLocks noChangeArrowheads="1"/>
          </p:cNvSpPr>
          <p:nvPr/>
        </p:nvSpPr>
        <p:spPr bwMode="auto">
          <a:xfrm>
            <a:off x="4175125" y="5859463"/>
            <a:ext cx="1500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R</a:t>
            </a:r>
            <a:r>
              <a:rPr lang="en-US" altLang="ko-KR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esponse</a:t>
            </a:r>
            <a:endParaRPr kumimoji="0" lang="ko-KR" altLang="en-US"/>
          </a:p>
        </p:txBody>
      </p:sp>
      <p:sp>
        <p:nvSpPr>
          <p:cNvPr id="11" name="&quot;없음&quot; 기호 10"/>
          <p:cNvSpPr/>
          <p:nvPr/>
        </p:nvSpPr>
        <p:spPr>
          <a:xfrm>
            <a:off x="4318000" y="4430713"/>
            <a:ext cx="1092200" cy="1211262"/>
          </a:xfrm>
          <a:prstGeom prst="noSmoking">
            <a:avLst>
              <a:gd name="adj" fmla="val 14034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chemeClr val="tx1"/>
              </a:solidFill>
            </a:endParaRPr>
          </a:p>
        </p:txBody>
      </p:sp>
      <p:sp>
        <p:nvSpPr>
          <p:cNvPr id="12" name="오른쪽 화살표 11"/>
          <p:cNvSpPr/>
          <p:nvPr/>
        </p:nvSpPr>
        <p:spPr>
          <a:xfrm>
            <a:off x="6032500" y="4859338"/>
            <a:ext cx="595313" cy="346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25612" name="Picture 2" descr="C:\Documents and Settings\Seojin\바탕 화면\smile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8375" y="3644900"/>
            <a:ext cx="600075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13" name="Picture 3" descr="C:\Documents and Settings\Seojin\바탕 화면\신문보기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75438" y="4287838"/>
            <a:ext cx="1928812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4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363538" y="3438525"/>
            <a:ext cx="1009650" cy="287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628" name="Text Box 5"/>
          <p:cNvSpPr txBox="1">
            <a:spLocks noChangeArrowheads="1"/>
          </p:cNvSpPr>
          <p:nvPr/>
        </p:nvSpPr>
        <p:spPr bwMode="auto">
          <a:xfrm>
            <a:off x="857250" y="857250"/>
            <a:ext cx="40322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표적증상</a:t>
            </a:r>
            <a:r>
              <a:rPr lang="en-US" altLang="ko-KR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36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</a:rPr>
              <a:t>설정하기</a:t>
            </a:r>
            <a:endParaRPr lang="ko-KR" altLang="en-US" sz="2400">
              <a:solidFill>
                <a:srgbClr val="333333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6629" name="직사각형 6"/>
          <p:cNvSpPr>
            <a:spLocks noChangeArrowheads="1"/>
          </p:cNvSpPr>
          <p:nvPr/>
        </p:nvSpPr>
        <p:spPr bwMode="auto">
          <a:xfrm>
            <a:off x="857250" y="2000250"/>
            <a:ext cx="7504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강박증상 목록표 및 자기관찰기록지를 통해서 표적증상을 설정합니다</a:t>
            </a:r>
            <a:r>
              <a:rPr lang="en-US" altLang="ko-KR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</a:t>
            </a:r>
            <a:r>
              <a:rPr lang="ko-KR" altLang="en-US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endParaRPr lang="ko-KR" altLang="en-US"/>
          </a:p>
        </p:txBody>
      </p:sp>
      <p:graphicFrame>
        <p:nvGraphicFramePr>
          <p:cNvPr id="9" name="다이어그램 8"/>
          <p:cNvGraphicFramePr/>
          <p:nvPr/>
        </p:nvGraphicFramePr>
        <p:xfrm>
          <a:off x="1571604" y="242886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4"/>
          <p:cNvSpPr>
            <a:spLocks noChangeShapeType="1"/>
          </p:cNvSpPr>
          <p:nvPr/>
        </p:nvSpPr>
        <p:spPr bwMode="auto">
          <a:xfrm>
            <a:off x="395288" y="1484313"/>
            <a:ext cx="4248150" cy="0"/>
          </a:xfrm>
          <a:prstGeom prst="line">
            <a:avLst/>
          </a:prstGeom>
          <a:noFill/>
          <a:ln w="5715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363538" y="3438525"/>
            <a:ext cx="1009650" cy="287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 l="26719" t="18333" r="27343" b="40833"/>
          <a:stretch>
            <a:fillRect/>
          </a:stretch>
        </p:blipFill>
        <p:spPr bwMode="auto">
          <a:xfrm>
            <a:off x="1142976" y="714356"/>
            <a:ext cx="7000924" cy="35004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8131" name="Picture 3" descr="C:\Documents and Settings\Seojin\바탕 화면\뜸부기\기록표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3571876"/>
            <a:ext cx="7094709" cy="273368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Text Box 22"/>
          <p:cNvSpPr txBox="1">
            <a:spLocks noChangeArrowheads="1"/>
          </p:cNvSpPr>
          <p:nvPr/>
        </p:nvSpPr>
        <p:spPr bwMode="auto">
          <a:xfrm>
            <a:off x="1943100" y="981075"/>
            <a:ext cx="57245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ko-KR" altLang="en-US" i="1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노출과 반응방지의 단계적 계획을 구체적으로 적은 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1143000" y="428625"/>
            <a:ext cx="7313613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ERP</a:t>
            </a: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위한 지침</a:t>
            </a:r>
            <a:endParaRPr lang="en-US" altLang="ko-KR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 txBox="1">
            <a:spLocks noChangeArrowheads="1"/>
          </p:cNvSpPr>
          <p:nvPr/>
        </p:nvSpPr>
        <p:spPr bwMode="auto">
          <a:xfrm>
            <a:off x="1071563" y="1698625"/>
            <a:ext cx="7254875" cy="408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① 연습할 때마다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적어도 </a:t>
            </a:r>
            <a:r>
              <a:rPr kumimoji="0"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불편감이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반으로 감소할 때까지 계속 노출하며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고통이 반정도로 감소하기 전까지 노출을 중단하지 않는다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② 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매일 적어도 하루에 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1-2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시간 동안 계속 연습한다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오랫동안 노출할수록 효과가 더 좋다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③ 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노출연습을 표에 기록하고 주기적으로 고통수준을 점검한다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④ 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노출하는 동안 호흡법이나 긴장이완훈련을 통해 편안한 마음을 갖도록 노력한다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⑤ 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노출하는 동안 다음과 같은 말을 </a:t>
            </a:r>
            <a:r>
              <a:rPr kumimoji="0"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되뇌인다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‘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불안이 영원히 지속되는 것은 아니다</a:t>
            </a: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내가 이 상황에 계속 머물러 있으면 불안은 사라지게 될 것이다’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7175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8196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0" name="직선 연결선 49"/>
          <p:cNvCxnSpPr/>
          <p:nvPr/>
        </p:nvCxnSpPr>
        <p:spPr>
          <a:xfrm>
            <a:off x="428625" y="638175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428625" y="785813"/>
            <a:ext cx="3000375" cy="454025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오염에 대한 노출 훈련의 예</a:t>
            </a:r>
            <a:endParaRPr lang="en-US" altLang="ko-KR" sz="17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28625" y="1878013"/>
            <a:ext cx="2286000" cy="86995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en-GB" sz="1600" b="1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단계</a:t>
            </a:r>
            <a:endParaRPr lang="en-GB" sz="16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8" name="AutoShape 4"/>
          <p:cNvSpPr>
            <a:spLocks noChangeArrowheads="1"/>
          </p:cNvSpPr>
          <p:nvPr/>
        </p:nvSpPr>
        <p:spPr bwMode="auto">
          <a:xfrm rot="5400000">
            <a:off x="2680494" y="2196306"/>
            <a:ext cx="827088" cy="212725"/>
          </a:xfrm>
          <a:prstGeom prst="triangle">
            <a:avLst>
              <a:gd name="adj" fmla="val 50000"/>
            </a:avLst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8201" name="Line 5"/>
          <p:cNvSpPr>
            <a:spLocks noChangeShapeType="1"/>
          </p:cNvSpPr>
          <p:nvPr/>
        </p:nvSpPr>
        <p:spPr bwMode="auto">
          <a:xfrm>
            <a:off x="5514975" y="237648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3463925" y="1889125"/>
            <a:ext cx="2286000" cy="860425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en-GB" sz="1600" b="1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단계</a:t>
            </a:r>
            <a:endParaRPr lang="en-GB" sz="16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6537325" y="1889125"/>
            <a:ext cx="2286000" cy="860425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en-GB" sz="1600" b="1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단계</a:t>
            </a:r>
            <a:endParaRPr lang="en-GB" sz="16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2" name="AutoShape 8"/>
          <p:cNvSpPr>
            <a:spLocks noChangeArrowheads="1"/>
          </p:cNvSpPr>
          <p:nvPr/>
        </p:nvSpPr>
        <p:spPr bwMode="auto">
          <a:xfrm rot="5400000">
            <a:off x="5740400" y="2246313"/>
            <a:ext cx="827088" cy="214312"/>
          </a:xfrm>
          <a:prstGeom prst="triangle">
            <a:avLst>
              <a:gd name="adj" fmla="val 50000"/>
            </a:avLst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6542088" y="3103563"/>
            <a:ext cx="2286000" cy="229552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just">
              <a:lnSpc>
                <a:spcPct val="110000"/>
              </a:lnSpc>
              <a:defRPr/>
            </a:pPr>
            <a:r>
              <a:rPr lang="ko-KR" altLang="en-US" sz="1400" b="1" dirty="0">
                <a:latin typeface="+mn-ea"/>
                <a:ea typeface="+mn-ea"/>
              </a:rPr>
              <a:t>이미 오염된 대상으로 집안의 모든 물건과 소지품 등을 오염시킨다</a:t>
            </a:r>
            <a:r>
              <a:rPr lang="en-US" altLang="ko-KR" sz="1400" b="1" dirty="0">
                <a:latin typeface="+mn-ea"/>
                <a:ea typeface="+mn-ea"/>
              </a:rPr>
              <a:t>.</a:t>
            </a:r>
          </a:p>
          <a:p>
            <a:pPr marL="12700" indent="-12700" algn="just">
              <a:lnSpc>
                <a:spcPct val="110000"/>
              </a:lnSpc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marL="12700" indent="-12700" algn="just">
              <a:lnSpc>
                <a:spcPct val="110000"/>
              </a:lnSpc>
              <a:defRPr/>
            </a:pPr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ko-KR" altLang="en-US" sz="1400" b="1" dirty="0">
                <a:latin typeface="+mn-ea"/>
                <a:ea typeface="+mn-ea"/>
              </a:rPr>
              <a:t>환경을 전체적으로 오염시킬수록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그리고 그것에 접촉하는 시간이 길어지도록 한다</a:t>
            </a:r>
            <a:r>
              <a:rPr lang="en-US" altLang="ko-KR" sz="1400" b="1" dirty="0">
                <a:latin typeface="+mn-ea"/>
                <a:ea typeface="+mn-ea"/>
              </a:rPr>
              <a:t>.</a:t>
            </a:r>
          </a:p>
          <a:p>
            <a:pPr marL="12700" indent="-12700" algn="just">
              <a:lnSpc>
                <a:spcPct val="110000"/>
              </a:lnSpc>
              <a:defRPr/>
            </a:pPr>
            <a:endParaRPr lang="en-US" sz="1400" b="1" dirty="0">
              <a:latin typeface="+mn-ea"/>
              <a:ea typeface="+mn-ea"/>
            </a:endParaRP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3490913" y="3103563"/>
            <a:ext cx="2286000" cy="229552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just">
              <a:lnSpc>
                <a:spcPct val="110000"/>
              </a:lnSpc>
              <a:defRPr/>
            </a:pPr>
            <a:r>
              <a:rPr lang="ko-KR" altLang="en-US" sz="1400" b="1" dirty="0">
                <a:latin typeface="+mn-ea"/>
                <a:ea typeface="+mn-ea"/>
              </a:rPr>
              <a:t>손으로 나의 다리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몸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팔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머리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얼굴 등을 오염시킨다</a:t>
            </a:r>
            <a:r>
              <a:rPr lang="en-US" altLang="ko-KR" sz="1400" b="1" dirty="0">
                <a:latin typeface="+mn-ea"/>
                <a:ea typeface="+mn-ea"/>
              </a:rPr>
              <a:t>. </a:t>
            </a:r>
          </a:p>
          <a:p>
            <a:pPr marL="12700" indent="-12700" algn="just">
              <a:lnSpc>
                <a:spcPct val="110000"/>
              </a:lnSpc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marL="12700" indent="-12700" algn="just">
              <a:lnSpc>
                <a:spcPct val="110000"/>
              </a:lnSpc>
              <a:defRPr/>
            </a:pPr>
            <a:r>
              <a:rPr lang="ko-KR" altLang="en-US" sz="1400" b="1" dirty="0">
                <a:latin typeface="+mn-ea"/>
                <a:ea typeface="+mn-ea"/>
              </a:rPr>
              <a:t>첫 시도에서 유의미하게 </a:t>
            </a:r>
            <a:r>
              <a:rPr lang="ko-KR" altLang="en-US" sz="1400" b="1" dirty="0" err="1">
                <a:latin typeface="+mn-ea"/>
                <a:ea typeface="+mn-ea"/>
              </a:rPr>
              <a:t>불편감이</a:t>
            </a:r>
            <a:r>
              <a:rPr lang="ko-KR" altLang="en-US" sz="1400" b="1" dirty="0">
                <a:latin typeface="+mn-ea"/>
                <a:ea typeface="+mn-ea"/>
              </a:rPr>
              <a:t> 감소하지 않는다면 매 회기마다 </a:t>
            </a:r>
            <a:r>
              <a:rPr lang="en-US" altLang="ko-KR" sz="1400" b="1" dirty="0">
                <a:latin typeface="+mn-ea"/>
                <a:ea typeface="+mn-ea"/>
              </a:rPr>
              <a:t>1</a:t>
            </a:r>
            <a:r>
              <a:rPr lang="ko-KR" altLang="en-US" sz="1400" b="1" dirty="0">
                <a:latin typeface="+mn-ea"/>
                <a:ea typeface="+mn-ea"/>
              </a:rPr>
              <a:t>단계부터 반복하여 실시한다</a:t>
            </a:r>
            <a:r>
              <a:rPr lang="en-US" altLang="ko-KR" sz="1400" b="1" dirty="0">
                <a:latin typeface="+mn-ea"/>
                <a:ea typeface="+mn-ea"/>
              </a:rPr>
              <a:t>.</a:t>
            </a:r>
          </a:p>
          <a:p>
            <a:pPr marL="12700" indent="-12700" algn="just">
              <a:lnSpc>
                <a:spcPct val="110000"/>
              </a:lnSpc>
              <a:defRPr/>
            </a:pPr>
            <a:endParaRPr lang="en-US" sz="1400" b="1" dirty="0">
              <a:latin typeface="+mn-ea"/>
              <a:ea typeface="+mn-ea"/>
            </a:endParaRPr>
          </a:p>
        </p:txBody>
      </p: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430213" y="3103563"/>
            <a:ext cx="2286000" cy="2341562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just">
              <a:lnSpc>
                <a:spcPct val="110000"/>
              </a:lnSpc>
              <a:defRPr/>
            </a:pPr>
            <a:r>
              <a:rPr lang="ko-KR" altLang="en-US" sz="1400" b="1" dirty="0">
                <a:latin typeface="+mn-ea"/>
                <a:ea typeface="+mn-ea"/>
              </a:rPr>
              <a:t>내가 두려워하는 대상으로 손을 오염시킨다</a:t>
            </a:r>
            <a:r>
              <a:rPr lang="en-US" altLang="ko-KR" sz="1400" b="1" dirty="0">
                <a:latin typeface="+mn-ea"/>
                <a:ea typeface="+mn-ea"/>
              </a:rPr>
              <a:t>. </a:t>
            </a:r>
          </a:p>
          <a:p>
            <a:pPr marL="12700" indent="-12700" algn="just">
              <a:lnSpc>
                <a:spcPct val="110000"/>
              </a:lnSpc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marL="12700" indent="-12700" algn="just">
              <a:lnSpc>
                <a:spcPct val="110000"/>
              </a:lnSpc>
              <a:defRPr/>
            </a:pPr>
            <a:r>
              <a:rPr lang="ko-KR" altLang="en-US" sz="1400" b="1" dirty="0" err="1">
                <a:latin typeface="+mn-ea"/>
                <a:ea typeface="+mn-ea"/>
              </a:rPr>
              <a:t>불편감이</a:t>
            </a:r>
            <a:r>
              <a:rPr lang="ko-KR" altLang="en-US" sz="1400" b="1" dirty="0">
                <a:latin typeface="+mn-ea"/>
                <a:ea typeface="+mn-ea"/>
              </a:rPr>
              <a:t> 절반으로 </a:t>
            </a:r>
            <a:r>
              <a:rPr lang="ko-KR" altLang="en-US" sz="1400" b="1" dirty="0" err="1">
                <a:latin typeface="+mn-ea"/>
                <a:ea typeface="+mn-ea"/>
              </a:rPr>
              <a:t>감소될때까지</a:t>
            </a:r>
            <a:r>
              <a:rPr lang="ko-KR" altLang="en-US" sz="1400" b="1" dirty="0">
                <a:latin typeface="+mn-ea"/>
                <a:ea typeface="+mn-ea"/>
              </a:rPr>
              <a:t> 지속한다</a:t>
            </a:r>
            <a:r>
              <a:rPr lang="en-US" altLang="ko-KR" sz="1400" b="1" dirty="0">
                <a:latin typeface="+mn-ea"/>
                <a:ea typeface="+mn-ea"/>
              </a:rPr>
              <a:t>.</a:t>
            </a:r>
            <a:endParaRPr lang="en-US" sz="14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9220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0" name="직선 연결선 49"/>
          <p:cNvCxnSpPr/>
          <p:nvPr/>
        </p:nvCxnSpPr>
        <p:spPr>
          <a:xfrm>
            <a:off x="428625" y="638175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28625" y="1878013"/>
            <a:ext cx="1643063" cy="86995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en-GB" sz="1600" b="1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단계</a:t>
            </a:r>
            <a:endParaRPr lang="en-US" altLang="ko-KR" sz="1600" b="1" dirty="0">
              <a:solidFill>
                <a:srgbClr val="FFFFFF"/>
              </a:solidFill>
              <a:latin typeface="+mn-ea"/>
              <a:ea typeface="+mn-ea"/>
            </a:endParaRPr>
          </a:p>
          <a:p>
            <a:pPr algn="ctr">
              <a:defRPr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Relabel</a:t>
            </a:r>
            <a:endParaRPr lang="en-GB" sz="1600" b="1" dirty="0">
              <a:solidFill>
                <a:srgbClr val="FFFFFF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AutoShape 4"/>
          <p:cNvSpPr>
            <a:spLocks noChangeArrowheads="1"/>
          </p:cNvSpPr>
          <p:nvPr/>
        </p:nvSpPr>
        <p:spPr bwMode="auto">
          <a:xfrm rot="5400000">
            <a:off x="1907382" y="2235994"/>
            <a:ext cx="827087" cy="212725"/>
          </a:xfrm>
          <a:prstGeom prst="triangle">
            <a:avLst>
              <a:gd name="adj" fmla="val 50000"/>
            </a:avLst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22" name="AutoShape 8"/>
          <p:cNvSpPr>
            <a:spLocks noChangeArrowheads="1"/>
          </p:cNvSpPr>
          <p:nvPr/>
        </p:nvSpPr>
        <p:spPr bwMode="auto">
          <a:xfrm rot="5400000">
            <a:off x="5740400" y="2246313"/>
            <a:ext cx="827088" cy="214312"/>
          </a:xfrm>
          <a:prstGeom prst="triangle">
            <a:avLst>
              <a:gd name="adj" fmla="val 50000"/>
            </a:avLst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430213" y="2928938"/>
            <a:ext cx="1641475" cy="2825750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 algn="just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ko-KR" altLang="en-US" sz="1400" b="1" dirty="0">
                <a:latin typeface="+mn-ea"/>
                <a:ea typeface="+mn-ea"/>
              </a:rPr>
              <a:t> 불안감을 일으키는 침투적인 생각들이 무엇인지 적어본다</a:t>
            </a:r>
            <a:r>
              <a:rPr lang="en-US" altLang="ko-KR" sz="1400" b="1" dirty="0">
                <a:latin typeface="+mn-ea"/>
                <a:ea typeface="+mn-ea"/>
              </a:rPr>
              <a:t>.</a:t>
            </a:r>
          </a:p>
          <a:p>
            <a:pPr marL="12700" indent="-12700" algn="just">
              <a:lnSpc>
                <a:spcPct val="110000"/>
              </a:lnSpc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marL="12700" indent="-12700" algn="just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ko-KR" altLang="en-US" sz="1400" b="1" dirty="0">
                <a:latin typeface="+mn-ea"/>
                <a:ea typeface="+mn-ea"/>
              </a:rPr>
              <a:t> 불안감을 줄이기 위한 어떤 행동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생각을 했는지 적어본다</a:t>
            </a:r>
            <a:r>
              <a:rPr lang="en-US" altLang="ko-KR" sz="1400" b="1" dirty="0">
                <a:latin typeface="+mn-ea"/>
                <a:ea typeface="+mn-ea"/>
              </a:rPr>
              <a:t>.</a:t>
            </a:r>
            <a:endParaRPr lang="en-US" sz="1400" b="1" dirty="0">
              <a:latin typeface="+mn-ea"/>
              <a:ea typeface="+mn-ea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428625" y="785813"/>
            <a:ext cx="3071813" cy="454025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강박사고에 대한 노출 훈련</a:t>
            </a:r>
            <a:endParaRPr lang="en-US" altLang="ko-KR" sz="17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571750" y="1882775"/>
            <a:ext cx="1643063" cy="86995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en-GB" altLang="ko-KR" sz="1600" b="1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단계</a:t>
            </a:r>
            <a:endParaRPr lang="en-US" altLang="ko-KR" sz="1600" b="1" dirty="0">
              <a:solidFill>
                <a:srgbClr val="FFFFFF"/>
              </a:solidFill>
              <a:latin typeface="+mn-ea"/>
              <a:ea typeface="+mn-ea"/>
            </a:endParaRPr>
          </a:p>
          <a:p>
            <a:pPr algn="ctr">
              <a:defRPr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Reattribute</a:t>
            </a:r>
            <a:endParaRPr lang="en-GB" sz="1600" b="1" dirty="0">
              <a:solidFill>
                <a:srgbClr val="FFFFFF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AutoShape 4"/>
          <p:cNvSpPr>
            <a:spLocks noChangeArrowheads="1"/>
          </p:cNvSpPr>
          <p:nvPr/>
        </p:nvSpPr>
        <p:spPr bwMode="auto">
          <a:xfrm rot="5400000">
            <a:off x="4123532" y="2240756"/>
            <a:ext cx="827088" cy="212725"/>
          </a:xfrm>
          <a:prstGeom prst="triangle">
            <a:avLst>
              <a:gd name="adj" fmla="val 50000"/>
            </a:avLst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2571750" y="2941638"/>
            <a:ext cx="1643063" cy="2749550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ko-KR" altLang="en-US" sz="1400" b="1" dirty="0">
                <a:latin typeface="+mn-ea"/>
                <a:ea typeface="+mn-ea"/>
              </a:rPr>
              <a:t> 스스로 이렇게 말해보자</a:t>
            </a:r>
            <a:r>
              <a:rPr lang="en-US" altLang="ko-KR" sz="1400" b="1" dirty="0">
                <a:latin typeface="+mn-ea"/>
                <a:ea typeface="+mn-ea"/>
              </a:rPr>
              <a:t>! </a:t>
            </a:r>
          </a:p>
          <a:p>
            <a:pPr marL="12700" indent="-12700">
              <a:lnSpc>
                <a:spcPct val="110000"/>
              </a:lnSpc>
              <a:defRPr/>
            </a:pPr>
            <a:r>
              <a:rPr lang="en-US" altLang="ko-KR" sz="1400" b="1" dirty="0">
                <a:latin typeface="+mn-ea"/>
                <a:ea typeface="+mn-ea"/>
              </a:rPr>
              <a:t>“</a:t>
            </a:r>
            <a:r>
              <a:rPr lang="ko-KR" altLang="en-US" sz="1400" b="1" dirty="0">
                <a:latin typeface="+mn-ea"/>
                <a:ea typeface="+mn-ea"/>
              </a:rPr>
              <a:t>이것은 내가 의도한 생각이 아니다</a:t>
            </a:r>
            <a:r>
              <a:rPr lang="en-US" altLang="ko-KR" sz="1400" b="1" dirty="0">
                <a:latin typeface="+mn-ea"/>
                <a:ea typeface="+mn-ea"/>
              </a:rPr>
              <a:t>.  </a:t>
            </a:r>
            <a:r>
              <a:rPr lang="ko-KR" altLang="en-US" sz="1400" b="1" dirty="0">
                <a:latin typeface="+mn-ea"/>
                <a:ea typeface="+mn-ea"/>
              </a:rPr>
              <a:t>이것은 </a:t>
            </a:r>
            <a:r>
              <a:rPr lang="ko-KR" altLang="en-US" sz="1400" b="1" dirty="0" err="1">
                <a:latin typeface="+mn-ea"/>
                <a:ea typeface="+mn-ea"/>
              </a:rPr>
              <a:t>강박증</a:t>
            </a:r>
            <a:r>
              <a:rPr lang="ko-KR" altLang="en-US" sz="1400" b="1" dirty="0">
                <a:latin typeface="+mn-ea"/>
                <a:ea typeface="+mn-ea"/>
              </a:rPr>
              <a:t> 뇌가 또 잘못 보낸 메시지일 뿐</a:t>
            </a:r>
            <a:r>
              <a:rPr lang="en-US" altLang="ko-KR" sz="1400" b="1" dirty="0">
                <a:latin typeface="+mn-ea"/>
                <a:ea typeface="+mn-ea"/>
              </a:rPr>
              <a:t>!”</a:t>
            </a:r>
          </a:p>
          <a:p>
            <a:pPr marL="12700" indent="-12700">
              <a:lnSpc>
                <a:spcPct val="110000"/>
              </a:lnSpc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marL="12700" indent="-12700" algn="just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ko-KR" altLang="en-US" sz="1400" b="1" dirty="0">
                <a:latin typeface="+mn-ea"/>
                <a:ea typeface="+mn-ea"/>
              </a:rPr>
              <a:t> 현실적으로 이런 생각이 일어날 가능성 평가하기 </a:t>
            </a:r>
            <a:r>
              <a:rPr lang="en-US" altLang="ko-KR" sz="1400" b="1" dirty="0">
                <a:latin typeface="+mn-ea"/>
                <a:ea typeface="+mn-ea"/>
              </a:rPr>
              <a:t> </a:t>
            </a:r>
            <a:endParaRPr lang="en-US" sz="1400" b="1" dirty="0">
              <a:latin typeface="+mn-ea"/>
              <a:ea typeface="+mn-ea"/>
            </a:endParaRPr>
          </a:p>
        </p:txBody>
      </p:sp>
      <p:sp>
        <p:nvSpPr>
          <p:cNvPr id="34" name="Rectangle 3"/>
          <p:cNvSpPr>
            <a:spLocks noChangeArrowheads="1"/>
          </p:cNvSpPr>
          <p:nvPr/>
        </p:nvSpPr>
        <p:spPr bwMode="auto">
          <a:xfrm>
            <a:off x="4786313" y="1892300"/>
            <a:ext cx="1643062" cy="86995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en-GB" altLang="ko-KR" sz="1600" b="1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단계</a:t>
            </a:r>
            <a:endParaRPr lang="en-US" altLang="ko-KR" sz="1600" b="1" dirty="0">
              <a:solidFill>
                <a:srgbClr val="FFFFFF"/>
              </a:solidFill>
              <a:latin typeface="+mn-ea"/>
              <a:ea typeface="+mn-ea"/>
            </a:endParaRPr>
          </a:p>
          <a:p>
            <a:pPr algn="ctr">
              <a:defRPr/>
            </a:pPr>
            <a:r>
              <a:rPr lang="en-GB" sz="16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Refocus</a:t>
            </a:r>
          </a:p>
        </p:txBody>
      </p:sp>
      <p:sp>
        <p:nvSpPr>
          <p:cNvPr id="35" name="AutoShape 4"/>
          <p:cNvSpPr>
            <a:spLocks noChangeArrowheads="1"/>
          </p:cNvSpPr>
          <p:nvPr/>
        </p:nvSpPr>
        <p:spPr bwMode="auto">
          <a:xfrm rot="5400000">
            <a:off x="6336507" y="2250281"/>
            <a:ext cx="827088" cy="212725"/>
          </a:xfrm>
          <a:prstGeom prst="triangle">
            <a:avLst>
              <a:gd name="adj" fmla="val 50000"/>
            </a:avLst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4786313" y="2974975"/>
            <a:ext cx="1643062" cy="271462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ko-KR" altLang="en-US" sz="1400" b="1" dirty="0">
                <a:latin typeface="+mn-ea"/>
                <a:ea typeface="+mn-ea"/>
              </a:rPr>
              <a:t> 포용인식 </a:t>
            </a:r>
            <a:endParaRPr lang="en-US" altLang="ko-KR" sz="1400" b="1" dirty="0">
              <a:latin typeface="+mn-ea"/>
              <a:ea typeface="+mn-ea"/>
            </a:endParaRPr>
          </a:p>
          <a:p>
            <a:pPr marL="12700" indent="-12700">
              <a:lnSpc>
                <a:spcPct val="110000"/>
              </a:lnSpc>
              <a:defRPr/>
            </a:pPr>
            <a:r>
              <a:rPr lang="ko-KR" altLang="en-US" sz="1400" b="1" dirty="0">
                <a:latin typeface="+mn-ea"/>
                <a:ea typeface="+mn-ea"/>
              </a:rPr>
              <a:t>강박사고가 존재한다는 것을</a:t>
            </a:r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ko-KR" altLang="en-US" sz="1400" b="1" dirty="0">
                <a:latin typeface="+mn-ea"/>
                <a:ea typeface="+mn-ea"/>
              </a:rPr>
              <a:t>수용하고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평가나 </a:t>
            </a:r>
            <a:r>
              <a:rPr lang="ko-KR" altLang="en-US" sz="1400" b="1" dirty="0" err="1">
                <a:latin typeface="+mn-ea"/>
                <a:ea typeface="+mn-ea"/>
              </a:rPr>
              <a:t>판단없이</a:t>
            </a:r>
            <a:r>
              <a:rPr lang="ko-KR" altLang="en-US" sz="1400" b="1" dirty="0">
                <a:latin typeface="+mn-ea"/>
                <a:ea typeface="+mn-ea"/>
              </a:rPr>
              <a:t> 내버려둔다</a:t>
            </a:r>
            <a:r>
              <a:rPr lang="en-US" altLang="ko-KR" sz="1400" b="1" dirty="0">
                <a:latin typeface="+mn-ea"/>
                <a:ea typeface="+mn-ea"/>
              </a:rPr>
              <a:t>. </a:t>
            </a:r>
          </a:p>
          <a:p>
            <a:pPr marL="12700" indent="-12700">
              <a:lnSpc>
                <a:spcPct val="110000"/>
              </a:lnSpc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marL="12700" indent="-12700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ko-KR" altLang="en-US" sz="1400" b="1" dirty="0">
                <a:latin typeface="+mn-ea"/>
                <a:ea typeface="+mn-ea"/>
              </a:rPr>
              <a:t>공정한 관객</a:t>
            </a:r>
            <a:endParaRPr lang="en-US" altLang="ko-KR" sz="1400" b="1" dirty="0">
              <a:latin typeface="+mn-ea"/>
              <a:ea typeface="+mn-ea"/>
            </a:endParaRPr>
          </a:p>
          <a:p>
            <a:pPr marL="12700" indent="-12700">
              <a:lnSpc>
                <a:spcPct val="110000"/>
              </a:lnSpc>
              <a:defRPr/>
            </a:pPr>
            <a:r>
              <a:rPr lang="en-US" altLang="ko-KR" sz="1400" b="1" dirty="0">
                <a:latin typeface="+mn-ea"/>
                <a:ea typeface="+mn-ea"/>
              </a:rPr>
              <a:t>“</a:t>
            </a:r>
            <a:r>
              <a:rPr lang="ko-KR" altLang="en-US" sz="1400" b="1" dirty="0">
                <a:latin typeface="+mn-ea"/>
                <a:ea typeface="+mn-ea"/>
              </a:rPr>
              <a:t>왜 내가 이런 일을 하고 있지</a:t>
            </a:r>
            <a:r>
              <a:rPr lang="en-US" altLang="ko-KR" sz="1400" b="1" dirty="0">
                <a:latin typeface="+mn-ea"/>
                <a:ea typeface="+mn-ea"/>
              </a:rPr>
              <a:t>?”</a:t>
            </a:r>
          </a:p>
          <a:p>
            <a:pPr marL="12700" indent="-12700">
              <a:lnSpc>
                <a:spcPct val="110000"/>
              </a:lnSpc>
              <a:defRPr/>
            </a:pPr>
            <a:r>
              <a:rPr lang="ko-KR" altLang="en-US" sz="1400" b="1" dirty="0">
                <a:latin typeface="+mn-ea"/>
                <a:ea typeface="+mn-ea"/>
              </a:rPr>
              <a:t>객관적으로 관찰하는 능력 향상됨</a:t>
            </a:r>
            <a:endParaRPr lang="en-US" sz="1400" b="1" dirty="0">
              <a:latin typeface="+mn-ea"/>
              <a:ea typeface="+mn-ea"/>
            </a:endParaRPr>
          </a:p>
        </p:txBody>
      </p: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7072313" y="1895475"/>
            <a:ext cx="1500187" cy="86995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en-GB" altLang="ko-KR" sz="1600" b="1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단계</a:t>
            </a:r>
            <a:endParaRPr lang="en-US" altLang="ko-KR" sz="1600" b="1" dirty="0">
              <a:solidFill>
                <a:srgbClr val="FFFFFF"/>
              </a:solidFill>
              <a:latin typeface="+mn-ea"/>
              <a:ea typeface="+mn-ea"/>
            </a:endParaRPr>
          </a:p>
          <a:p>
            <a:pPr algn="ctr">
              <a:defRPr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Revalue</a:t>
            </a:r>
            <a:endParaRPr lang="en-GB" sz="1600" b="1" dirty="0">
              <a:solidFill>
                <a:srgbClr val="FFFFFF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8" name="Rectangle 11"/>
          <p:cNvSpPr>
            <a:spLocks noChangeArrowheads="1"/>
          </p:cNvSpPr>
          <p:nvPr/>
        </p:nvSpPr>
        <p:spPr bwMode="auto">
          <a:xfrm>
            <a:off x="7085013" y="2992438"/>
            <a:ext cx="1498600" cy="2722562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ko-KR" altLang="en-US" sz="1400" b="1" dirty="0">
                <a:latin typeface="+mn-ea"/>
                <a:ea typeface="+mn-ea"/>
              </a:rPr>
              <a:t> 강박사고 상상노출연습을 통해 사고의 존재에 대해 </a:t>
            </a:r>
            <a:r>
              <a:rPr lang="en-US" altLang="ko-KR" sz="1400" b="1" dirty="0">
                <a:latin typeface="+mn-ea"/>
                <a:ea typeface="+mn-ea"/>
              </a:rPr>
              <a:t>“</a:t>
            </a:r>
            <a:r>
              <a:rPr lang="ko-KR" altLang="en-US" sz="1400" b="1" dirty="0">
                <a:latin typeface="+mn-ea"/>
                <a:ea typeface="+mn-ea"/>
              </a:rPr>
              <a:t>습관화</a:t>
            </a:r>
            <a:r>
              <a:rPr lang="en-US" altLang="ko-KR" sz="1400" b="1" dirty="0">
                <a:latin typeface="+mn-ea"/>
                <a:ea typeface="+mn-ea"/>
              </a:rPr>
              <a:t>”</a:t>
            </a:r>
            <a:r>
              <a:rPr lang="ko-KR" altLang="en-US" sz="1400" b="1" dirty="0">
                <a:latin typeface="+mn-ea"/>
                <a:ea typeface="+mn-ea"/>
              </a:rPr>
              <a:t>를 시킨다</a:t>
            </a:r>
            <a:r>
              <a:rPr lang="en-US" altLang="ko-KR" sz="1400" b="1" dirty="0">
                <a:latin typeface="+mn-ea"/>
                <a:ea typeface="+mn-ea"/>
              </a:rPr>
              <a:t>. </a:t>
            </a:r>
          </a:p>
          <a:p>
            <a:pPr marL="12700" indent="-12700">
              <a:lnSpc>
                <a:spcPct val="110000"/>
              </a:lnSpc>
              <a:buFont typeface="Wingdings" pitchFamily="2" charset="2"/>
              <a:buChar char="§"/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marL="12700" indent="-12700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ko-KR" altLang="en-US" sz="1400" b="1" dirty="0">
                <a:latin typeface="+mn-ea"/>
                <a:ea typeface="+mn-ea"/>
              </a:rPr>
              <a:t>글쓰기 노출</a:t>
            </a:r>
            <a:endParaRPr lang="en-US" altLang="ko-KR" sz="1400" b="1" dirty="0">
              <a:latin typeface="+mn-ea"/>
              <a:ea typeface="+mn-ea"/>
            </a:endParaRPr>
          </a:p>
          <a:p>
            <a:pPr marL="12700" indent="-12700">
              <a:lnSpc>
                <a:spcPct val="110000"/>
              </a:lnSpc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marL="12700" indent="-12700">
              <a:lnSpc>
                <a:spcPct val="110000"/>
              </a:lnSpc>
              <a:buFont typeface="Wingdings" pitchFamily="2" charset="2"/>
              <a:buChar char="§"/>
              <a:defRPr/>
            </a:pPr>
            <a:r>
              <a:rPr lang="en-US" altLang="ko-KR" sz="1400" b="1" dirty="0">
                <a:latin typeface="+mn-ea"/>
                <a:ea typeface="+mn-ea"/>
              </a:rPr>
              <a:t> </a:t>
            </a:r>
            <a:r>
              <a:rPr lang="ko-KR" altLang="en-US" sz="1400" b="1" dirty="0">
                <a:latin typeface="+mn-ea"/>
                <a:ea typeface="+mn-ea"/>
              </a:rPr>
              <a:t>오디오 노출</a:t>
            </a:r>
            <a:endParaRPr lang="en-US" altLang="ko-KR" sz="1400" b="1" dirty="0">
              <a:latin typeface="+mn-ea"/>
              <a:ea typeface="+mn-ea"/>
            </a:endParaRPr>
          </a:p>
          <a:p>
            <a:pPr marL="12700" indent="-12700">
              <a:lnSpc>
                <a:spcPct val="110000"/>
              </a:lnSpc>
              <a:defRPr/>
            </a:pPr>
            <a:endParaRPr lang="en-US" sz="14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10244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6" name="직선 연결선 35"/>
          <p:cNvCxnSpPr/>
          <p:nvPr/>
        </p:nvCxnSpPr>
        <p:spPr>
          <a:xfrm>
            <a:off x="428625" y="638175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428625" y="785813"/>
            <a:ext cx="2286000" cy="454025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ko-KR" altLang="en-US" sz="1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상상 노출 훈련 방법 </a:t>
            </a:r>
            <a:endParaRPr lang="en-US" altLang="ko-KR" sz="17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Oval 3"/>
          <p:cNvSpPr>
            <a:spLocks noChangeArrowheads="1"/>
          </p:cNvSpPr>
          <p:nvPr/>
        </p:nvSpPr>
        <p:spPr bwMode="auto">
          <a:xfrm>
            <a:off x="3665538" y="2763838"/>
            <a:ext cx="1781175" cy="1781175"/>
          </a:xfrm>
          <a:prstGeom prst="ellipse">
            <a:avLst/>
          </a:prstGeom>
          <a:solidFill>
            <a:srgbClr val="091D5D"/>
          </a:solidFill>
          <a:ln w="6350" algn="ctr">
            <a:noFill/>
            <a:round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ko-KR" altLang="en-US" sz="1400" b="1">
                <a:solidFill>
                  <a:srgbClr val="FFFFFF"/>
                </a:solidFill>
                <a:latin typeface="+mn-ea"/>
                <a:ea typeface="+mn-ea"/>
              </a:rPr>
              <a:t>생각 습관화 연습</a:t>
            </a:r>
            <a:endParaRPr lang="nl-NL" altLang="zh-CN" sz="14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4" name="AutoShape 4"/>
          <p:cNvSpPr>
            <a:spLocks noChangeArrowheads="1"/>
          </p:cNvSpPr>
          <p:nvPr/>
        </p:nvSpPr>
        <p:spPr bwMode="auto">
          <a:xfrm>
            <a:off x="288925" y="2460625"/>
            <a:ext cx="3597275" cy="2360613"/>
          </a:xfrm>
          <a:prstGeom prst="homePlate">
            <a:avLst>
              <a:gd name="adj" fmla="val 12325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marL="342900" indent="-342900" algn="just">
              <a:buFontTx/>
              <a:buAutoNum type="arabicPeriod"/>
              <a:defRPr/>
            </a:pPr>
            <a:r>
              <a:rPr lang="ko-KR" altLang="en-US" sz="1400" dirty="0">
                <a:latin typeface="+mn-ea"/>
                <a:ea typeface="+mn-ea"/>
              </a:rPr>
              <a:t>왼쪽에는 자신의 생각을 적고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</a:p>
          <a:p>
            <a:pPr marL="342900" indent="-342900" algn="just">
              <a:defRPr/>
            </a:pPr>
            <a:r>
              <a:rPr lang="ko-KR" altLang="en-US" sz="1400" dirty="0">
                <a:latin typeface="+mn-ea"/>
                <a:ea typeface="+mn-ea"/>
              </a:rPr>
              <a:t>오른쪽에는 </a:t>
            </a:r>
            <a:r>
              <a:rPr lang="ko-KR" altLang="en-US" sz="1400" dirty="0" err="1">
                <a:latin typeface="+mn-ea"/>
                <a:ea typeface="+mn-ea"/>
              </a:rPr>
              <a:t>불편감의</a:t>
            </a:r>
            <a:r>
              <a:rPr lang="ko-KR" altLang="en-US" sz="1400" dirty="0">
                <a:latin typeface="+mn-ea"/>
                <a:ea typeface="+mn-ea"/>
              </a:rPr>
              <a:t> 수준을 적는다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algn="just">
              <a:defRPr/>
            </a:pPr>
            <a:r>
              <a:rPr lang="en-US" altLang="ko-KR" sz="1400" dirty="0">
                <a:latin typeface="+mn-ea"/>
                <a:ea typeface="+mn-ea"/>
              </a:rPr>
              <a:t>2. </a:t>
            </a:r>
            <a:r>
              <a:rPr lang="ko-KR" altLang="en-US" sz="1400" dirty="0">
                <a:latin typeface="+mn-ea"/>
                <a:ea typeface="+mn-ea"/>
              </a:rPr>
              <a:t>생각으로 인한 불안을 줄이려는 행동을</a:t>
            </a:r>
            <a:endParaRPr lang="en-US" altLang="ko-KR" sz="1400" dirty="0">
              <a:latin typeface="+mn-ea"/>
              <a:ea typeface="+mn-ea"/>
            </a:endParaRPr>
          </a:p>
          <a:p>
            <a:pPr algn="just">
              <a:defRPr/>
            </a:pPr>
            <a:r>
              <a:rPr lang="ko-KR" altLang="en-US" sz="1400" dirty="0">
                <a:latin typeface="+mn-ea"/>
                <a:ea typeface="+mn-ea"/>
              </a:rPr>
              <a:t> 하거나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주의 돌리거나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회피하지 않는다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algn="just">
              <a:defRPr/>
            </a:pPr>
            <a:r>
              <a:rPr lang="en-US" altLang="ko-KR" sz="1400" dirty="0">
                <a:latin typeface="+mn-ea"/>
                <a:ea typeface="+mn-ea"/>
              </a:rPr>
              <a:t>3. </a:t>
            </a:r>
            <a:r>
              <a:rPr lang="ko-KR" altLang="en-US" sz="1400" dirty="0">
                <a:latin typeface="+mn-ea"/>
                <a:ea typeface="+mn-ea"/>
              </a:rPr>
              <a:t>다시 왼쪽 칸으로 가서 동일한 생각을 </a:t>
            </a:r>
            <a:endParaRPr lang="en-US" altLang="ko-KR" sz="1400" dirty="0">
              <a:latin typeface="+mn-ea"/>
              <a:ea typeface="+mn-ea"/>
            </a:endParaRPr>
          </a:p>
          <a:p>
            <a:pPr algn="just">
              <a:defRPr/>
            </a:pPr>
            <a:r>
              <a:rPr lang="ko-KR" altLang="en-US" sz="1400" dirty="0">
                <a:latin typeface="+mn-ea"/>
                <a:ea typeface="+mn-ea"/>
              </a:rPr>
              <a:t>적고 오른쪽 칸에 </a:t>
            </a:r>
            <a:r>
              <a:rPr lang="ko-KR" altLang="en-US" sz="1400" dirty="0" err="1">
                <a:latin typeface="+mn-ea"/>
                <a:ea typeface="+mn-ea"/>
              </a:rPr>
              <a:t>불편감</a:t>
            </a:r>
            <a:r>
              <a:rPr lang="ko-KR" altLang="en-US" sz="1400" dirty="0">
                <a:latin typeface="+mn-ea"/>
                <a:ea typeface="+mn-ea"/>
              </a:rPr>
              <a:t> 수준을 평가한다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algn="just">
              <a:defRPr/>
            </a:pPr>
            <a:r>
              <a:rPr lang="en-US" altLang="ko-KR" sz="1400" dirty="0">
                <a:latin typeface="+mn-ea"/>
                <a:ea typeface="+mn-ea"/>
              </a:rPr>
              <a:t>4. </a:t>
            </a:r>
            <a:r>
              <a:rPr lang="ko-KR" altLang="en-US" sz="1400" dirty="0">
                <a:latin typeface="+mn-ea"/>
                <a:ea typeface="+mn-ea"/>
              </a:rPr>
              <a:t>위 과정을 </a:t>
            </a:r>
            <a:r>
              <a:rPr lang="ko-KR" altLang="en-US" sz="1400" dirty="0" err="1">
                <a:latin typeface="+mn-ea"/>
                <a:ea typeface="+mn-ea"/>
              </a:rPr>
              <a:t>불편감의</a:t>
            </a:r>
            <a:r>
              <a:rPr lang="ko-KR" altLang="en-US" sz="1400" dirty="0">
                <a:latin typeface="+mn-ea"/>
                <a:ea typeface="+mn-ea"/>
              </a:rPr>
              <a:t> 수준이 </a:t>
            </a:r>
            <a:r>
              <a:rPr lang="en-US" altLang="ko-KR" sz="1400" dirty="0">
                <a:latin typeface="+mn-ea"/>
                <a:ea typeface="+mn-ea"/>
              </a:rPr>
              <a:t>20-30</a:t>
            </a:r>
            <a:r>
              <a:rPr lang="ko-KR" altLang="en-US" sz="1400" dirty="0">
                <a:latin typeface="+mn-ea"/>
                <a:ea typeface="+mn-ea"/>
              </a:rPr>
              <a:t>이 될</a:t>
            </a:r>
            <a:endParaRPr lang="en-US" altLang="ko-KR" sz="1400" dirty="0">
              <a:latin typeface="+mn-ea"/>
              <a:ea typeface="+mn-ea"/>
            </a:endParaRPr>
          </a:p>
          <a:p>
            <a:pPr algn="just">
              <a:defRPr/>
            </a:pPr>
            <a:r>
              <a:rPr lang="ko-KR" altLang="en-US" sz="1400" dirty="0">
                <a:latin typeface="+mn-ea"/>
                <a:ea typeface="+mn-ea"/>
              </a:rPr>
              <a:t> 때까지 반복한다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nl-NL" altLang="zh-CN" sz="1400" dirty="0">
              <a:latin typeface="+mn-ea"/>
              <a:ea typeface="+mn-ea"/>
            </a:endParaRPr>
          </a:p>
        </p:txBody>
      </p:sp>
      <p:sp>
        <p:nvSpPr>
          <p:cNvPr id="25" name="AutoShape 5"/>
          <p:cNvSpPr>
            <a:spLocks noChangeArrowheads="1"/>
          </p:cNvSpPr>
          <p:nvPr/>
        </p:nvSpPr>
        <p:spPr bwMode="auto">
          <a:xfrm flipH="1">
            <a:off x="5229225" y="2460625"/>
            <a:ext cx="3595688" cy="2360613"/>
          </a:xfrm>
          <a:prstGeom prst="homePlate">
            <a:avLst>
              <a:gd name="adj" fmla="val 12320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marL="342900" indent="-342900" algn="just">
              <a:defRPr/>
            </a:pPr>
            <a:r>
              <a:rPr lang="en-US" altLang="ko-KR" sz="1400" dirty="0">
                <a:latin typeface="+mn-ea"/>
                <a:ea typeface="+mn-ea"/>
              </a:rPr>
              <a:t>1. </a:t>
            </a:r>
            <a:r>
              <a:rPr lang="ko-KR" altLang="en-US" sz="1400" dirty="0">
                <a:latin typeface="+mn-ea"/>
                <a:ea typeface="+mn-ea"/>
              </a:rPr>
              <a:t>녹음기에 자신의 강박사고를 반복해서 </a:t>
            </a:r>
            <a:endParaRPr lang="en-US" altLang="ko-KR" sz="1400" dirty="0">
              <a:latin typeface="+mn-ea"/>
              <a:ea typeface="+mn-ea"/>
            </a:endParaRPr>
          </a:p>
          <a:p>
            <a:pPr marL="342900" indent="-342900" algn="just">
              <a:defRPr/>
            </a:pPr>
            <a:r>
              <a:rPr lang="en-US" altLang="ko-KR" sz="1400" dirty="0">
                <a:latin typeface="+mn-ea"/>
                <a:ea typeface="+mn-ea"/>
              </a:rPr>
              <a:t>   </a:t>
            </a:r>
            <a:r>
              <a:rPr lang="ko-KR" altLang="en-US" sz="1400" dirty="0">
                <a:latin typeface="+mn-ea"/>
                <a:ea typeface="+mn-ea"/>
              </a:rPr>
              <a:t>녹음한다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  <a:r>
              <a:rPr lang="ko-KR" altLang="en-US" sz="1400" dirty="0">
                <a:latin typeface="+mn-ea"/>
                <a:ea typeface="+mn-ea"/>
              </a:rPr>
              <a:t>약 </a:t>
            </a:r>
            <a:r>
              <a:rPr lang="en-US" altLang="ko-KR" sz="1400" dirty="0">
                <a:latin typeface="+mn-ea"/>
                <a:ea typeface="+mn-ea"/>
              </a:rPr>
              <a:t>30</a:t>
            </a:r>
            <a:r>
              <a:rPr lang="ko-KR" altLang="en-US" sz="1400" dirty="0">
                <a:latin typeface="+mn-ea"/>
                <a:ea typeface="+mn-ea"/>
              </a:rPr>
              <a:t>회 정도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marL="342900" indent="-342900" algn="just">
              <a:defRPr/>
            </a:pPr>
            <a:r>
              <a:rPr lang="en-US" altLang="ko-KR" sz="1400" dirty="0">
                <a:latin typeface="+mn-ea"/>
                <a:ea typeface="+mn-ea"/>
              </a:rPr>
              <a:t>2. </a:t>
            </a:r>
            <a:r>
              <a:rPr lang="ko-KR" altLang="en-US" sz="1400" dirty="0">
                <a:latin typeface="+mn-ea"/>
                <a:ea typeface="+mn-ea"/>
              </a:rPr>
              <a:t>들어본다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  <a:r>
              <a:rPr lang="ko-KR" altLang="en-US" sz="1400" dirty="0">
                <a:latin typeface="+mn-ea"/>
                <a:ea typeface="+mn-ea"/>
              </a:rPr>
              <a:t>자신이 </a:t>
            </a:r>
            <a:r>
              <a:rPr lang="ko-KR" altLang="en-US" sz="1400" dirty="0" err="1">
                <a:latin typeface="+mn-ea"/>
                <a:ea typeface="+mn-ea"/>
              </a:rPr>
              <a:t>테잎</a:t>
            </a:r>
            <a:r>
              <a:rPr lang="ko-KR" altLang="en-US" sz="1400" dirty="0">
                <a:latin typeface="+mn-ea"/>
                <a:ea typeface="+mn-ea"/>
              </a:rPr>
              <a:t> 듣는 것을 </a:t>
            </a:r>
            <a:endParaRPr lang="en-US" altLang="ko-KR" sz="1400" dirty="0">
              <a:latin typeface="+mn-ea"/>
              <a:ea typeface="+mn-ea"/>
            </a:endParaRPr>
          </a:p>
          <a:p>
            <a:pPr marL="342900" indent="-342900" algn="just">
              <a:defRPr/>
            </a:pPr>
            <a:r>
              <a:rPr lang="ko-KR" altLang="en-US" sz="1400" dirty="0">
                <a:latin typeface="+mn-ea"/>
                <a:ea typeface="+mn-ea"/>
              </a:rPr>
              <a:t>   회피하고 있지는 않은지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 err="1">
                <a:latin typeface="+mn-ea"/>
                <a:ea typeface="+mn-ea"/>
              </a:rPr>
              <a:t>듣는동안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endParaRPr lang="en-US" altLang="ko-KR" sz="1400" dirty="0">
              <a:latin typeface="+mn-ea"/>
              <a:ea typeface="+mn-ea"/>
            </a:endParaRPr>
          </a:p>
          <a:p>
            <a:pPr marL="342900" indent="-342900" algn="just">
              <a:defRPr/>
            </a:pPr>
            <a:r>
              <a:rPr lang="ko-KR" altLang="en-US" sz="1400" dirty="0">
                <a:latin typeface="+mn-ea"/>
                <a:ea typeface="+mn-ea"/>
              </a:rPr>
              <a:t>   다른 생각을 하거나 다른 행동을 해서 </a:t>
            </a:r>
          </a:p>
          <a:p>
            <a:pPr algn="just">
              <a:defRPr/>
            </a:pPr>
            <a:r>
              <a:rPr lang="ko-KR" altLang="en-US" sz="1400" dirty="0">
                <a:latin typeface="+mn-ea"/>
                <a:ea typeface="+mn-ea"/>
              </a:rPr>
              <a:t>   주의를 분산시키지는 않은지 확인한다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</a:p>
          <a:p>
            <a:pPr algn="just">
              <a:defRPr/>
            </a:pPr>
            <a:r>
              <a:rPr lang="en-US" altLang="ko-KR" sz="1400" dirty="0">
                <a:latin typeface="+mn-ea"/>
                <a:ea typeface="+mn-ea"/>
              </a:rPr>
              <a:t>3. </a:t>
            </a:r>
            <a:r>
              <a:rPr lang="ko-KR" altLang="en-US" sz="1400" dirty="0">
                <a:latin typeface="+mn-ea"/>
                <a:ea typeface="+mn-ea"/>
              </a:rPr>
              <a:t>매번 듣고 난 후에 </a:t>
            </a:r>
            <a:r>
              <a:rPr lang="ko-KR" altLang="en-US" sz="1400" dirty="0" err="1">
                <a:latin typeface="+mn-ea"/>
                <a:ea typeface="+mn-ea"/>
              </a:rPr>
              <a:t>불편감의</a:t>
            </a:r>
            <a:r>
              <a:rPr lang="ko-KR" altLang="en-US" sz="1400" dirty="0">
                <a:latin typeface="+mn-ea"/>
                <a:ea typeface="+mn-ea"/>
              </a:rPr>
              <a:t> 수준을 </a:t>
            </a:r>
            <a:endParaRPr lang="en-US" altLang="ko-KR" sz="1400" dirty="0">
              <a:latin typeface="+mn-ea"/>
              <a:ea typeface="+mn-ea"/>
            </a:endParaRPr>
          </a:p>
          <a:p>
            <a:pPr algn="just">
              <a:defRPr/>
            </a:pPr>
            <a:r>
              <a:rPr lang="en-US" altLang="ko-KR" sz="1400" dirty="0">
                <a:latin typeface="+mn-ea"/>
                <a:ea typeface="+mn-ea"/>
              </a:rPr>
              <a:t>   </a:t>
            </a:r>
            <a:r>
              <a:rPr lang="ko-KR" altLang="en-US" sz="1400" dirty="0">
                <a:latin typeface="+mn-ea"/>
                <a:ea typeface="+mn-ea"/>
              </a:rPr>
              <a:t>기록한다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  <a:r>
              <a:rPr lang="ko-KR" altLang="en-US" sz="1400" dirty="0">
                <a:latin typeface="+mn-ea"/>
                <a:ea typeface="+mn-ea"/>
              </a:rPr>
              <a:t>다시 듣는다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algn="just">
              <a:defRPr/>
            </a:pPr>
            <a:r>
              <a:rPr lang="en-US" altLang="ko-KR" sz="1400" dirty="0">
                <a:latin typeface="+mn-ea"/>
                <a:ea typeface="+mn-ea"/>
              </a:rPr>
              <a:t>4. </a:t>
            </a:r>
            <a:r>
              <a:rPr lang="ko-KR" altLang="en-US" sz="1400" dirty="0" err="1">
                <a:latin typeface="+mn-ea"/>
                <a:ea typeface="+mn-ea"/>
              </a:rPr>
              <a:t>불편감</a:t>
            </a:r>
            <a:r>
              <a:rPr lang="ko-KR" altLang="en-US" sz="1400" dirty="0">
                <a:latin typeface="+mn-ea"/>
                <a:ea typeface="+mn-ea"/>
              </a:rPr>
              <a:t> 수준이 </a:t>
            </a:r>
            <a:r>
              <a:rPr lang="en-US" altLang="ko-KR" sz="1400" dirty="0">
                <a:latin typeface="+mn-ea"/>
                <a:ea typeface="+mn-ea"/>
              </a:rPr>
              <a:t>20-30</a:t>
            </a:r>
            <a:r>
              <a:rPr lang="ko-KR" altLang="en-US" sz="1400" dirty="0">
                <a:latin typeface="+mn-ea"/>
                <a:ea typeface="+mn-ea"/>
              </a:rPr>
              <a:t>이 될 때까지 반복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287338" y="5281613"/>
            <a:ext cx="3303587" cy="53340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srgbClr val="FFFFFF"/>
                </a:solidFill>
                <a:latin typeface="+mn-ea"/>
                <a:ea typeface="+mn-ea"/>
              </a:rPr>
              <a:t>다음 생각으로 넘어가서 위 단계 반복</a:t>
            </a:r>
            <a:r>
              <a:rPr lang="en-US" altLang="ko-KR" sz="1400" b="1" dirty="0">
                <a:solidFill>
                  <a:srgbClr val="FFFFFF"/>
                </a:solidFill>
                <a:latin typeface="+mn-ea"/>
                <a:ea typeface="+mn-ea"/>
              </a:rPr>
              <a:t>.</a:t>
            </a:r>
            <a:endParaRPr lang="nl-NL" altLang="zh-CN" sz="14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8" name="AutoShape 8"/>
          <p:cNvSpPr>
            <a:spLocks noChangeArrowheads="1"/>
          </p:cNvSpPr>
          <p:nvPr/>
        </p:nvSpPr>
        <p:spPr bwMode="auto">
          <a:xfrm flipV="1">
            <a:off x="287338" y="4900613"/>
            <a:ext cx="3276600" cy="304800"/>
          </a:xfrm>
          <a:prstGeom prst="triangle">
            <a:avLst>
              <a:gd name="adj" fmla="val 50000"/>
            </a:avLst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 flipV="1">
            <a:off x="5545138" y="4900613"/>
            <a:ext cx="3276600" cy="304800"/>
          </a:xfrm>
          <a:prstGeom prst="triangle">
            <a:avLst>
              <a:gd name="adj" fmla="val 50000"/>
            </a:avLst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287338" y="1722438"/>
            <a:ext cx="3303587" cy="53340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srgbClr val="FFFFFF"/>
                </a:solidFill>
                <a:latin typeface="+mn-ea"/>
                <a:ea typeface="+mn-ea"/>
              </a:rPr>
              <a:t>글쓰기 노출</a:t>
            </a:r>
            <a:endParaRPr lang="nl-NL" altLang="zh-CN" sz="14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1" name="Rectangle 11"/>
          <p:cNvSpPr>
            <a:spLocks noChangeArrowheads="1"/>
          </p:cNvSpPr>
          <p:nvPr/>
        </p:nvSpPr>
        <p:spPr bwMode="auto">
          <a:xfrm>
            <a:off x="5518150" y="1784350"/>
            <a:ext cx="3303588" cy="53340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srgbClr val="FFFFFF"/>
                </a:solidFill>
                <a:latin typeface="+mn-ea"/>
                <a:ea typeface="+mn-ea"/>
              </a:rPr>
              <a:t>오디오 노출</a:t>
            </a:r>
            <a:endParaRPr lang="nl-NL" altLang="zh-CN" sz="14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5572125" y="5286375"/>
            <a:ext cx="3303588" cy="533400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srgbClr val="FFFFFF"/>
                </a:solidFill>
                <a:latin typeface="+mn-ea"/>
                <a:ea typeface="+mn-ea"/>
              </a:rPr>
              <a:t>다음 생각으로 넘어가서 위 단계 반복</a:t>
            </a:r>
            <a:r>
              <a:rPr lang="en-US" altLang="ko-KR" sz="1400" b="1" dirty="0">
                <a:solidFill>
                  <a:srgbClr val="FFFFFF"/>
                </a:solidFill>
                <a:latin typeface="+mn-ea"/>
                <a:ea typeface="+mn-ea"/>
              </a:rPr>
              <a:t>.</a:t>
            </a:r>
            <a:endParaRPr lang="nl-NL" altLang="zh-CN" sz="14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1071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ERP </a:t>
            </a: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훈련과 병행하는 다른 기법들</a:t>
            </a:r>
            <a:endParaRPr lang="en-US" altLang="ko-KR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11270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3429000" y="1857375"/>
            <a:ext cx="2220913" cy="3967163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ko-KR" altLang="en-US" sz="1600" b="1" dirty="0">
                <a:solidFill>
                  <a:srgbClr val="FFFFFF"/>
                </a:solidFill>
                <a:latin typeface="+mj-ea"/>
                <a:ea typeface="+mj-ea"/>
              </a:rPr>
              <a:t>강박사고</a:t>
            </a:r>
            <a:endParaRPr lang="nl-NL" altLang="zh-CN" sz="16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45" name="AutoShape 23"/>
          <p:cNvSpPr>
            <a:spLocks noChangeArrowheads="1"/>
          </p:cNvSpPr>
          <p:nvPr/>
        </p:nvSpPr>
        <p:spPr bwMode="auto">
          <a:xfrm>
            <a:off x="285750" y="1895475"/>
            <a:ext cx="3765550" cy="1136650"/>
          </a:xfrm>
          <a:prstGeom prst="homePlate">
            <a:avLst>
              <a:gd name="adj" fmla="val 25558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강박사고 미루기</a:t>
            </a:r>
          </a:p>
          <a:p>
            <a:pPr>
              <a:defRPr/>
            </a:pP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곧바로 그 생각에 빠지는 것이 아니라 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분 뒤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시간은 개별 사례에 맞추어 정한다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에 하기로 스스로에게 약속하고 그 시간동안은 다른 일에 몰두하도록 노력한다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AutoShape 27"/>
          <p:cNvSpPr>
            <a:spLocks noChangeArrowheads="1"/>
          </p:cNvSpPr>
          <p:nvPr/>
        </p:nvSpPr>
        <p:spPr bwMode="auto">
          <a:xfrm flipH="1">
            <a:off x="5072063" y="4500563"/>
            <a:ext cx="3673475" cy="1136650"/>
          </a:xfrm>
          <a:prstGeom prst="homePlate">
            <a:avLst>
              <a:gd name="adj" fmla="val 25629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6)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강박사고로 인하여 회피하는 상황에 직면하기</a:t>
            </a:r>
            <a:endParaRPr lang="nl-NL" altLang="zh-CN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AutoShape 28"/>
          <p:cNvSpPr>
            <a:spLocks noChangeArrowheads="1"/>
          </p:cNvSpPr>
          <p:nvPr/>
        </p:nvSpPr>
        <p:spPr bwMode="auto">
          <a:xfrm flipH="1">
            <a:off x="5072063" y="3179763"/>
            <a:ext cx="3673475" cy="1136650"/>
          </a:xfrm>
          <a:prstGeom prst="homePlate">
            <a:avLst>
              <a:gd name="adj" fmla="val 25629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5)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강박사고 녹음하여 반복적으로 듣기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강박사고를 더 확장한 내용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자신이 가장 두려워하는 결과가 발생한 것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을 녹음하여 듣기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AutoShape 29"/>
          <p:cNvSpPr>
            <a:spLocks noChangeArrowheads="1"/>
          </p:cNvSpPr>
          <p:nvPr/>
        </p:nvSpPr>
        <p:spPr bwMode="auto">
          <a:xfrm flipH="1">
            <a:off x="5000625" y="1935163"/>
            <a:ext cx="3714750" cy="1136650"/>
          </a:xfrm>
          <a:prstGeom prst="homePlate">
            <a:avLst>
              <a:gd name="adj" fmla="val 25629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4)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강박사고의 방법을 바꾸기</a:t>
            </a:r>
          </a:p>
          <a:p>
            <a:pPr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강박사고가 떠오를 때마다 적어두기 </a:t>
            </a:r>
          </a:p>
          <a:p>
            <a:pPr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강박사고를 노래로 만들어 부르기</a:t>
            </a:r>
          </a:p>
          <a:p>
            <a:pPr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강박적인 심상을 </a:t>
            </a:r>
            <a:r>
              <a:rPr lang="ko-KR" altLang="en-US" sz="1400" dirty="0" err="1">
                <a:latin typeface="맑은 고딕" pitchFamily="50" charset="-127"/>
                <a:ea typeface="맑은 고딕" pitchFamily="50" charset="-127"/>
              </a:rPr>
              <a:t>유머러스하거나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 긍정적인 장면으로 바꾸기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AutoShape 23"/>
          <p:cNvSpPr>
            <a:spLocks noChangeArrowheads="1"/>
          </p:cNvSpPr>
          <p:nvPr/>
        </p:nvSpPr>
        <p:spPr bwMode="auto">
          <a:xfrm>
            <a:off x="285750" y="3181350"/>
            <a:ext cx="3765550" cy="1136650"/>
          </a:xfrm>
          <a:prstGeom prst="homePlate">
            <a:avLst>
              <a:gd name="adj" fmla="val 25558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강박사고 시간을 정하기</a:t>
            </a:r>
          </a:p>
          <a:p>
            <a:pPr>
              <a:defRPr/>
            </a:pP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  하루 중 혹은 일주일 중 특정 시간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빈도는 개별사례에 맞추어 정함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을 정해놓은 뒤 강박사고가 떠오를 때마다 미루었다가 정한 시간에 집중적으로 강박사고를 하도록 함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AutoShape 23"/>
          <p:cNvSpPr>
            <a:spLocks noChangeArrowheads="1"/>
          </p:cNvSpPr>
          <p:nvPr/>
        </p:nvSpPr>
        <p:spPr bwMode="auto">
          <a:xfrm>
            <a:off x="285750" y="4500563"/>
            <a:ext cx="3765550" cy="1136650"/>
          </a:xfrm>
          <a:prstGeom prst="homePlate">
            <a:avLst>
              <a:gd name="adj" fmla="val 25558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강박사고에 의도적으로 몰두하기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억지로 강박사고를 떠올리려고 해도 딴 생각이 자꾸만 떠오르는 역설적인 경험함으로써 강박사고에 억지로 저항하지 않으면 오히려 이를 지속시키려고 해도 어려움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 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1071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ERP </a:t>
            </a: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훈련과 병행하는 다른 기법들</a:t>
            </a:r>
            <a:endParaRPr lang="en-US" altLang="ko-KR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12294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7083425" y="1785938"/>
            <a:ext cx="1417638" cy="3967162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algn="ctr">
              <a:defRPr/>
            </a:pPr>
            <a:r>
              <a:rPr lang="ko-KR" altLang="en-US" sz="1400" b="1" dirty="0">
                <a:solidFill>
                  <a:srgbClr val="FFFFFF"/>
                </a:solidFill>
                <a:latin typeface="+mj-ea"/>
                <a:ea typeface="+mj-ea"/>
              </a:rPr>
              <a:t>강박행동</a:t>
            </a:r>
            <a:endParaRPr lang="nl-NL" altLang="zh-CN" sz="14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5" name="AutoShape 4"/>
          <p:cNvSpPr>
            <a:spLocks noChangeArrowheads="1"/>
          </p:cNvSpPr>
          <p:nvPr/>
        </p:nvSpPr>
        <p:spPr bwMode="auto">
          <a:xfrm>
            <a:off x="714375" y="1870075"/>
            <a:ext cx="6648450" cy="857250"/>
          </a:xfrm>
          <a:prstGeom prst="homePlate">
            <a:avLst>
              <a:gd name="adj" fmla="val 22046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342900" indent="-342900" algn="just">
              <a:lnSpc>
                <a:spcPct val="110000"/>
              </a:lnSpc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강박행동 지연시키기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342900" indent="-342900" algn="just">
              <a:lnSpc>
                <a:spcPct val="110000"/>
              </a:lnSpc>
              <a:defRPr/>
            </a:pPr>
            <a:r>
              <a:rPr lang="en-US" altLang="zh-CN" sz="140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스스로 증상을 조절할 수 있는 힘을 체험하고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강박행동에 대한 </a:t>
            </a:r>
            <a:r>
              <a:rPr lang="ko-KR" altLang="en-US" sz="1400" dirty="0" err="1">
                <a:latin typeface="맑은 고딕" pitchFamily="50" charset="-127"/>
                <a:ea typeface="맑은 고딕" pitchFamily="50" charset="-127"/>
              </a:rPr>
              <a:t>통제감을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400" dirty="0">
              <a:latin typeface="맑은 고딕" pitchFamily="50" charset="-127"/>
              <a:ea typeface="맑은 고딕" pitchFamily="50" charset="-127"/>
            </a:endParaRPr>
          </a:p>
          <a:p>
            <a:pPr marL="342900" indent="-342900" algn="just">
              <a:lnSpc>
                <a:spcPct val="110000"/>
              </a:lnSpc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느끼는 것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즉각적인 강박행동의 자동화 패턴을 깨고 인내하는 것을 배움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714375" y="2827338"/>
            <a:ext cx="6648450" cy="857250"/>
          </a:xfrm>
          <a:prstGeom prst="homePlate">
            <a:avLst>
              <a:gd name="adj" fmla="val 22046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강박행동 둔화시키기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(slow motion technique)</a:t>
            </a:r>
          </a:p>
          <a:p>
            <a:pPr marL="12700" indent="-12700">
              <a:lnSpc>
                <a:spcPct val="110000"/>
              </a:lnSpc>
              <a:defRPr/>
            </a:pP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강박행동을 하는 동안 아주 천천히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반복하는 것이 아니라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생각하고 행동하기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속도를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둔화시킴으로써 강박행동에 대한 압박감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 err="1">
                <a:latin typeface="맑은 고딕" pitchFamily="50" charset="-127"/>
                <a:ea typeface="맑은 고딕" pitchFamily="50" charset="-127"/>
              </a:rPr>
              <a:t>불편감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 감소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auto">
          <a:xfrm>
            <a:off x="714375" y="3786188"/>
            <a:ext cx="6648450" cy="857250"/>
          </a:xfrm>
          <a:prstGeom prst="homePlate">
            <a:avLst>
              <a:gd name="adj" fmla="val 22046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강박행동의 일부를 바꾸기</a:t>
            </a:r>
          </a:p>
          <a:p>
            <a:pPr marL="12700" indent="-12700">
              <a:lnSpc>
                <a:spcPct val="110000"/>
              </a:lnSpc>
              <a:defRPr/>
            </a:pP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강박행동의 순서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빈도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강박행동을 할 때 사용하는 물건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특정 상표라든가 도구의 종류 등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강박행동을 하는 시간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아침에 하던 것을 저녁에 하기 등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)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AutoShape 7"/>
          <p:cNvSpPr>
            <a:spLocks noChangeArrowheads="1"/>
          </p:cNvSpPr>
          <p:nvPr/>
        </p:nvSpPr>
        <p:spPr bwMode="auto">
          <a:xfrm>
            <a:off x="714375" y="4745038"/>
            <a:ext cx="6648450" cy="857250"/>
          </a:xfrm>
          <a:prstGeom prst="homePlate">
            <a:avLst>
              <a:gd name="adj" fmla="val 22046"/>
            </a:avLst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4)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강박행동에 대해 스스로에게 과제를 부과하기</a:t>
            </a:r>
            <a:endParaRPr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marL="12700" indent="-12700">
              <a:lnSpc>
                <a:spcPct val="110000"/>
              </a:lnSpc>
              <a:defRPr/>
            </a:pP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예를 들어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가스밸브를 확인하면 반드시 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30</a:t>
            </a:r>
            <a:r>
              <a:rPr lang="ko-KR" altLang="en-US" sz="1400" dirty="0" err="1">
                <a:latin typeface="맑은 고딕" pitchFamily="50" charset="-127"/>
                <a:ea typeface="맑은 고딕" pitchFamily="50" charset="-127"/>
              </a:rPr>
              <a:t>분동안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 산책을 하기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혹은 쓰레기통을 비우기 등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과제가 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ritual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이 되지 않도록 주의해야 한다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nl-NL" altLang="zh-CN" sz="14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1227</Words>
  <Application>Microsoft Office PowerPoint</Application>
  <PresentationFormat>화면 슬라이드 쇼(4:3)</PresentationFormat>
  <Paragraphs>214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굴림</vt:lpstr>
      <vt:lpstr>Arial</vt:lpstr>
      <vt:lpstr>맑은 고딕</vt:lpstr>
      <vt:lpstr>HY견고딕</vt:lpstr>
      <vt:lpstr>Office 테마</vt:lpstr>
      <vt:lpstr>기본 디자인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ERP를 위한 지침</vt:lpstr>
      <vt:lpstr>슬라이드 15</vt:lpstr>
      <vt:lpstr>슬라이드 16</vt:lpstr>
      <vt:lpstr>슬라이드 17</vt:lpstr>
      <vt:lpstr>ERP 훈련과 병행하는 다른 기법들</vt:lpstr>
      <vt:lpstr>ERP 훈련과 병행하는 다른 기법들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Seojin</dc:creator>
  <cp:lastModifiedBy>Preferred Customer</cp:lastModifiedBy>
  <cp:revision>39</cp:revision>
  <dcterms:created xsi:type="dcterms:W3CDTF">2010-04-14T23:01:33Z</dcterms:created>
  <dcterms:modified xsi:type="dcterms:W3CDTF">2012-07-10T02:25:55Z</dcterms:modified>
</cp:coreProperties>
</file>