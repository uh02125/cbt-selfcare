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handoutMasterIdLst>
    <p:handoutMasterId r:id="rId16"/>
  </p:handoutMasterIdLst>
  <p:sldIdLst>
    <p:sldId id="260" r:id="rId2"/>
    <p:sldId id="320" r:id="rId3"/>
    <p:sldId id="348" r:id="rId4"/>
    <p:sldId id="349" r:id="rId5"/>
    <p:sldId id="359" r:id="rId6"/>
    <p:sldId id="350" r:id="rId7"/>
    <p:sldId id="360" r:id="rId8"/>
    <p:sldId id="361" r:id="rId9"/>
    <p:sldId id="362" r:id="rId10"/>
    <p:sldId id="352" r:id="rId11"/>
    <p:sldId id="363" r:id="rId12"/>
    <p:sldId id="364" r:id="rId13"/>
    <p:sldId id="355" r:id="rId14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D5D"/>
    <a:srgbClr val="DDD2B5"/>
    <a:srgbClr val="9773AE"/>
    <a:srgbClr val="9CD100"/>
    <a:srgbClr val="FF7C80"/>
    <a:srgbClr val="00CC99"/>
    <a:srgbClr val="009999"/>
    <a:srgbClr val="33CC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89985" autoAdjust="0"/>
  </p:normalViewPr>
  <p:slideViewPr>
    <p:cSldViewPr>
      <p:cViewPr>
        <p:scale>
          <a:sx n="100" d="100"/>
          <a:sy n="100" d="100"/>
        </p:scale>
        <p:origin x="-1194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D676CADA-8BA1-4ED6-8A17-60CA8E1AB4A3}" type="datetimeFigureOut">
              <a:rPr lang="ko-KR" altLang="en-US"/>
              <a:pPr>
                <a:defRPr/>
              </a:pPr>
              <a:t>2011-01-12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D2D86BEE-42A7-4614-ABFB-DC23BFCFC22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5E55F055-A9DD-46EE-89CE-7EDCDEE33221}" type="datetimeFigureOut">
              <a:rPr lang="ko-KR" altLang="en-US"/>
              <a:pPr>
                <a:defRPr/>
              </a:pPr>
              <a:t>2011-01-12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B7C6A71F-2822-4043-9351-05414AE3757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인지는 행동에 영향을 미친다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인지치료의 기본은</a:t>
            </a:r>
            <a:r>
              <a:rPr lang="en-US" altLang="ko-KR" dirty="0" smtClean="0"/>
              <a:t>: </a:t>
            </a:r>
            <a:r>
              <a:rPr lang="ko-KR" altLang="en-US" dirty="0" smtClean="0"/>
              <a:t>우리가 어떤 상황에서 생각하는 방식을 변화시킨다면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우리가 느끼는 방식과 우리가 행동하는 방식도 또한 변하게 될 것이라는 점이다</a:t>
            </a:r>
            <a:r>
              <a:rPr lang="en-US" altLang="ko-KR" dirty="0" smtClean="0"/>
              <a:t>.</a:t>
            </a:r>
          </a:p>
          <a:p>
            <a:r>
              <a:rPr lang="ko-KR" altLang="en-US" b="1" dirty="0" smtClean="0"/>
              <a:t>사고의 변화를 통해서 행동의 변화를 가져올 수 있다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C6A71F-2822-4043-9351-05414AE37572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C6A71F-2822-4043-9351-05414AE37572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객관적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중립적인 해석을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C6A71F-2822-4043-9351-05414AE37572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C6A71F-2822-4043-9351-05414AE37572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C6A71F-2822-4043-9351-05414AE37572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 bwMode="auto">
          <a:xfrm>
            <a:off x="385763" y="547688"/>
            <a:ext cx="8758237" cy="714375"/>
          </a:xfrm>
          <a:prstGeom prst="rect">
            <a:avLst/>
          </a:prstGeom>
          <a:solidFill>
            <a:srgbClr val="27305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b="1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3" name="직사각형 2"/>
          <p:cNvSpPr/>
          <p:nvPr/>
        </p:nvSpPr>
        <p:spPr bwMode="auto">
          <a:xfrm>
            <a:off x="0" y="547688"/>
            <a:ext cx="120650" cy="71437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b="1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  <p:pic>
        <p:nvPicPr>
          <p:cNvPr id="4" name="그림 8" descr="The_Presentation_logo_M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72375" y="142875"/>
            <a:ext cx="1390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9A0C1-1DF7-438A-BE44-98AB5A85E6B2}" type="datetimeFigureOut">
              <a:rPr lang="ko-KR" altLang="en-US"/>
              <a:pPr>
                <a:defRPr/>
              </a:pPr>
              <a:t>2011-01-12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935E6-50EA-4E12-B797-D50C5A526C3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5CBD4-0650-402A-893C-31CCDA46DF74}" type="datetimeFigureOut">
              <a:rPr lang="ko-KR" altLang="en-US"/>
              <a:pPr>
                <a:defRPr/>
              </a:pPr>
              <a:t>2011-01-12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2D826-EEB6-4B28-930C-1AB104AC0EF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1C2C83B-A358-471F-B7B9-13E67019DF24}" type="datetimeFigureOut">
              <a:rPr lang="ko-KR" altLang="en-US"/>
              <a:pPr>
                <a:defRPr/>
              </a:pPr>
              <a:t>2011-01-12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F8C8351-8F2B-4AA7-B733-72337AAC6E2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77" r:id="rId2"/>
    <p:sldLayoutId id="2147483778" r:id="rId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42938" y="1571625"/>
            <a:ext cx="7786687" cy="18573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sz="3000" b="1" dirty="0" smtClean="0">
                <a:latin typeface="HY강M" pitchFamily="18" charset="-127"/>
                <a:ea typeface="HY강M" pitchFamily="18" charset="-127"/>
              </a:rPr>
              <a:t> </a:t>
            </a:r>
            <a:r>
              <a:rPr lang="ko-KR" altLang="en-US" sz="3000" b="1" dirty="0" err="1" smtClean="0">
                <a:solidFill>
                  <a:schemeClr val="accent5">
                    <a:lumMod val="50000"/>
                  </a:schemeClr>
                </a:solidFill>
              </a:rPr>
              <a:t>강박증</a:t>
            </a:r>
            <a:r>
              <a:rPr lang="ko-KR" altLang="en-US" sz="3000" b="1" dirty="0" smtClean="0">
                <a:solidFill>
                  <a:schemeClr val="accent5">
                    <a:lumMod val="50000"/>
                  </a:schemeClr>
                </a:solidFill>
              </a:rPr>
              <a:t> 인지행동치료 프로그램</a:t>
            </a:r>
            <a:r>
              <a:rPr lang="en-US" altLang="ko-KR" sz="3000" b="1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altLang="ko-KR" sz="30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kumimoji="1" lang="en-US" altLang="ko-KR" sz="2800" b="1" dirty="0" smtClean="0">
                <a:solidFill>
                  <a:schemeClr val="accent5">
                    <a:lumMod val="75000"/>
                  </a:schemeClr>
                </a:solidFill>
                <a:latin typeface="Arial Narrow" pitchFamily="34" charset="0"/>
              </a:rPr>
              <a:t>C</a:t>
            </a:r>
            <a:r>
              <a:rPr kumimoji="1" lang="en-US" altLang="ko-KR" sz="2800" b="1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ognitive </a:t>
            </a:r>
            <a:r>
              <a:rPr kumimoji="1" lang="en-US" altLang="ko-KR" sz="2800" b="1" dirty="0" smtClean="0">
                <a:solidFill>
                  <a:schemeClr val="accent5">
                    <a:lumMod val="75000"/>
                  </a:schemeClr>
                </a:solidFill>
                <a:latin typeface="Arial Narrow" pitchFamily="34" charset="0"/>
              </a:rPr>
              <a:t>B</a:t>
            </a:r>
            <a:r>
              <a:rPr kumimoji="1" lang="en-US" altLang="ko-KR" sz="2800" b="1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ehavior </a:t>
            </a:r>
            <a:r>
              <a:rPr kumimoji="1" lang="en-US" altLang="ko-KR" sz="2800" b="1" dirty="0" smtClean="0">
                <a:solidFill>
                  <a:schemeClr val="accent5">
                    <a:lumMod val="75000"/>
                  </a:schemeClr>
                </a:solidFill>
                <a:latin typeface="Arial Narrow" pitchFamily="34" charset="0"/>
              </a:rPr>
              <a:t>T</a:t>
            </a:r>
            <a:r>
              <a:rPr kumimoji="1" lang="en-US" altLang="ko-KR" sz="2800" b="1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reatment for </a:t>
            </a:r>
            <a:r>
              <a:rPr kumimoji="1" lang="en-US" altLang="ko-KR" sz="2800" b="1" dirty="0" smtClean="0">
                <a:solidFill>
                  <a:schemeClr val="accent5">
                    <a:lumMod val="75000"/>
                  </a:schemeClr>
                </a:solidFill>
                <a:latin typeface="Arial Narrow" pitchFamily="34" charset="0"/>
              </a:rPr>
              <a:t>OCD</a:t>
            </a:r>
            <a:endParaRPr lang="ko-KR" altLang="en-US" sz="28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785813" y="3357563"/>
            <a:ext cx="7715250" cy="2092325"/>
          </a:xfrm>
        </p:spPr>
        <p:txBody>
          <a:bodyPr/>
          <a:lstStyle/>
          <a:p>
            <a:pPr eaLnBrk="1" hangingPunct="1"/>
            <a:endParaRPr lang="en-US" altLang="ko-KR" sz="2400" dirty="0" smtClean="0">
              <a:solidFill>
                <a:schemeClr val="tx1"/>
              </a:solidFill>
            </a:endParaRPr>
          </a:p>
          <a:p>
            <a:pPr eaLnBrk="1" hangingPunct="1"/>
            <a:r>
              <a:rPr lang="en-US" altLang="ko-KR" b="1" dirty="0" smtClean="0">
                <a:solidFill>
                  <a:srgbClr val="FF7C80"/>
                </a:solidFill>
              </a:rPr>
              <a:t>Session 8</a:t>
            </a:r>
            <a:endParaRPr lang="ko-KR" altLang="en-US" sz="2800" b="1" dirty="0" smtClean="0">
              <a:solidFill>
                <a:srgbClr val="FF7C8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4375" y="3071813"/>
            <a:ext cx="77152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714375" y="1857375"/>
            <a:ext cx="77152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5" y="5429250"/>
            <a:ext cx="9144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직선 연결선 11"/>
          <p:cNvCxnSpPr/>
          <p:nvPr/>
        </p:nvCxnSpPr>
        <p:spPr>
          <a:xfrm>
            <a:off x="785813" y="2357438"/>
            <a:ext cx="77152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785813" y="1143000"/>
            <a:ext cx="77152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2"/>
          <p:cNvSpPr txBox="1">
            <a:spLocks noChangeArrowheads="1"/>
          </p:cNvSpPr>
          <p:nvPr/>
        </p:nvSpPr>
        <p:spPr bwMode="auto">
          <a:xfrm>
            <a:off x="1000125" y="928688"/>
            <a:ext cx="7239000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kumimoji="0" lang="en-US" altLang="ko-KR" sz="2400" b="1" dirty="0">
                <a:latin typeface="맑은 고딕" pitchFamily="50" charset="-127"/>
                <a:ea typeface="맑은 고딕" pitchFamily="50" charset="-127"/>
                <a:cs typeface="+mj-cs"/>
              </a:rPr>
              <a:t> </a:t>
            </a:r>
            <a:r>
              <a:rPr kumimoji="0" lang="en-US" altLang="ko-KR" sz="2000" b="1" dirty="0" smtClean="0">
                <a:latin typeface="맑은 고딕" pitchFamily="50" charset="-127"/>
                <a:ea typeface="맑은 고딕" pitchFamily="50" charset="-127"/>
                <a:cs typeface="+mj-cs"/>
              </a:rPr>
              <a:t>8</a:t>
            </a:r>
            <a:r>
              <a:rPr kumimoji="0" lang="ko-KR" altLang="en-US" sz="2000" b="1" dirty="0" smtClean="0">
                <a:latin typeface="맑은 고딕" pitchFamily="50" charset="-127"/>
                <a:ea typeface="맑은 고딕" pitchFamily="50" charset="-127"/>
                <a:cs typeface="+mj-cs"/>
              </a:rPr>
              <a:t>주차 </a:t>
            </a:r>
            <a:r>
              <a:rPr kumimoji="0" lang="ko-KR" altLang="en-US" sz="2000" b="1" dirty="0">
                <a:latin typeface="맑은 고딕" pitchFamily="50" charset="-127"/>
                <a:ea typeface="맑은 고딕" pitchFamily="50" charset="-127"/>
                <a:cs typeface="+mj-cs"/>
              </a:rPr>
              <a:t>인지행동치료 프로그램 </a:t>
            </a:r>
            <a:r>
              <a:rPr kumimoji="0" lang="en-US" altLang="ko-KR" sz="2800" b="1" dirty="0">
                <a:latin typeface="맑은 고딕" pitchFamily="50" charset="-127"/>
                <a:ea typeface="맑은 고딕" pitchFamily="50" charset="-127"/>
                <a:cs typeface="+mj-cs"/>
              </a:rPr>
              <a:t/>
            </a:r>
            <a:br>
              <a:rPr kumimoji="0" lang="en-US" altLang="ko-KR" sz="2800" b="1" dirty="0">
                <a:latin typeface="맑은 고딕" pitchFamily="50" charset="-127"/>
                <a:ea typeface="맑은 고딕" pitchFamily="50" charset="-127"/>
                <a:cs typeface="+mj-cs"/>
              </a:rPr>
            </a:br>
            <a:r>
              <a:rPr kumimoji="0" lang="en-US" altLang="ko-KR" sz="2800" b="1" dirty="0" smtClean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 </a:t>
            </a:r>
            <a:r>
              <a:rPr kumimoji="0" lang="ko-KR" altLang="en-US" sz="2800" b="1" dirty="0" smtClean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중간평가 </a:t>
            </a:r>
            <a:r>
              <a:rPr kumimoji="0" lang="en-US" altLang="ko-KR" sz="2800" b="1" dirty="0" smtClean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&amp; </a:t>
            </a:r>
            <a:r>
              <a:rPr kumimoji="0" lang="ko-KR" altLang="en-US" sz="2800" b="1" dirty="0" err="1" smtClean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강박증의</a:t>
            </a:r>
            <a:r>
              <a:rPr kumimoji="0" lang="ko-KR" altLang="en-US" sz="2800" b="1" dirty="0" smtClean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 </a:t>
            </a:r>
            <a:r>
              <a:rPr kumimoji="0" lang="ko-KR" altLang="en-US" sz="3200" b="1" dirty="0" smtClean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인지</a:t>
            </a:r>
            <a:r>
              <a:rPr kumimoji="0" lang="ko-KR" altLang="en-US" sz="2800" b="1" dirty="0" smtClean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모델소개</a:t>
            </a:r>
            <a:endParaRPr kumimoji="0" lang="ko-KR" altLang="en-US" sz="2800" b="1" dirty="0">
              <a:solidFill>
                <a:srgbClr val="FF7C80"/>
              </a:solidFill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grpSp>
        <p:nvGrpSpPr>
          <p:cNvPr id="4104" name="그룹 9"/>
          <p:cNvGrpSpPr>
            <a:grpSpLocks/>
          </p:cNvGrpSpPr>
          <p:nvPr/>
        </p:nvGrpSpPr>
        <p:grpSpPr bwMode="auto">
          <a:xfrm>
            <a:off x="933450" y="2636912"/>
            <a:ext cx="7500938" cy="3005198"/>
            <a:chOff x="1428728" y="4786322"/>
            <a:chExt cx="7143800" cy="3007574"/>
          </a:xfrm>
        </p:grpSpPr>
        <p:sp>
          <p:nvSpPr>
            <p:cNvPr id="18" name="TextBox 17"/>
            <p:cNvSpPr txBox="1"/>
            <p:nvPr/>
          </p:nvSpPr>
          <p:spPr>
            <a:xfrm>
              <a:off x="1428728" y="4929311"/>
              <a:ext cx="7143800" cy="28645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buFont typeface="Arial" pitchFamily="34" charset="0"/>
                <a:buChar char="•"/>
                <a:defRPr/>
              </a:pPr>
              <a:endParaRPr lang="en-US" altLang="ko-KR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r>
                <a:rPr lang="en-US" altLang="ko-KR" b="1" dirty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 1.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인지치료</a:t>
              </a: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인지적 전략의 역할과 목표</a:t>
              </a: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r>
                <a:rPr lang="en-US" altLang="ko-KR" b="1" dirty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 2</a:t>
              </a: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인지모델 교육</a:t>
              </a: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, ‘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침투사고</a:t>
              </a: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’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이해하기</a:t>
              </a: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r>
                <a:rPr lang="en-US" altLang="ko-KR" b="1" dirty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 3. </a:t>
              </a:r>
              <a:r>
                <a:rPr lang="ko-KR" altLang="en-US" b="1" dirty="0" err="1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강박증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 신념 유형</a:t>
              </a: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흔히 범하는 인지적 오류들</a:t>
              </a:r>
              <a:endParaRPr lang="en-US" altLang="ko-KR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 4.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사고 기록지 소개</a:t>
              </a:r>
              <a:endParaRPr lang="en-US" altLang="ko-KR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endParaRPr lang="en-US" altLang="ko-KR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 5.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중간평가 </a:t>
              </a: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: symptom checklist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작성</a:t>
              </a: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06" name="TextBox 9"/>
            <p:cNvSpPr txBox="1">
              <a:spLocks noChangeArrowheads="1"/>
            </p:cNvSpPr>
            <p:nvPr/>
          </p:nvSpPr>
          <p:spPr bwMode="auto">
            <a:xfrm>
              <a:off x="1643042" y="4786322"/>
              <a:ext cx="1857388" cy="338822"/>
            </a:xfrm>
            <a:prstGeom prst="rect">
              <a:avLst/>
            </a:prstGeom>
            <a:solidFill>
              <a:srgbClr val="003366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오늘의 목표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755575" y="1412776"/>
            <a:ext cx="7357493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인지치료로 넘어가기 전에 점검할 질문들</a:t>
            </a: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1. </a:t>
            </a: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불안은 어떻게 감소됩니까</a:t>
            </a: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?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2. </a:t>
            </a: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강박행동이 왜 반복됩니까</a:t>
            </a: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? </a:t>
            </a: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그러한 회피는 어떤 역할을 하나요</a:t>
            </a: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?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3. ERP(</a:t>
            </a: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노출</a:t>
            </a: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반응방지기법</a:t>
            </a: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은 왜 강박증 치료에 필요할까요</a:t>
            </a: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?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4. </a:t>
            </a: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원치 않는 불쾌한 침투사고들을 보통 사람들도 경험할까요</a:t>
            </a: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?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600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인지치료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인지적 전략의 역할과 목표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827584" y="2060848"/>
            <a:ext cx="7272808" cy="33123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683568" y="1484784"/>
            <a:ext cx="7992887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kumimoji="0" lang="ko-KR" altLang="en-US" sz="280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</a:t>
            </a:r>
            <a:r>
              <a:rPr kumimoji="0" lang="ko-KR" altLang="en-US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지</a:t>
            </a:r>
            <a:r>
              <a:rPr kumimoji="0" lang="en-US" altLang="ko-KR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: ‘</a:t>
            </a:r>
            <a:r>
              <a:rPr kumimoji="0" lang="ko-KR" altLang="en-US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생각하는 방식</a:t>
            </a:r>
            <a:r>
              <a:rPr kumimoji="0" lang="en-US" altLang="ko-KR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세상을 바라보고 해석하는 방식</a:t>
            </a:r>
            <a:r>
              <a:rPr kumimoji="0" lang="en-US" altLang="ko-KR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’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</a:t>
            </a: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인지치료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인지적 전략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의 역할과 목표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이등변 삼각형 10"/>
          <p:cNvSpPr/>
          <p:nvPr/>
        </p:nvSpPr>
        <p:spPr>
          <a:xfrm>
            <a:off x="3637636" y="2852936"/>
            <a:ext cx="2952328" cy="2304256"/>
          </a:xfrm>
          <a:prstGeom prst="triangle">
            <a:avLst>
              <a:gd name="adj" fmla="val 50000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282591" y="2204864"/>
            <a:ext cx="16209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+mj-ea"/>
                <a:ea typeface="+mj-ea"/>
              </a:rPr>
              <a:t>느낌</a:t>
            </a:r>
            <a:endParaRPr lang="en-US" altLang="ko-KR" b="1" dirty="0" smtClean="0">
              <a:latin typeface="+mj-ea"/>
              <a:ea typeface="+mj-ea"/>
            </a:endParaRPr>
          </a:p>
          <a:p>
            <a:pPr algn="ctr"/>
            <a:r>
              <a:rPr lang="en-US" altLang="ko-KR" b="1" dirty="0" smtClean="0">
                <a:latin typeface="+mj-ea"/>
                <a:ea typeface="+mj-ea"/>
              </a:rPr>
              <a:t>(</a:t>
            </a:r>
            <a:r>
              <a:rPr lang="ko-KR" altLang="en-US" b="1" dirty="0" smtClean="0">
                <a:latin typeface="+mj-ea"/>
                <a:ea typeface="+mj-ea"/>
              </a:rPr>
              <a:t>정서</a:t>
            </a:r>
            <a:r>
              <a:rPr lang="en-US" altLang="ko-KR" b="1" dirty="0" smtClean="0">
                <a:latin typeface="+mj-ea"/>
                <a:ea typeface="+mj-ea"/>
              </a:rPr>
              <a:t>, </a:t>
            </a:r>
            <a:r>
              <a:rPr lang="ko-KR" altLang="en-US" b="1" dirty="0" smtClean="0">
                <a:latin typeface="+mj-ea"/>
                <a:ea typeface="+mj-ea"/>
              </a:rPr>
              <a:t>기분</a:t>
            </a:r>
            <a:r>
              <a:rPr lang="en-US" altLang="ko-KR" b="1" dirty="0" smtClean="0">
                <a:latin typeface="+mj-ea"/>
                <a:ea typeface="+mj-ea"/>
              </a:rPr>
              <a:t>…)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991304" y="4869160"/>
            <a:ext cx="646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+mj-ea"/>
                <a:ea typeface="+mj-ea"/>
              </a:rPr>
              <a:t>사고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61972" y="4869160"/>
            <a:ext cx="646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+mj-ea"/>
                <a:ea typeface="+mj-ea"/>
              </a:rPr>
              <a:t>행동</a:t>
            </a:r>
            <a:endParaRPr lang="ko-KR" altLang="en-US" b="1" dirty="0">
              <a:latin typeface="+mj-ea"/>
              <a:ea typeface="+mj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rot="5400000">
            <a:off x="3205588" y="3356992"/>
            <a:ext cx="1656184" cy="108012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rot="10800000" flipV="1">
            <a:off x="3853660" y="5436839"/>
            <a:ext cx="2592288" cy="8384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rot="16200000" flipV="1">
            <a:off x="5289628" y="3280792"/>
            <a:ext cx="1800199" cy="123252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형 설명선 23"/>
          <p:cNvSpPr/>
          <p:nvPr/>
        </p:nvSpPr>
        <p:spPr>
          <a:xfrm>
            <a:off x="973340" y="3212976"/>
            <a:ext cx="2520280" cy="1656184"/>
          </a:xfrm>
          <a:prstGeom prst="wedgeEllipseCallout">
            <a:avLst>
              <a:gd name="adj1" fmla="val 28192"/>
              <a:gd name="adj2" fmla="val 569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정서적인 반응은 그 상황에 대한 나의 해석에 따라 달라진다</a:t>
            </a:r>
            <a:endParaRPr lang="en-US" altLang="ko-KR" sz="16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683568" y="1412776"/>
            <a:ext cx="7992887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대부분의 사람들은 자신이 상황을 해석하고 있다는 사실을 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ct val="20000"/>
              </a:spcBef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알아차리지 못하고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상황에 대한 자신의 지각이 진실이라고 간단히 생각한다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spcBef>
                <a:spcPct val="20000"/>
              </a:spcBef>
              <a:defRPr/>
            </a:pPr>
            <a:r>
              <a:rPr kumimoji="0" lang="ko-KR" altLang="en-US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이러한 </a:t>
            </a:r>
            <a:r>
              <a:rPr kumimoji="0" lang="ko-KR" altLang="en-US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해석은 너무나 빠르게 </a:t>
            </a:r>
            <a:r>
              <a:rPr kumimoji="0" lang="ko-KR" altLang="en-US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일어나기 때문에 대부분의 사람들은</a:t>
            </a:r>
            <a:endParaRPr kumimoji="0" lang="en-US" altLang="ko-KR" u="sng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ct val="20000"/>
              </a:spcBef>
              <a:defRPr/>
            </a:pPr>
            <a:r>
              <a:rPr kumimoji="0" lang="ko-KR" altLang="en-US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해석에 뒤따르는 정서의 변화만을 알아차릴 뿐이다</a:t>
            </a:r>
            <a:r>
              <a:rPr kumimoji="0" lang="en-US" altLang="ko-KR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Q. </a:t>
            </a:r>
            <a:r>
              <a:rPr kumimoji="0" lang="ko-KR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사람마다 똑같은 상황에 대해서 다르게 해석하는 것은 왜 일까</a:t>
            </a:r>
            <a:r>
              <a:rPr kumimoji="0"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?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A. </a:t>
            </a:r>
            <a:r>
              <a:rPr kumimoji="0" lang="ko-KR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두 사람이 가지는 </a:t>
            </a:r>
            <a:r>
              <a:rPr kumimoji="0" lang="ko-KR" altLang="en-US" u="sng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다른 </a:t>
            </a:r>
            <a:r>
              <a:rPr kumimoji="0" lang="ko-KR" altLang="en-US" sz="24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신념</a:t>
            </a:r>
            <a:r>
              <a:rPr kumimoji="0" lang="ko-KR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에서부터 발생하는 것이다</a:t>
            </a:r>
            <a:r>
              <a:rPr kumimoji="0"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즉</a:t>
            </a:r>
            <a:r>
              <a:rPr kumimoji="0"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인지치료의 목표는</a:t>
            </a:r>
            <a:r>
              <a:rPr kumimoji="0"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:</a:t>
            </a:r>
          </a:p>
          <a:p>
            <a:pPr marL="342900" indent="-342900">
              <a:spcBef>
                <a:spcPct val="20000"/>
              </a:spcBef>
              <a:buAutoNum type="arabicParenR"/>
              <a:defRPr/>
            </a:pPr>
            <a:r>
              <a:rPr kumimoji="0" lang="ko-KR" altLang="en-US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나의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자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동적인 생각들을 찾아내고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AutoNum type="arabicParenR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여기에 주로 어떠한 </a:t>
            </a:r>
            <a:r>
              <a:rPr kumimoji="0"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오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류들이 개입되어 있었는지 확인한 후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</a:t>
            </a:r>
          </a:p>
          <a:p>
            <a:pPr marL="342900" indent="-342900">
              <a:spcBef>
                <a:spcPct val="20000"/>
              </a:spcBef>
              <a:buAutoNum type="arabicParenR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이를 보다 </a:t>
            </a:r>
            <a:r>
              <a:rPr kumimoji="0"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합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리적이고 적응적인 생각들로 변화시키는 것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인지치료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인지적 전략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의 역할과 목표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7" name="Picture 2" descr="D:\SNUH\2010-상반기\기타 신샘자료\Self\How-Does-Cognitive-Behavioral-Therapy-Work.jpg"/>
          <p:cNvPicPr>
            <a:picLocks noChangeAspect="1" noChangeArrowheads="1"/>
          </p:cNvPicPr>
          <p:nvPr/>
        </p:nvPicPr>
        <p:blipFill>
          <a:blip r:embed="rId4" cstate="print"/>
          <a:srcRect l="16000" t="8125"/>
          <a:stretch>
            <a:fillRect/>
          </a:stretch>
        </p:blipFill>
        <p:spPr bwMode="auto">
          <a:xfrm>
            <a:off x="7308304" y="3429000"/>
            <a:ext cx="1728192" cy="252028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814908" y="1412776"/>
            <a:ext cx="7429501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인지모델 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침투 사고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8"/>
          <p:cNvSpPr txBox="1">
            <a:spLocks noChangeArrowheads="1"/>
          </p:cNvSpPr>
          <p:nvPr/>
        </p:nvSpPr>
        <p:spPr bwMode="auto">
          <a:xfrm>
            <a:off x="539552" y="1412776"/>
            <a:ext cx="8208912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sz="2000" b="1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침투 사고</a:t>
            </a:r>
            <a:r>
              <a:rPr kumimoji="0" lang="en-US" altLang="ko-KR" sz="2000" b="1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(Intrusive thoughts)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머리 속에 언어 혹은 심상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충동의 형태로 갑자기 빠르게 스쳐간다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의도적으로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혹은 </a:t>
            </a:r>
            <a:r>
              <a:rPr kumimoji="0"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심사숙고해서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형성되는 것이 아니다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어떠한 상황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혹은 우울한 기분과 같은 내적 사건에 의해 촉발될 수 있다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약간만 훈련하면 주로 경험하는 자동적인 침투사고를 찾아낼 수 있다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보통 사람의 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80-90%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가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거의 모든 사람들이</a:t>
            </a:r>
            <a:r>
              <a:rPr kumimoji="0" lang="en-US" altLang="ko-KR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!)</a:t>
            </a:r>
            <a:r>
              <a:rPr kumimoji="0" lang="ko-KR" altLang="en-US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이러한 침투사고를 경험한다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예를 들어</a:t>
            </a:r>
            <a:r>
              <a:rPr kumimoji="0"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: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* </a:t>
            </a:r>
            <a:r>
              <a:rPr kumimoji="0"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내가 </a:t>
            </a:r>
            <a:r>
              <a:rPr kumimoji="0"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‘</a:t>
            </a:r>
            <a:r>
              <a:rPr kumimoji="0"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안녕</a:t>
            </a:r>
            <a:r>
              <a:rPr kumimoji="0"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이라고 말하지 않으면 집에 남아있는 누군가가 죽을 지도 모른다는 생각</a:t>
            </a:r>
            <a:endParaRPr kumimoji="0"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* </a:t>
            </a:r>
            <a:r>
              <a:rPr kumimoji="0"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가족 중 누군가가 죽거나 살인자가 되는 생각</a:t>
            </a:r>
            <a:endParaRPr kumimoji="0"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* </a:t>
            </a:r>
            <a:r>
              <a:rPr kumimoji="0"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공공 수영장에서 심각한 피부병이 옮는다는 생각</a:t>
            </a:r>
            <a:endParaRPr kumimoji="0"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* </a:t>
            </a:r>
            <a:r>
              <a:rPr kumimoji="0"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전기 기구를 켜 놓고 나와서 집이 모두 불에 타버리는 장면</a:t>
            </a:r>
            <a:endParaRPr kumimoji="0"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* </a:t>
            </a:r>
            <a:r>
              <a:rPr kumimoji="0"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값비싼 유리 공예로 가득 찬 테이블을 박살내버리는 장면</a:t>
            </a:r>
            <a:endParaRPr kumimoji="0"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* </a:t>
            </a:r>
            <a:r>
              <a:rPr kumimoji="0" lang="ko-KR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시험 문제를 잘못 읽거나 답안지를 밀려 써서 대학에 떨어질 수도 있다는 생각</a:t>
            </a:r>
            <a:endParaRPr kumimoji="0"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814908" y="1412776"/>
            <a:ext cx="7429501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인지모델 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침투 사고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8"/>
          <p:cNvSpPr txBox="1">
            <a:spLocks noChangeArrowheads="1"/>
          </p:cNvSpPr>
          <p:nvPr/>
        </p:nvSpPr>
        <p:spPr bwMode="auto">
          <a:xfrm>
            <a:off x="539552" y="1412776"/>
            <a:ext cx="8352928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sz="2000" b="1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침투 사고</a:t>
            </a:r>
            <a:r>
              <a:rPr kumimoji="0" lang="en-US" altLang="ko-KR" sz="2000" b="1" dirty="0" smtClean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(Intrusive thoughts)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강박증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환자들만이 이러한 종류의 사고나 심상을 가지는 것이 아니다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그보다는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이러한 </a:t>
            </a:r>
            <a:r>
              <a:rPr kumimoji="0" lang="ko-KR" altLang="en-US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사고에 부여하는 의미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가 중요하다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!    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강박증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환자들은 주로 침투사고가 그 자체로 끔찍하다고 여기거나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자신이 이상하거나 심지어는 나쁜 사람이라고 생각하기도 한다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또 이러한 사고를 반드시 통제해야 하며 이것이 가능하다고 믿는다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마음속에 떠오르지 않았다는 것을 확신하기 위해 사고에 더욱 집중하게 된다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 algn="ctr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</a:t>
            </a:r>
            <a:r>
              <a:rPr kumimoji="0"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나에게 강박사고</a:t>
            </a:r>
            <a:r>
              <a:rPr kumimoji="0"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강박행동을 지속하게 만드는 침투사고는</a:t>
            </a:r>
            <a:r>
              <a:rPr kumimoji="0"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?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899592" y="4005064"/>
            <a:ext cx="7776864" cy="1800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814908" y="1412776"/>
            <a:ext cx="7429501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강박증상에 기여하고 증상을 유지시키는 요인들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8"/>
          <p:cNvSpPr txBox="1">
            <a:spLocks noChangeArrowheads="1"/>
          </p:cNvSpPr>
          <p:nvPr/>
        </p:nvSpPr>
        <p:spPr bwMode="auto">
          <a:xfrm>
            <a:off x="827584" y="1628800"/>
            <a:ext cx="7128792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전형적으로 강박증상을 촉발시키는 상황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부적응적인 강박적 사고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심상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충동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강박적 침투사고에 대한 해석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강박행동 및 회피 전략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증상에 기여하는 핵심 신념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(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자기 자신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세상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타인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미래에 대한 자신의 관점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강박증상과 신념에 기여하는 과거의 개인적 경험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(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예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가족경험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의학적 </a:t>
            </a:r>
            <a:r>
              <a:rPr kumimoji="0"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과거력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가족력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…)</a:t>
            </a:r>
          </a:p>
          <a:p>
            <a:pPr marL="342900" indent="-342900">
              <a:spcBef>
                <a:spcPct val="20000"/>
              </a:spcBef>
              <a:buFontTx/>
              <a:buChar char="-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또는 최근의 스트레스 요인 및 문제에 기여하는 기분 상태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(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예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공존장애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우울증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사회불안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시험불안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…)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2000" dirty="0" smtClean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endParaRPr kumimoji="0"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814908" y="1412776"/>
            <a:ext cx="7429501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2. Cognitive model of OCD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8"/>
          <p:cNvSpPr txBox="1">
            <a:spLocks noChangeArrowheads="1"/>
          </p:cNvSpPr>
          <p:nvPr/>
        </p:nvSpPr>
        <p:spPr bwMode="auto">
          <a:xfrm>
            <a:off x="539552" y="1412776"/>
            <a:ext cx="8352928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kumimoji="0"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2000" dirty="0" smtClean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endParaRPr kumimoji="0"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971600" y="1700808"/>
            <a:ext cx="1728192" cy="685477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dirty="0" smtClean="0">
                <a:latin typeface="+mn-ea"/>
                <a:ea typeface="+mn-ea"/>
              </a:rPr>
              <a:t>신념</a:t>
            </a:r>
            <a:endParaRPr lang="en-US" dirty="0">
              <a:latin typeface="+mn-ea"/>
              <a:ea typeface="+mn-ea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971600" y="2996952"/>
            <a:ext cx="1728192" cy="901501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dirty="0" smtClean="0">
                <a:latin typeface="+mn-ea"/>
                <a:ea typeface="+mn-ea"/>
              </a:rPr>
              <a:t>환경과 경험</a:t>
            </a:r>
            <a:endParaRPr lang="en-US" altLang="ko-KR" dirty="0" smtClean="0">
              <a:latin typeface="+mn-ea"/>
              <a:ea typeface="+mn-ea"/>
            </a:endParaRPr>
          </a:p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sz="1400" dirty="0" smtClean="0">
                <a:latin typeface="+mn-ea"/>
                <a:ea typeface="+mn-ea"/>
              </a:rPr>
              <a:t>문화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sz="1400" dirty="0" smtClean="0">
                <a:latin typeface="+mn-ea"/>
                <a:ea typeface="+mn-ea"/>
              </a:rPr>
              <a:t>개인적 경험</a:t>
            </a:r>
            <a:endParaRPr lang="en-US" dirty="0">
              <a:latin typeface="+mn-ea"/>
              <a:ea typeface="+mn-ea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971600" y="4471715"/>
            <a:ext cx="1728192" cy="901501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dirty="0" smtClean="0">
                <a:latin typeface="+mn-ea"/>
                <a:ea typeface="+mn-ea"/>
              </a:rPr>
              <a:t>생물학적 요인</a:t>
            </a:r>
            <a:endParaRPr lang="en-US" altLang="ko-KR" dirty="0" smtClean="0">
              <a:latin typeface="+mn-ea"/>
              <a:ea typeface="+mn-ea"/>
            </a:endParaRPr>
          </a:p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sz="1400" dirty="0" smtClean="0">
                <a:latin typeface="+mn-ea"/>
                <a:ea typeface="+mn-ea"/>
              </a:rPr>
              <a:t>유전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sz="1400" dirty="0" smtClean="0">
                <a:latin typeface="+mn-ea"/>
                <a:ea typeface="+mn-ea"/>
              </a:rPr>
              <a:t>건강</a:t>
            </a:r>
            <a:endParaRPr lang="en-US" dirty="0">
              <a:latin typeface="+mn-ea"/>
              <a:ea typeface="+mn-ea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3995936" y="1412776"/>
            <a:ext cx="1728192" cy="685477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sz="1600" dirty="0" smtClean="0">
                <a:latin typeface="+mn-ea"/>
                <a:ea typeface="+mn-ea"/>
              </a:rPr>
              <a:t>내적 또는 외적 촉발자극</a:t>
            </a:r>
            <a:endParaRPr lang="en-US" sz="1600" dirty="0">
              <a:latin typeface="+mn-ea"/>
              <a:ea typeface="+mn-ea"/>
            </a:endParaRP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3995936" y="2348880"/>
            <a:ext cx="1728192" cy="685477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b="1" dirty="0" smtClean="0">
                <a:solidFill>
                  <a:schemeClr val="accent2"/>
                </a:solidFill>
                <a:latin typeface="+mn-ea"/>
                <a:ea typeface="+mn-ea"/>
              </a:rPr>
              <a:t>침투사고</a:t>
            </a:r>
            <a:endParaRPr lang="en-US" altLang="ko-KR" b="1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3995936" y="3356992"/>
            <a:ext cx="1728192" cy="685477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sz="1600" b="1" dirty="0" smtClean="0">
                <a:latin typeface="+mn-ea"/>
                <a:ea typeface="+mn-ea"/>
              </a:rPr>
              <a:t>해석</a:t>
            </a:r>
            <a:endParaRPr lang="en-US" altLang="ko-KR" sz="1600" b="1" dirty="0" smtClean="0">
              <a:latin typeface="+mn-ea"/>
              <a:ea typeface="+mn-ea"/>
            </a:endParaRPr>
          </a:p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sz="1400" dirty="0" smtClean="0">
                <a:latin typeface="+mn-ea"/>
                <a:ea typeface="+mn-ea"/>
              </a:rPr>
              <a:t>인지적 오류</a:t>
            </a:r>
            <a:endParaRPr lang="en-US" altLang="ko-KR" sz="1400" dirty="0" smtClean="0">
              <a:latin typeface="+mn-ea"/>
              <a:ea typeface="+mn-ea"/>
            </a:endParaRP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3995936" y="4293097"/>
            <a:ext cx="1728192" cy="432048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dirty="0" smtClean="0">
                <a:latin typeface="+mn-ea"/>
                <a:ea typeface="+mn-ea"/>
              </a:rPr>
              <a:t>정서</a:t>
            </a:r>
            <a:endParaRPr lang="en-US" altLang="ko-KR" dirty="0" smtClean="0">
              <a:latin typeface="+mn-ea"/>
              <a:ea typeface="+mn-ea"/>
            </a:endParaRP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3995936" y="5013176"/>
            <a:ext cx="1728192" cy="757485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dirty="0" smtClean="0">
                <a:latin typeface="+mn-ea"/>
                <a:ea typeface="+mn-ea"/>
              </a:rPr>
              <a:t>행동</a:t>
            </a:r>
            <a:endParaRPr lang="en-US" altLang="ko-KR" dirty="0" smtClean="0">
              <a:latin typeface="+mn-ea"/>
              <a:ea typeface="+mn-ea"/>
            </a:endParaRPr>
          </a:p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sz="1400" dirty="0" smtClean="0">
                <a:latin typeface="+mn-ea"/>
                <a:ea typeface="+mn-ea"/>
              </a:rPr>
              <a:t>강박행동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sz="1400" dirty="0" smtClean="0">
                <a:latin typeface="+mn-ea"/>
                <a:ea typeface="+mn-ea"/>
              </a:rPr>
              <a:t>회피</a:t>
            </a:r>
            <a:endParaRPr lang="en-US" altLang="ko-KR" sz="1400" dirty="0" smtClean="0">
              <a:latin typeface="+mn-ea"/>
              <a:ea typeface="+mn-ea"/>
            </a:endParaRPr>
          </a:p>
        </p:txBody>
      </p:sp>
      <p:cxnSp>
        <p:nvCxnSpPr>
          <p:cNvPr id="22" name="직선 화살표 연결선 21"/>
          <p:cNvCxnSpPr>
            <a:stCxn id="9" idx="3"/>
            <a:endCxn id="17" idx="1"/>
          </p:cNvCxnSpPr>
          <p:nvPr/>
        </p:nvCxnSpPr>
        <p:spPr>
          <a:xfrm>
            <a:off x="2699792" y="2043547"/>
            <a:ext cx="1296144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1" idx="3"/>
            <a:endCxn id="18" idx="1"/>
          </p:cNvCxnSpPr>
          <p:nvPr/>
        </p:nvCxnSpPr>
        <p:spPr>
          <a:xfrm>
            <a:off x="2699792" y="3447703"/>
            <a:ext cx="1296144" cy="2520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4" idx="0"/>
            <a:endCxn id="11" idx="2"/>
          </p:cNvCxnSpPr>
          <p:nvPr/>
        </p:nvCxnSpPr>
        <p:spPr>
          <a:xfrm rot="5400000" flipH="1" flipV="1">
            <a:off x="1549065" y="4185084"/>
            <a:ext cx="57326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rot="5400000" flipH="1" flipV="1">
            <a:off x="1549859" y="2706725"/>
            <a:ext cx="57326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9" idx="3"/>
          </p:cNvCxnSpPr>
          <p:nvPr/>
        </p:nvCxnSpPr>
        <p:spPr>
          <a:xfrm>
            <a:off x="2699792" y="2043547"/>
            <a:ext cx="1296144" cy="15294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14" idx="3"/>
          </p:cNvCxnSpPr>
          <p:nvPr/>
        </p:nvCxnSpPr>
        <p:spPr>
          <a:xfrm flipV="1">
            <a:off x="2699792" y="3861048"/>
            <a:ext cx="1296144" cy="10614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14" idx="3"/>
            <a:endCxn id="19" idx="1"/>
          </p:cNvCxnSpPr>
          <p:nvPr/>
        </p:nvCxnSpPr>
        <p:spPr>
          <a:xfrm flipV="1">
            <a:off x="2699792" y="4509121"/>
            <a:ext cx="1296144" cy="4133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5" idx="2"/>
            <a:endCxn id="17" idx="0"/>
          </p:cNvCxnSpPr>
          <p:nvPr/>
        </p:nvCxnSpPr>
        <p:spPr>
          <a:xfrm rot="5400000">
            <a:off x="4734719" y="2223566"/>
            <a:ext cx="25062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rot="5400000">
            <a:off x="4735513" y="3158876"/>
            <a:ext cx="25062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rot="5400000">
            <a:off x="4735513" y="4166988"/>
            <a:ext cx="25062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 rot="5400000">
            <a:off x="4733924" y="4849664"/>
            <a:ext cx="250627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hape 52"/>
          <p:cNvCxnSpPr>
            <a:stCxn id="20" idx="3"/>
          </p:cNvCxnSpPr>
          <p:nvPr/>
        </p:nvCxnSpPr>
        <p:spPr>
          <a:xfrm flipV="1">
            <a:off x="5724128" y="3645024"/>
            <a:ext cx="288032" cy="17468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endCxn id="18" idx="3"/>
          </p:cNvCxnSpPr>
          <p:nvPr/>
        </p:nvCxnSpPr>
        <p:spPr>
          <a:xfrm rot="10800000" flipV="1">
            <a:off x="5724128" y="3645023"/>
            <a:ext cx="288032" cy="547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11"/>
          <p:cNvSpPr>
            <a:spLocks noChangeArrowheads="1"/>
          </p:cNvSpPr>
          <p:nvPr/>
        </p:nvSpPr>
        <p:spPr bwMode="auto">
          <a:xfrm>
            <a:off x="7020272" y="1772816"/>
            <a:ext cx="936104" cy="3744416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ctr">
              <a:lnSpc>
                <a:spcPct val="110000"/>
              </a:lnSpc>
              <a:defRPr/>
            </a:pPr>
            <a:r>
              <a:rPr lang="ko-KR" altLang="en-US" dirty="0" smtClean="0">
                <a:latin typeface="+mn-ea"/>
                <a:ea typeface="+mn-ea"/>
              </a:rPr>
              <a:t>기분</a:t>
            </a:r>
            <a:endParaRPr lang="en-US" dirty="0">
              <a:latin typeface="+mn-ea"/>
              <a:ea typeface="+mn-ea"/>
            </a:endParaRPr>
          </a:p>
        </p:txBody>
      </p:sp>
      <p:cxnSp>
        <p:nvCxnSpPr>
          <p:cNvPr id="60" name="직선 화살표 연결선 59"/>
          <p:cNvCxnSpPr/>
          <p:nvPr/>
        </p:nvCxnSpPr>
        <p:spPr>
          <a:xfrm rot="10800000">
            <a:off x="6588224" y="3068960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rot="10800000">
            <a:off x="6588224" y="2276872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 rot="10800000">
            <a:off x="6588224" y="3933056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 rot="10800000">
            <a:off x="6588225" y="4795563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683569" y="1412776"/>
            <a:ext cx="7429500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600" b="1" dirty="0" err="1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강박증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 신념 유형     </a:t>
            </a:r>
            <a:r>
              <a:rPr kumimoji="0" lang="ko-KR" altLang="en-US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자신에게 가장 잘 적용되는 </a:t>
            </a:r>
            <a:r>
              <a:rPr kumimoji="0" lang="ko-KR" altLang="en-US" sz="14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강박증</a:t>
            </a:r>
            <a:r>
              <a:rPr kumimoji="0" lang="ko-KR" altLang="en-US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기저 신념은 무엇인가요</a:t>
            </a:r>
            <a:r>
              <a:rPr kumimoji="0" lang="en-US" altLang="ko-KR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? </a:t>
            </a:r>
            <a:endParaRPr lang="en-US" altLang="ko-KR" sz="1400" b="1" i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683568" y="1412776"/>
          <a:ext cx="7776864" cy="426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/>
                <a:gridCol w="5904656"/>
              </a:tblGrid>
              <a:tr h="470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신념 유형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내     용</a:t>
                      </a:r>
                      <a:endParaRPr lang="ko-KR" altLang="en-US" dirty="0"/>
                    </a:p>
                  </a:txBody>
                  <a:tcPr/>
                </a:tc>
              </a:tr>
              <a:tr h="860064">
                <a:tc>
                  <a:txBody>
                    <a:bodyPr/>
                    <a:lstStyle/>
                    <a:p>
                      <a:pPr marL="266700" indent="-266700" latinLnBrk="1"/>
                      <a:r>
                        <a:rPr lang="ko-KR" altLang="en-US" sz="1600" dirty="0" smtClean="0"/>
                        <a:t>생각을 과도하게</a:t>
                      </a:r>
                      <a:endParaRPr lang="en-US" altLang="ko-KR" sz="1600" dirty="0" smtClean="0"/>
                    </a:p>
                    <a:p>
                      <a:pPr marL="266700" indent="-266700" latinLnBrk="1"/>
                      <a:r>
                        <a:rPr lang="ko-KR" altLang="en-US" sz="1600" dirty="0" smtClean="0"/>
                        <a:t>중요시 여김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kumimoji="0" lang="en-US" altLang="ko-KR" sz="16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0" lang="ko-KR" altLang="en-US" sz="16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정상적인 사람이라면 이런 생각을 하지 않겠지</a:t>
                      </a:r>
                      <a:r>
                        <a:rPr kumimoji="0" lang="en-US" altLang="ko-KR" sz="16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?’</a:t>
                      </a:r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kumimoji="0" lang="ko-KR" altLang="en-US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단순히 생각</a:t>
                      </a:r>
                      <a:r>
                        <a:rPr kumimoji="0" lang="en-US" altLang="ko-KR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0" lang="ko-KR" altLang="en-US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충동을 가지고 있는 것 만으로도 실제로 그 일이 </a:t>
                      </a:r>
                      <a:endParaRPr kumimoji="0" lang="en-US" altLang="ko-KR" sz="16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kumimoji="0" lang="ko-KR" altLang="en-US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일어날 가능성이 커진다고 생각함</a:t>
                      </a:r>
                      <a:r>
                        <a:rPr kumimoji="0" lang="en-US" altLang="ko-KR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사고</a:t>
                      </a:r>
                      <a:r>
                        <a:rPr kumimoji="0" lang="en-US" altLang="ko-KR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r>
                        <a:rPr kumimoji="0" lang="ko-KR" altLang="en-US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행위 융합</a:t>
                      </a:r>
                      <a:r>
                        <a:rPr kumimoji="0" lang="en-US" altLang="ko-KR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마술적 사고</a:t>
                      </a:r>
                      <a:r>
                        <a:rPr kumimoji="0" lang="en-US" altLang="ko-KR" sz="16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/>
                </a:tc>
              </a:tr>
              <a:tr h="8600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과도한 책임감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600" dirty="0" smtClean="0"/>
                        <a:t>자신의 통제 범위를 벗어나는 사건에 대한 지나친 책임감</a:t>
                      </a:r>
                      <a:endParaRPr lang="en-US" altLang="ko-KR" sz="1600" dirty="0" smtClean="0"/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600" dirty="0" smtClean="0"/>
                        <a:t>부정적 결과를 스스로의 힘으로 예방할 수 있다는 신념</a:t>
                      </a:r>
                      <a:endParaRPr lang="en-US" altLang="ko-KR" sz="1600" dirty="0" smtClean="0"/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600" dirty="0" smtClean="0"/>
                        <a:t>결과적으로 죄책감을 유발하며 이를 덜기 위해 강박행동 발생</a:t>
                      </a:r>
                      <a:endParaRPr lang="ko-KR" altLang="en-US" sz="1600" dirty="0"/>
                    </a:p>
                  </a:txBody>
                  <a:tcPr/>
                </a:tc>
              </a:tr>
              <a:tr h="6055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완벽주의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600" dirty="0" smtClean="0"/>
                        <a:t>완벽한 상태가 존재한다는 신념</a:t>
                      </a:r>
                      <a:r>
                        <a:rPr lang="en-US" altLang="ko-KR" sz="1600" dirty="0" smtClean="0"/>
                        <a:t>.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smtClean="0"/>
                        <a:t>‘</a:t>
                      </a:r>
                      <a:r>
                        <a:rPr lang="ko-KR" altLang="en-US" sz="1600" dirty="0" smtClean="0"/>
                        <a:t>딱 들어맞을 때 까지</a:t>
                      </a:r>
                      <a:r>
                        <a:rPr lang="en-US" altLang="ko-KR" sz="1600" dirty="0" smtClean="0"/>
                        <a:t>’</a:t>
                      </a:r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600" dirty="0" smtClean="0"/>
                        <a:t>실패에 대한 두려움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사소한 실수를 용납하지 못함</a:t>
                      </a:r>
                      <a:endParaRPr lang="ko-KR" altLang="en-US" sz="1600" dirty="0"/>
                    </a:p>
                  </a:txBody>
                  <a:tcPr/>
                </a:tc>
              </a:tr>
              <a:tr h="6605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위험에 대한</a:t>
                      </a:r>
                      <a:endParaRPr lang="en-US" altLang="ko-KR" sz="1600" dirty="0" smtClean="0"/>
                    </a:p>
                    <a:p>
                      <a:pPr latinLnBrk="1"/>
                      <a:r>
                        <a:rPr lang="ko-KR" altLang="en-US" sz="1600" dirty="0" smtClean="0"/>
                        <a:t>과대 추정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600" dirty="0" smtClean="0"/>
                        <a:t>명확한 안전함의 증거가 발견되지 않으면 위험하다고 생각</a:t>
                      </a:r>
                      <a:endParaRPr lang="en-US" altLang="ko-KR" sz="1600" dirty="0" smtClean="0"/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600" dirty="0" smtClean="0"/>
                        <a:t>두드러진 사건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신문기사 등</a:t>
                      </a:r>
                      <a:r>
                        <a:rPr lang="en-US" altLang="ko-KR" sz="1600" dirty="0" smtClean="0"/>
                        <a:t>)</a:t>
                      </a:r>
                      <a:r>
                        <a:rPr lang="ko-KR" altLang="en-US" sz="1600" dirty="0" smtClean="0"/>
                        <a:t>에 과도하게 의존하여 예측함</a:t>
                      </a:r>
                      <a:endParaRPr lang="ko-KR" altLang="en-US" sz="1600" dirty="0"/>
                    </a:p>
                  </a:txBody>
                  <a:tcPr/>
                </a:tc>
              </a:tr>
              <a:tr h="6605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불안의 결과에 </a:t>
                      </a:r>
                      <a:endParaRPr lang="en-US" altLang="ko-KR" sz="1600" dirty="0" smtClean="0"/>
                    </a:p>
                    <a:p>
                      <a:pPr latinLnBrk="1"/>
                      <a:r>
                        <a:rPr lang="ko-KR" altLang="en-US" sz="1600" dirty="0" smtClean="0"/>
                        <a:t>대한</a:t>
                      </a:r>
                      <a:r>
                        <a:rPr lang="ko-KR" altLang="en-US" sz="1600" baseline="0" dirty="0" smtClean="0"/>
                        <a:t> 왜곡된 판단</a:t>
                      </a:r>
                      <a:endParaRPr lang="en-US" altLang="ko-KR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600" dirty="0" smtClean="0"/>
                        <a:t>불안이나 정서적 고통을 잘 견딜 수 없다는 비합리적인 신념</a:t>
                      </a:r>
                      <a:endParaRPr lang="en-US" altLang="ko-KR" sz="1600" dirty="0" smtClean="0"/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en-US" altLang="ko-KR" sz="1600" dirty="0" smtClean="0"/>
                        <a:t>‘</a:t>
                      </a:r>
                      <a:r>
                        <a:rPr lang="ko-KR" altLang="en-US" sz="1600" dirty="0" smtClean="0"/>
                        <a:t>제대로 통제하지 못하고 미쳐 버릴 것이다</a:t>
                      </a:r>
                      <a:r>
                        <a:rPr lang="en-US" altLang="ko-KR" sz="1600" dirty="0" smtClean="0"/>
                        <a:t>’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683569" y="1412776"/>
            <a:ext cx="7429500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흔히 범하는 인지적 오류들</a:t>
            </a:r>
            <a:r>
              <a:rPr kumimoji="0" lang="en-US" altLang="ko-KR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400" b="1" i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683568" y="1340768"/>
          <a:ext cx="7776864" cy="4707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264"/>
                <a:gridCol w="5400600"/>
              </a:tblGrid>
              <a:tr h="470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인지적 오류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내     용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예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</a:tr>
              <a:tr h="609156"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1600" dirty="0" smtClean="0"/>
                        <a:t>흑백논리적 사고</a:t>
                      </a:r>
                      <a:endParaRPr lang="en-US" altLang="ko-KR" sz="1600" dirty="0" smtClean="0"/>
                    </a:p>
                    <a:p>
                      <a:pPr marL="0" indent="0" latinLnBrk="1"/>
                      <a:r>
                        <a:rPr lang="en-US" altLang="ko-KR" sz="1600" dirty="0" smtClean="0"/>
                        <a:t>(all or nothing)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kumimoji="0" lang="ko-KR" altLang="en-US" sz="15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사건의 의미를 이분법적인 범주의 둘 중에 하나로 해석</a:t>
                      </a:r>
                      <a:endParaRPr kumimoji="0" lang="en-US" altLang="ko-KR" sz="15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kumimoji="0" lang="ko-KR" altLang="en-US" sz="15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‘성공이 아니면 실패다’</a:t>
                      </a:r>
                      <a:endParaRPr kumimoji="0" lang="en-US" altLang="ko-KR" sz="15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</a:tr>
              <a:tr h="6293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과잉일반화</a:t>
                      </a:r>
                      <a:r>
                        <a:rPr lang="en-US" altLang="ko-KR" sz="1600" dirty="0" smtClean="0"/>
                        <a:t>(overgeneralization)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500" dirty="0" smtClean="0"/>
                        <a:t>한 두 번의 사건에 근거하여 일반적인 결론을 내리고 무관한 상황에도 그 결론을 적용</a:t>
                      </a:r>
                      <a:endParaRPr lang="en-US" altLang="ko-KR" sz="1500" dirty="0" smtClean="0"/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500" dirty="0" smtClean="0"/>
                        <a:t>‘나는 다음에도 또 실패하게 될 것이다’</a:t>
                      </a:r>
                    </a:p>
                  </a:txBody>
                  <a:tcPr/>
                </a:tc>
              </a:tr>
              <a:tr h="6055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정신적 여과</a:t>
                      </a:r>
                      <a:endParaRPr lang="en-US" altLang="ko-KR" sz="1600" dirty="0" smtClean="0"/>
                    </a:p>
                    <a:p>
                      <a:pPr latinLnBrk="1"/>
                      <a:r>
                        <a:rPr lang="en-US" altLang="ko-KR" sz="1600" dirty="0" smtClean="0"/>
                        <a:t>(mental filtering)</a:t>
                      </a:r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500" dirty="0" smtClean="0"/>
                        <a:t>대체로 긍정적인 내용의 이야기를 주고 받았음에도 불구하고</a:t>
                      </a:r>
                      <a:r>
                        <a:rPr lang="en-US" altLang="ko-KR" sz="1500" dirty="0" smtClean="0"/>
                        <a:t>, </a:t>
                      </a:r>
                      <a:r>
                        <a:rPr lang="ko-KR" altLang="en-US" sz="1500" dirty="0" smtClean="0"/>
                        <a:t>상대방의 부정적인 평가 몇 마디에 근거하여 ‘저 녀석은 나를 좋아하지 않는다’고 해석하는 경우</a:t>
                      </a:r>
                    </a:p>
                  </a:txBody>
                  <a:tcPr/>
                </a:tc>
              </a:tr>
              <a:tr h="6605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잘못된 명명의 오류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en-US" altLang="ko-KR" sz="1600" dirty="0" err="1" smtClean="0"/>
                        <a:t>mislabelling</a:t>
                      </a:r>
                      <a:r>
                        <a:rPr lang="en-US" altLang="ko-KR" sz="1600" dirty="0" smtClean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500" dirty="0" smtClean="0"/>
                        <a:t>자신의 잘못을 과장하여 자신에게 ‘나는 실패자다’</a:t>
                      </a:r>
                      <a:r>
                        <a:rPr lang="en-US" altLang="ko-KR" sz="1500" dirty="0" smtClean="0"/>
                        <a:t>, ‘</a:t>
                      </a:r>
                      <a:r>
                        <a:rPr lang="ko-KR" altLang="en-US" sz="1500" dirty="0" smtClean="0"/>
                        <a:t>나는 쓰레기다’라는 부정적인 명칭을 부과하는 것</a:t>
                      </a:r>
                      <a:endParaRPr lang="ko-KR" altLang="en-US" sz="1500" dirty="0"/>
                    </a:p>
                  </a:txBody>
                  <a:tcPr/>
                </a:tc>
              </a:tr>
              <a:tr h="6605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예언자적 오류</a:t>
                      </a:r>
                      <a:endParaRPr lang="en-US" altLang="ko-KR" sz="16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(fortune telling)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500" dirty="0" smtClean="0"/>
                        <a:t>충분한 </a:t>
                      </a:r>
                      <a:r>
                        <a:rPr lang="ko-KR" altLang="en-US" sz="1500" dirty="0" err="1" smtClean="0"/>
                        <a:t>근거없이</a:t>
                      </a:r>
                      <a:r>
                        <a:rPr lang="ko-KR" altLang="en-US" sz="1500" dirty="0" smtClean="0"/>
                        <a:t> 미래에 일어날 일을 단정하고 확신함</a:t>
                      </a:r>
                    </a:p>
                  </a:txBody>
                  <a:tcPr/>
                </a:tc>
              </a:tr>
              <a:tr h="6605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감정적 추리의 오류</a:t>
                      </a:r>
                      <a:r>
                        <a:rPr lang="en-US" altLang="ko-KR" sz="1600" dirty="0" smtClean="0"/>
                        <a:t>(emotional reasoning)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500" dirty="0" smtClean="0"/>
                        <a:t>충분한 근거 없이 막연히 느껴지는 감정에 근거하여 결론</a:t>
                      </a:r>
                      <a:endParaRPr lang="en-US" altLang="ko-KR" sz="1500" dirty="0" smtClean="0"/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lang="ko-KR" altLang="en-US" sz="1500" dirty="0" smtClean="0"/>
                        <a:t>‘내가 그렇게 느껴지는 것을 보니까 사실임에 틀림없다</a:t>
                      </a:r>
                      <a:r>
                        <a:rPr lang="en-US" altLang="ko-KR" sz="1500" dirty="0" smtClean="0"/>
                        <a:t>’</a:t>
                      </a:r>
                      <a:endParaRPr lang="ko-KR" altLang="en-US" sz="15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683568" y="1412776"/>
            <a:ext cx="7992887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인지치료의 목표는</a:t>
            </a:r>
            <a:r>
              <a:rPr kumimoji="0"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:</a:t>
            </a:r>
          </a:p>
          <a:p>
            <a:pPr marL="342900" indent="-342900">
              <a:spcBef>
                <a:spcPct val="20000"/>
              </a:spcBef>
              <a:buAutoNum type="arabicParenR"/>
              <a:defRPr/>
            </a:pPr>
            <a:r>
              <a:rPr kumimoji="0" lang="ko-KR" altLang="en-US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나의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자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동적인 생각들을 찾아내고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AutoNum type="arabicParenR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여기에 주로 어떠한 </a:t>
            </a:r>
            <a:r>
              <a:rPr kumimoji="0"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오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류들이 개입되어 있었는지 확인한 후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</a:t>
            </a:r>
          </a:p>
          <a:p>
            <a:pPr marL="342900" indent="-342900">
              <a:spcBef>
                <a:spcPct val="20000"/>
              </a:spcBef>
              <a:buAutoNum type="arabicParenR"/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이를 보다 </a:t>
            </a:r>
            <a:r>
              <a:rPr kumimoji="0"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합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리적이고 적응적인 생각들로 변화시키는 것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강박증과</a:t>
            </a:r>
            <a:r>
              <a:rPr kumimoji="0" lang="ko-KR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결합된 공존 문제 </a:t>
            </a:r>
            <a:r>
              <a:rPr kumimoji="0"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예</a:t>
            </a:r>
            <a:r>
              <a:rPr kumimoji="0"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우울증</a:t>
            </a:r>
            <a:r>
              <a:rPr kumimoji="0"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기타불안장애</a:t>
            </a:r>
            <a:r>
              <a:rPr kumimoji="0"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불필요한 사고나 부적응적인 신념을 확인하고 교정하는 작업을 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통해 함께 호전될 가능성이 높다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AutoNum type="arabicParenR"/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dirty="0" smtClean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침투사고를 완전히 제거하는 것이 아니다</a:t>
            </a:r>
            <a:r>
              <a:rPr kumimoji="0" lang="en-US" altLang="ko-KR" dirty="0" smtClean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. (</a:t>
            </a:r>
            <a:r>
              <a:rPr kumimoji="0" lang="ko-KR" altLang="en-US" dirty="0" smtClean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그것은 불가능</a:t>
            </a:r>
            <a:r>
              <a:rPr kumimoji="0" lang="en-US" altLang="ko-KR" dirty="0" smtClean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!)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sz="2000" b="1" dirty="0" smtClean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침투사고에 다르게 반응하도록 훈련</a:t>
            </a:r>
            <a:r>
              <a:rPr kumimoji="0" lang="ko-KR" altLang="en-US" dirty="0" smtClean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하는 것이 목표이다</a:t>
            </a:r>
            <a:r>
              <a:rPr kumimoji="0" lang="en-US" altLang="ko-KR" dirty="0" smtClean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!!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u="sng" dirty="0" smtClean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핵심 신념의 변화가 사고 및 행동의 패턴을 바꾼다</a:t>
            </a:r>
            <a:r>
              <a:rPr kumimoji="0" lang="en-US" altLang="ko-KR" u="sng" dirty="0" smtClean="0">
                <a:solidFill>
                  <a:schemeClr val="accent2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회기 내용 정리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 descr="D:\SNUH\2010-상반기\기타 신샘자료\Self\he_hp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48264" y="3356992"/>
            <a:ext cx="2411760" cy="2479937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683568" y="1412776"/>
            <a:ext cx="7704855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지침</a:t>
            </a:r>
            <a:endParaRPr kumimoji="0" lang="en-US" altLang="ko-KR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en-US" altLang="ko-KR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1.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상황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촉발자극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불유쾌한 감정을 야기하는 실제 상황을 그대로 기술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2.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침투사고 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불쾌하며 제거하기 어려운 원치 않는 사고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심상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충동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3.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해석 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침투사고에 대한 자신의 즉각적 반응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자신이 부여하는 의미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      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또한 이러한 생각을 얼마나 강하게 믿고 있는지 체크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4.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감정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: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어떤 감정들이 드는지 기술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 감정이 얼마나 강렬한지 체크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5.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강박행동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회피행동 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강박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회피 행동을 하고 싶은 충동이나 결과 체크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필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!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수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!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과제 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사고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기록지 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꼭 기록해야 합니다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!!!!!!!!)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55576" y="1916832"/>
            <a:ext cx="7488832" cy="38164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1883</TotalTime>
  <Words>1189</Words>
  <Application>Microsoft Office PowerPoint</Application>
  <PresentationFormat>화면 슬라이드 쇼(4:3)</PresentationFormat>
  <Paragraphs>254</Paragraphs>
  <Slides>13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디자인 사용자 지정</vt:lpstr>
      <vt:lpstr> 강박증 인지행동치료 프로그램 Cognitive Behavior Treatment for OCD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정신분열병 환자를 위한 능력강화 프로그램</dc:title>
  <dc:creator>박나리</dc:creator>
  <cp:lastModifiedBy>Seojin</cp:lastModifiedBy>
  <cp:revision>222</cp:revision>
  <dcterms:created xsi:type="dcterms:W3CDTF">2010-04-20T13:29:40Z</dcterms:created>
  <dcterms:modified xsi:type="dcterms:W3CDTF">2011-01-12T05:28:42Z</dcterms:modified>
</cp:coreProperties>
</file>