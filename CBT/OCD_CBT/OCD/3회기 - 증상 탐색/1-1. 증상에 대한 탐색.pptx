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A152-EC37-40D3-9FED-D2E69A7A271A}" type="datetimeFigureOut">
              <a:rPr lang="ko-KR" altLang="en-US" smtClean="0"/>
              <a:t>2018-12-29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E29B-6ECB-4EEF-A214-7AE36CB6E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986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A152-EC37-40D3-9FED-D2E69A7A271A}" type="datetimeFigureOut">
              <a:rPr lang="ko-KR" altLang="en-US" smtClean="0"/>
              <a:t>2018-12-29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E29B-6ECB-4EEF-A214-7AE36CB6E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565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A152-EC37-40D3-9FED-D2E69A7A271A}" type="datetimeFigureOut">
              <a:rPr lang="ko-KR" altLang="en-US" smtClean="0"/>
              <a:t>2018-12-29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E29B-6ECB-4EEF-A214-7AE36CB6E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568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A152-EC37-40D3-9FED-D2E69A7A271A}" type="datetimeFigureOut">
              <a:rPr lang="ko-KR" altLang="en-US" smtClean="0"/>
              <a:t>2018-12-29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E29B-6ECB-4EEF-A214-7AE36CB6E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650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A152-EC37-40D3-9FED-D2E69A7A271A}" type="datetimeFigureOut">
              <a:rPr lang="ko-KR" altLang="en-US" smtClean="0"/>
              <a:t>2018-12-29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E29B-6ECB-4EEF-A214-7AE36CB6E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015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A152-EC37-40D3-9FED-D2E69A7A271A}" type="datetimeFigureOut">
              <a:rPr lang="ko-KR" altLang="en-US" smtClean="0"/>
              <a:t>2018-12-29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E29B-6ECB-4EEF-A214-7AE36CB6E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225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A152-EC37-40D3-9FED-D2E69A7A271A}" type="datetimeFigureOut">
              <a:rPr lang="ko-KR" altLang="en-US" smtClean="0"/>
              <a:t>2018-12-29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E29B-6ECB-4EEF-A214-7AE36CB6E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001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A152-EC37-40D3-9FED-D2E69A7A271A}" type="datetimeFigureOut">
              <a:rPr lang="ko-KR" altLang="en-US" smtClean="0"/>
              <a:t>2018-12-29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E29B-6ECB-4EEF-A214-7AE36CB6E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00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A152-EC37-40D3-9FED-D2E69A7A271A}" type="datetimeFigureOut">
              <a:rPr lang="ko-KR" altLang="en-US" smtClean="0"/>
              <a:t>2018-12-29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E29B-6ECB-4EEF-A214-7AE36CB6E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174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A152-EC37-40D3-9FED-D2E69A7A271A}" type="datetimeFigureOut">
              <a:rPr lang="ko-KR" altLang="en-US" smtClean="0"/>
              <a:t>2018-12-29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E29B-6ECB-4EEF-A214-7AE36CB6E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933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7A152-EC37-40D3-9FED-D2E69A7A271A}" type="datetimeFigureOut">
              <a:rPr lang="ko-KR" altLang="en-US" smtClean="0"/>
              <a:t>2018-12-29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E29B-6ECB-4EEF-A214-7AE36CB6E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720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7A152-EC37-40D3-9FED-D2E69A7A271A}" type="datetimeFigureOut">
              <a:rPr lang="ko-KR" altLang="en-US" smtClean="0"/>
              <a:t>2018-12-29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9E29B-6ECB-4EEF-A214-7AE36CB6E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241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증상에 대한 탐색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919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1952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1952625" y="142875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7"/>
          <p:cNvSpPr>
            <a:spLocks noGrp="1" noChangeArrowheads="1"/>
          </p:cNvSpPr>
          <p:nvPr>
            <p:ph type="title"/>
          </p:nvPr>
        </p:nvSpPr>
        <p:spPr>
          <a:xfrm>
            <a:off x="2595563" y="357188"/>
            <a:ext cx="7313612" cy="11430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증상에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대한 탐색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5095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8198" name="Picture 8" descr="J:\SNUH\BS0001_jpg\BS00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1364" y="6154739"/>
            <a:ext cx="5746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9" name="Rectangle 3"/>
          <p:cNvSpPr>
            <a:spLocks noChangeArrowheads="1"/>
          </p:cNvSpPr>
          <p:nvPr/>
        </p:nvSpPr>
        <p:spPr bwMode="auto">
          <a:xfrm>
            <a:off x="2343151" y="2051050"/>
            <a:ext cx="7515225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91D5D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2887663" y="3514726"/>
            <a:ext cx="1054100" cy="454025"/>
          </a:xfrm>
          <a:prstGeom prst="rect">
            <a:avLst/>
          </a:prstGeom>
          <a:solidFill>
            <a:srgbClr val="091D5D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>
              <a:lnSpc>
                <a:spcPct val="110000"/>
              </a:lnSpc>
              <a:defRPr/>
            </a:pPr>
            <a:r>
              <a:rPr lang="ko-KR" altLang="en-US" sz="1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강박사고</a:t>
            </a:r>
            <a:endParaRPr lang="en-US" altLang="ko-KR" sz="17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3941764" y="4429125"/>
            <a:ext cx="5583237" cy="788988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>
              <a:lnSpc>
                <a:spcPct val="150000"/>
              </a:lnSpc>
              <a:defRPr/>
            </a:pPr>
            <a:r>
              <a:rPr lang="ko-KR" altLang="en-US" sz="1500" b="1" dirty="0">
                <a:solidFill>
                  <a:srgbClr val="091D5D"/>
                </a:solidFill>
                <a:latin typeface="맑은 고딕" pitchFamily="50" charset="-127"/>
                <a:ea typeface="맑은 고딕" pitchFamily="50" charset="-127"/>
              </a:rPr>
              <a:t>  이런 스트레스를 경험했을 때</a:t>
            </a:r>
            <a:r>
              <a:rPr lang="en-US" altLang="ko-KR" sz="1500" b="1" dirty="0">
                <a:solidFill>
                  <a:srgbClr val="091D5D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500" b="1" dirty="0">
                <a:solidFill>
                  <a:srgbClr val="091D5D"/>
                </a:solidFill>
                <a:latin typeface="맑은 고딕" pitchFamily="50" charset="-127"/>
                <a:ea typeface="맑은 고딕" pitchFamily="50" charset="-127"/>
              </a:rPr>
              <a:t>회피하거나 의식적 행위를 </a:t>
            </a:r>
          </a:p>
          <a:p>
            <a:pPr marL="12700" indent="-12700">
              <a:lnSpc>
                <a:spcPct val="150000"/>
              </a:lnSpc>
              <a:defRPr/>
            </a:pPr>
            <a:r>
              <a:rPr lang="ko-KR" altLang="en-US" sz="1500" b="1" dirty="0">
                <a:solidFill>
                  <a:srgbClr val="091D5D"/>
                </a:solidFill>
                <a:latin typeface="맑은 고딕" pitchFamily="50" charset="-127"/>
                <a:ea typeface="맑은 고딕" pitchFamily="50" charset="-127"/>
              </a:rPr>
              <a:t>  하지 않았을 때 어떤 두려운 일이 일어날 것이라는 생각</a:t>
            </a:r>
            <a:endParaRPr lang="en-US" altLang="ko-KR" sz="1500" b="1" dirty="0">
              <a:solidFill>
                <a:srgbClr val="091D5D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3941764" y="2600326"/>
            <a:ext cx="5583237" cy="454025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>
              <a:lnSpc>
                <a:spcPct val="110000"/>
              </a:lnSpc>
              <a:defRPr/>
            </a:pPr>
            <a:r>
              <a:rPr lang="ko-KR" altLang="en-US" sz="1500" b="1" dirty="0">
                <a:solidFill>
                  <a:srgbClr val="091D5D"/>
                </a:solidFill>
                <a:latin typeface="맑은 고딕" pitchFamily="50" charset="-127"/>
                <a:ea typeface="맑은 고딕" pitchFamily="50" charset="-127"/>
              </a:rPr>
              <a:t>어떤 상황이나 대상에 직면했을 때 스트레스를 느끼는 것</a:t>
            </a:r>
            <a:endParaRPr lang="en-US" altLang="ko-KR" sz="1500" b="1" dirty="0">
              <a:solidFill>
                <a:srgbClr val="091D5D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4248150" y="3544889"/>
            <a:ext cx="5276850" cy="454025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 marL="12700" indent="-12700">
              <a:lnSpc>
                <a:spcPct val="110000"/>
              </a:lnSpc>
              <a:defRPr/>
            </a:pPr>
            <a:r>
              <a:rPr lang="ko-KR" altLang="en-US" sz="1500" b="1" dirty="0">
                <a:solidFill>
                  <a:srgbClr val="091D5D"/>
                </a:solidFill>
                <a:latin typeface="맑은 고딕" pitchFamily="50" charset="-127"/>
                <a:ea typeface="맑은 고딕" pitchFamily="50" charset="-127"/>
              </a:rPr>
              <a:t>생각</a:t>
            </a:r>
            <a:r>
              <a:rPr lang="en-US" altLang="ko-KR" sz="1500" b="1" dirty="0">
                <a:solidFill>
                  <a:srgbClr val="091D5D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500" b="1" dirty="0">
                <a:solidFill>
                  <a:srgbClr val="091D5D"/>
                </a:solidFill>
                <a:latin typeface="맑은 고딕" pitchFamily="50" charset="-127"/>
                <a:ea typeface="맑은 고딕" pitchFamily="50" charset="-127"/>
              </a:rPr>
              <a:t>충동</a:t>
            </a:r>
            <a:r>
              <a:rPr lang="en-US" altLang="ko-KR" sz="1500" b="1" dirty="0">
                <a:solidFill>
                  <a:srgbClr val="091D5D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500" b="1" dirty="0">
                <a:solidFill>
                  <a:srgbClr val="091D5D"/>
                </a:solidFill>
                <a:latin typeface="맑은 고딕" pitchFamily="50" charset="-127"/>
                <a:ea typeface="맑은 고딕" pitchFamily="50" charset="-127"/>
              </a:rPr>
              <a:t>심상 때문에 불안</a:t>
            </a:r>
            <a:r>
              <a:rPr lang="en-US" altLang="ko-KR" sz="1500" b="1" dirty="0">
                <a:solidFill>
                  <a:srgbClr val="091D5D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500" b="1" dirty="0">
                <a:solidFill>
                  <a:srgbClr val="091D5D"/>
                </a:solidFill>
                <a:latin typeface="맑은 고딕" pitchFamily="50" charset="-127"/>
                <a:ea typeface="맑은 고딕" pitchFamily="50" charset="-127"/>
              </a:rPr>
              <a:t>수치심과 같은 스트레스</a:t>
            </a:r>
            <a:endParaRPr lang="en-US" altLang="ko-KR" sz="1500" b="1" dirty="0">
              <a:solidFill>
                <a:srgbClr val="091D5D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8204" name="AutoShape 14"/>
          <p:cNvCxnSpPr>
            <a:cxnSpLocks noChangeShapeType="1"/>
            <a:stCxn id="19" idx="1"/>
            <a:endCxn id="13" idx="0"/>
          </p:cNvCxnSpPr>
          <p:nvPr/>
        </p:nvCxnSpPr>
        <p:spPr bwMode="auto">
          <a:xfrm rot="10800000" flipV="1">
            <a:off x="3414713" y="2827339"/>
            <a:ext cx="527050" cy="687387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05" name="AutoShape 15"/>
          <p:cNvCxnSpPr>
            <a:cxnSpLocks noChangeShapeType="1"/>
            <a:stCxn id="14" idx="1"/>
            <a:endCxn id="13" idx="2"/>
          </p:cNvCxnSpPr>
          <p:nvPr/>
        </p:nvCxnSpPr>
        <p:spPr bwMode="auto">
          <a:xfrm rot="10800000">
            <a:off x="3414713" y="3968751"/>
            <a:ext cx="527050" cy="855663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06" name="AutoShape 20"/>
          <p:cNvCxnSpPr>
            <a:cxnSpLocks noChangeShapeType="1"/>
            <a:stCxn id="20" idx="1"/>
          </p:cNvCxnSpPr>
          <p:nvPr/>
        </p:nvCxnSpPr>
        <p:spPr bwMode="auto">
          <a:xfrm rot="10800000" flipV="1">
            <a:off x="4035426" y="3771900"/>
            <a:ext cx="2127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5520787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1952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1952625" y="142875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7"/>
          <p:cNvSpPr>
            <a:spLocks noGrp="1" noChangeArrowheads="1"/>
          </p:cNvSpPr>
          <p:nvPr>
            <p:ph type="title"/>
          </p:nvPr>
        </p:nvSpPr>
        <p:spPr>
          <a:xfrm>
            <a:off x="2595563" y="357188"/>
            <a:ext cx="7313612" cy="11430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증상에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대한 탐색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5095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9222" name="Picture 8" descr="J:\SNUH\BS0001_jpg\BS00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1364" y="6154739"/>
            <a:ext cx="5746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AutoShape 3"/>
          <p:cNvSpPr>
            <a:spLocks noChangeArrowheads="1"/>
          </p:cNvSpPr>
          <p:nvPr/>
        </p:nvSpPr>
        <p:spPr bwMode="auto">
          <a:xfrm>
            <a:off x="3322638" y="3594100"/>
            <a:ext cx="1003300" cy="336550"/>
          </a:xfrm>
          <a:prstGeom prst="rightArrow">
            <a:avLst>
              <a:gd name="adj1" fmla="val 50000"/>
              <a:gd name="adj2" fmla="val 61845"/>
            </a:avLst>
          </a:prstGeom>
          <a:solidFill>
            <a:srgbClr val="9773AE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AutoShape 4"/>
          <p:cNvSpPr>
            <a:spLocks noChangeArrowheads="1"/>
          </p:cNvSpPr>
          <p:nvPr/>
        </p:nvSpPr>
        <p:spPr bwMode="auto">
          <a:xfrm>
            <a:off x="5100639" y="3594100"/>
            <a:ext cx="814387" cy="336550"/>
          </a:xfrm>
          <a:prstGeom prst="rightArrow">
            <a:avLst>
              <a:gd name="adj1" fmla="val 50000"/>
              <a:gd name="adj2" fmla="val 50200"/>
            </a:avLst>
          </a:prstGeom>
          <a:solidFill>
            <a:srgbClr val="9773AE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AutoShape 5"/>
          <p:cNvSpPr>
            <a:spLocks noChangeArrowheads="1"/>
          </p:cNvSpPr>
          <p:nvPr/>
        </p:nvSpPr>
        <p:spPr bwMode="auto">
          <a:xfrm>
            <a:off x="6443663" y="3590926"/>
            <a:ext cx="671512" cy="341313"/>
          </a:xfrm>
          <a:prstGeom prst="rightArrow">
            <a:avLst>
              <a:gd name="adj1" fmla="val 50000"/>
              <a:gd name="adj2" fmla="val 49186"/>
            </a:avLst>
          </a:prstGeom>
          <a:solidFill>
            <a:srgbClr val="9773AE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AutoShape 6"/>
          <p:cNvSpPr>
            <a:spLocks noChangeArrowheads="1"/>
          </p:cNvSpPr>
          <p:nvPr/>
        </p:nvSpPr>
        <p:spPr bwMode="auto">
          <a:xfrm>
            <a:off x="8101013" y="3590926"/>
            <a:ext cx="671512" cy="341313"/>
          </a:xfrm>
          <a:prstGeom prst="rightArrow">
            <a:avLst>
              <a:gd name="adj1" fmla="val 50000"/>
              <a:gd name="adj2" fmla="val 49186"/>
            </a:avLst>
          </a:prstGeom>
          <a:solidFill>
            <a:srgbClr val="9773AE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27" name="Freeform 9"/>
          <p:cNvSpPr>
            <a:spLocks/>
          </p:cNvSpPr>
          <p:nvPr/>
        </p:nvSpPr>
        <p:spPr bwMode="auto">
          <a:xfrm>
            <a:off x="3021013" y="4292601"/>
            <a:ext cx="6457950" cy="1152525"/>
          </a:xfrm>
          <a:custGeom>
            <a:avLst/>
            <a:gdLst>
              <a:gd name="T0" fmla="*/ 2147483647 w 3840"/>
              <a:gd name="T1" fmla="*/ 0 h 1032"/>
              <a:gd name="T2" fmla="*/ 2147483647 w 3840"/>
              <a:gd name="T3" fmla="*/ 905477990 h 1032"/>
              <a:gd name="T4" fmla="*/ 0 w 3840"/>
              <a:gd name="T5" fmla="*/ 905477990 h 1032"/>
              <a:gd name="T6" fmla="*/ 0 w 3840"/>
              <a:gd name="T7" fmla="*/ 589933099 h 1032"/>
              <a:gd name="T8" fmla="*/ 0 60000 65536"/>
              <a:gd name="T9" fmla="*/ 0 60000 65536"/>
              <a:gd name="T10" fmla="*/ 0 60000 65536"/>
              <a:gd name="T11" fmla="*/ 0 60000 65536"/>
              <a:gd name="T12" fmla="*/ 0 w 3840"/>
              <a:gd name="T13" fmla="*/ 0 h 1032"/>
              <a:gd name="T14" fmla="*/ 3840 w 3840"/>
              <a:gd name="T15" fmla="*/ 1032 h 10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0" h="1032">
                <a:moveTo>
                  <a:pt x="3840" y="0"/>
                </a:moveTo>
                <a:lnTo>
                  <a:pt x="3840" y="1032"/>
                </a:lnTo>
                <a:lnTo>
                  <a:pt x="0" y="1032"/>
                </a:lnTo>
                <a:lnTo>
                  <a:pt x="0" y="672"/>
                </a:lnTo>
              </a:path>
            </a:pathLst>
          </a:custGeom>
          <a:noFill/>
          <a:ln w="38100">
            <a:solidFill>
              <a:srgbClr val="003366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Rectangle 12"/>
          <p:cNvSpPr>
            <a:spLocks noChangeArrowheads="1"/>
          </p:cNvSpPr>
          <p:nvPr/>
        </p:nvSpPr>
        <p:spPr bwMode="auto">
          <a:xfrm>
            <a:off x="2363789" y="2419351"/>
            <a:ext cx="1323975" cy="2619375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AutoShape 13"/>
          <p:cNvSpPr>
            <a:spLocks noChangeArrowheads="1"/>
          </p:cNvSpPr>
          <p:nvPr/>
        </p:nvSpPr>
        <p:spPr bwMode="auto">
          <a:xfrm flipV="1">
            <a:off x="2776539" y="3279776"/>
            <a:ext cx="498475" cy="130175"/>
          </a:xfrm>
          <a:prstGeom prst="triangle">
            <a:avLst>
              <a:gd name="adj" fmla="val 50000"/>
            </a:avLst>
          </a:prstGeom>
          <a:solidFill>
            <a:srgbClr val="9773AE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AutoShape 14"/>
          <p:cNvSpPr>
            <a:spLocks noChangeArrowheads="1"/>
          </p:cNvSpPr>
          <p:nvPr/>
        </p:nvSpPr>
        <p:spPr bwMode="auto">
          <a:xfrm>
            <a:off x="2776539" y="4054476"/>
            <a:ext cx="498475" cy="131763"/>
          </a:xfrm>
          <a:prstGeom prst="triangle">
            <a:avLst>
              <a:gd name="adj" fmla="val 50000"/>
            </a:avLst>
          </a:prstGeom>
          <a:solidFill>
            <a:srgbClr val="9773AE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31" name="Rectangle 15"/>
          <p:cNvSpPr>
            <a:spLocks noChangeArrowheads="1"/>
          </p:cNvSpPr>
          <p:nvPr/>
        </p:nvSpPr>
        <p:spPr bwMode="auto">
          <a:xfrm>
            <a:off x="2546350" y="2557464"/>
            <a:ext cx="958850" cy="619125"/>
          </a:xfrm>
          <a:prstGeom prst="rect">
            <a:avLst/>
          </a:prstGeom>
          <a:solidFill>
            <a:srgbClr val="FFFFFF"/>
          </a:solidFill>
          <a:ln w="12700">
            <a:solidFill>
              <a:srgbClr val="091D5D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상황이나 대상 관련</a:t>
            </a:r>
            <a:endParaRPr lang="nl-NL" altLang="zh-CN" sz="1200" b="1">
              <a:solidFill>
                <a:srgbClr val="091D5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32" name="Rectangle 16"/>
          <p:cNvSpPr>
            <a:spLocks noChangeArrowheads="1"/>
          </p:cNvSpPr>
          <p:nvPr/>
        </p:nvSpPr>
        <p:spPr bwMode="auto">
          <a:xfrm>
            <a:off x="2481264" y="4322764"/>
            <a:ext cx="1089025" cy="619125"/>
          </a:xfrm>
          <a:prstGeom prst="rect">
            <a:avLst/>
          </a:prstGeom>
          <a:solidFill>
            <a:srgbClr val="FFFFFF"/>
          </a:solidFill>
          <a:ln w="12700">
            <a:solidFill>
              <a:srgbClr val="091D5D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생각</a:t>
            </a:r>
            <a:r>
              <a:rPr lang="en-US" altLang="ko-KR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충동</a:t>
            </a:r>
            <a:r>
              <a:rPr lang="en-US" altLang="ko-KR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심상</a:t>
            </a:r>
            <a:r>
              <a:rPr lang="en-US" altLang="ko-KR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</a:t>
            </a:r>
            <a:r>
              <a:rPr lang="en-US" altLang="ko-KR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nl-NL" altLang="zh-CN" sz="1200" b="1">
              <a:solidFill>
                <a:srgbClr val="091D5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Oval 17"/>
          <p:cNvSpPr>
            <a:spLocks noChangeArrowheads="1"/>
          </p:cNvSpPr>
          <p:nvPr/>
        </p:nvSpPr>
        <p:spPr bwMode="auto">
          <a:xfrm>
            <a:off x="2384426" y="3482975"/>
            <a:ext cx="1298575" cy="503238"/>
          </a:xfrm>
          <a:prstGeom prst="ellipse">
            <a:avLst/>
          </a:prstGeom>
          <a:solidFill>
            <a:srgbClr val="091D5D"/>
          </a:solidFill>
          <a:ln w="6350" algn="ctr">
            <a:noFill/>
            <a:round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강박사고</a:t>
            </a:r>
            <a:endParaRPr lang="en-US" altLang="ko-KR" sz="1200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유발상황</a:t>
            </a:r>
            <a:endParaRPr lang="nl-NL" altLang="zh-CN" sz="1200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Rectangle 18"/>
          <p:cNvSpPr>
            <a:spLocks noChangeArrowheads="1"/>
          </p:cNvSpPr>
          <p:nvPr/>
        </p:nvSpPr>
        <p:spPr bwMode="auto">
          <a:xfrm>
            <a:off x="4343401" y="2419351"/>
            <a:ext cx="1323975" cy="2619375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AutoShape 19"/>
          <p:cNvSpPr>
            <a:spLocks noChangeArrowheads="1"/>
          </p:cNvSpPr>
          <p:nvPr/>
        </p:nvSpPr>
        <p:spPr bwMode="auto">
          <a:xfrm flipV="1">
            <a:off x="4756151" y="3279776"/>
            <a:ext cx="498475" cy="130175"/>
          </a:xfrm>
          <a:prstGeom prst="triangle">
            <a:avLst>
              <a:gd name="adj" fmla="val 50000"/>
            </a:avLst>
          </a:prstGeom>
          <a:solidFill>
            <a:srgbClr val="9773AE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AutoShape 20"/>
          <p:cNvSpPr>
            <a:spLocks noChangeArrowheads="1"/>
          </p:cNvSpPr>
          <p:nvPr/>
        </p:nvSpPr>
        <p:spPr bwMode="auto">
          <a:xfrm>
            <a:off x="4756151" y="4054476"/>
            <a:ext cx="498475" cy="131763"/>
          </a:xfrm>
          <a:prstGeom prst="triangle">
            <a:avLst>
              <a:gd name="adj" fmla="val 50000"/>
            </a:avLst>
          </a:prstGeom>
          <a:solidFill>
            <a:srgbClr val="9773AE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37" name="Rectangle 21"/>
          <p:cNvSpPr>
            <a:spLocks noChangeArrowheads="1"/>
          </p:cNvSpPr>
          <p:nvPr/>
        </p:nvSpPr>
        <p:spPr bwMode="auto">
          <a:xfrm>
            <a:off x="4525963" y="2557464"/>
            <a:ext cx="958850" cy="619125"/>
          </a:xfrm>
          <a:prstGeom prst="rect">
            <a:avLst/>
          </a:prstGeom>
          <a:solidFill>
            <a:srgbClr val="FFFFFF"/>
          </a:solidFill>
          <a:ln w="12700">
            <a:solidFill>
              <a:srgbClr val="091D5D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외적으로 두려운 일일어날꺼야</a:t>
            </a:r>
            <a:r>
              <a:rPr lang="en-US" altLang="ko-KR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nl-NL" altLang="zh-CN" sz="1200" b="1">
              <a:solidFill>
                <a:srgbClr val="091D5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38" name="Rectangle 22"/>
          <p:cNvSpPr>
            <a:spLocks noChangeArrowheads="1"/>
          </p:cNvSpPr>
          <p:nvPr/>
        </p:nvSpPr>
        <p:spPr bwMode="auto">
          <a:xfrm>
            <a:off x="4487864" y="4322764"/>
            <a:ext cx="1036637" cy="619125"/>
          </a:xfrm>
          <a:prstGeom prst="rect">
            <a:avLst/>
          </a:prstGeom>
          <a:solidFill>
            <a:srgbClr val="FFFFFF"/>
          </a:solidFill>
          <a:ln w="12700">
            <a:solidFill>
              <a:srgbClr val="091D5D"/>
            </a:solidFill>
            <a:miter lim="800000"/>
            <a:headEnd type="none" w="sm" len="sm"/>
            <a:tailEnd type="none" w="sm" len="sm"/>
          </a:ln>
        </p:spPr>
        <p:txBody>
          <a:bodyPr lIns="46800" r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생각</a:t>
            </a:r>
            <a:r>
              <a:rPr lang="en-US" altLang="ko-KR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충동으로 기인한 극단적 결과 </a:t>
            </a:r>
            <a:endParaRPr lang="nl-NL" altLang="zh-CN" sz="1200" b="1">
              <a:solidFill>
                <a:srgbClr val="091D5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Oval 23"/>
          <p:cNvSpPr>
            <a:spLocks noChangeArrowheads="1"/>
          </p:cNvSpPr>
          <p:nvPr/>
        </p:nvSpPr>
        <p:spPr bwMode="auto">
          <a:xfrm>
            <a:off x="4400551" y="3482975"/>
            <a:ext cx="1209675" cy="503238"/>
          </a:xfrm>
          <a:prstGeom prst="ellipse">
            <a:avLst/>
          </a:prstGeom>
          <a:solidFill>
            <a:srgbClr val="091D5D"/>
          </a:solidFill>
          <a:ln w="6350" algn="ctr">
            <a:noFill/>
            <a:round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강박 사고</a:t>
            </a:r>
            <a:endParaRPr lang="nl-NL" altLang="zh-CN" sz="1200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5915026" y="3284539"/>
            <a:ext cx="930275" cy="814387"/>
            <a:chOff x="2862" y="1797"/>
            <a:chExt cx="586" cy="513"/>
          </a:xfrm>
          <a:solidFill>
            <a:srgbClr val="DDD2B5"/>
          </a:solidFill>
        </p:grpSpPr>
        <p:sp>
          <p:nvSpPr>
            <p:cNvPr id="65" name="Rectangle 25"/>
            <p:cNvSpPr>
              <a:spLocks noChangeArrowheads="1"/>
            </p:cNvSpPr>
            <p:nvPr/>
          </p:nvSpPr>
          <p:spPr bwMode="auto">
            <a:xfrm>
              <a:off x="2937" y="1797"/>
              <a:ext cx="511" cy="441"/>
            </a:xfrm>
            <a:prstGeom prst="rect">
              <a:avLst/>
            </a:prstGeom>
            <a:grpFill/>
            <a:ln w="6350" algn="ctr">
              <a:noFill/>
              <a:miter lim="800000"/>
              <a:headEnd type="none" w="sm" len="sm"/>
              <a:tailEnd type="none" w="sm" len="sm"/>
            </a:ln>
            <a:effectLst>
              <a:outerShdw dist="17961" dir="2700000" algn="ctr" rotWithShape="0">
                <a:srgbClr val="808080"/>
              </a:outerShdw>
            </a:effectLst>
          </p:spPr>
          <p:txBody>
            <a:bodyPr wrap="none" tIns="91440" bIns="91440" anchor="ctr"/>
            <a:lstStyle/>
            <a:p>
              <a:pPr>
                <a:defRPr/>
              </a:pPr>
              <a:endParaRPr lang="en-US" altLang="ko-KR" sz="1200" b="1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6" name="Rectangle 26"/>
            <p:cNvSpPr>
              <a:spLocks noChangeArrowheads="1"/>
            </p:cNvSpPr>
            <p:nvPr/>
          </p:nvSpPr>
          <p:spPr bwMode="auto">
            <a:xfrm>
              <a:off x="2899" y="1833"/>
              <a:ext cx="512" cy="441"/>
            </a:xfrm>
            <a:prstGeom prst="rect">
              <a:avLst/>
            </a:prstGeom>
            <a:grpFill/>
            <a:ln w="6350" algn="ctr">
              <a:noFill/>
              <a:miter lim="800000"/>
              <a:headEnd type="none" w="sm" len="sm"/>
              <a:tailEnd type="none" w="sm" len="sm"/>
            </a:ln>
            <a:effectLst>
              <a:outerShdw dist="17961" dir="2700000" algn="ctr" rotWithShape="0">
                <a:srgbClr val="808080"/>
              </a:outerShdw>
            </a:effectLst>
          </p:spPr>
          <p:txBody>
            <a:bodyPr wrap="none" tIns="91440" bIns="91440" anchor="ctr"/>
            <a:lstStyle/>
            <a:p>
              <a:pPr>
                <a:defRPr/>
              </a:pPr>
              <a:endParaRPr lang="en-US" altLang="ko-KR" sz="1200" b="1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7" name="Rectangle 27"/>
            <p:cNvSpPr>
              <a:spLocks noChangeArrowheads="1"/>
            </p:cNvSpPr>
            <p:nvPr/>
          </p:nvSpPr>
          <p:spPr bwMode="auto">
            <a:xfrm>
              <a:off x="2862" y="1869"/>
              <a:ext cx="511" cy="441"/>
            </a:xfrm>
            <a:prstGeom prst="rect">
              <a:avLst/>
            </a:prstGeom>
            <a:grpFill/>
            <a:ln w="6350" algn="ctr">
              <a:noFill/>
              <a:miter lim="800000"/>
              <a:headEnd type="none" w="sm" len="sm"/>
              <a:tailEnd type="none" w="sm" len="sm"/>
            </a:ln>
            <a:effectLst>
              <a:outerShdw dist="17961" dir="2700000" algn="ctr" rotWithShape="0">
                <a:srgbClr val="808080"/>
              </a:outerShdw>
            </a:effectLst>
          </p:spPr>
          <p:txBody>
            <a:bodyPr wrap="none" tIns="91440" bIns="91440" anchor="ctr"/>
            <a:lstStyle/>
            <a:p>
              <a:pPr>
                <a:defRPr/>
              </a:pPr>
              <a:r>
                <a:rPr lang="en-US" sz="1200" b="1">
                  <a:latin typeface="맑은 고딕" pitchFamily="50" charset="-127"/>
                  <a:ea typeface="맑은 고딕" pitchFamily="50" charset="-127"/>
                </a:rPr>
                <a:t>Future</a:t>
              </a:r>
            </a:p>
            <a:p>
              <a:pPr>
                <a:defRPr/>
              </a:pPr>
              <a:r>
                <a:rPr lang="en-US" sz="1200" b="1">
                  <a:latin typeface="맑은 고딕" pitchFamily="50" charset="-127"/>
                  <a:ea typeface="맑은 고딕" pitchFamily="50" charset="-127"/>
                </a:rPr>
                <a:t>Industry</a:t>
              </a:r>
            </a:p>
            <a:p>
              <a:pPr>
                <a:defRPr/>
              </a:pPr>
              <a:r>
                <a:rPr lang="en-US" sz="1200" b="1">
                  <a:latin typeface="맑은 고딕" pitchFamily="50" charset="-127"/>
                  <a:ea typeface="맑은 고딕" pitchFamily="50" charset="-127"/>
                </a:rPr>
                <a:t>Scenarios</a:t>
              </a:r>
            </a:p>
          </p:txBody>
        </p:sp>
        <p:sp>
          <p:nvSpPr>
            <p:cNvPr id="68" name="Rectangle 28"/>
            <p:cNvSpPr>
              <a:spLocks noChangeArrowheads="1"/>
            </p:cNvSpPr>
            <p:nvPr/>
          </p:nvSpPr>
          <p:spPr bwMode="auto">
            <a:xfrm>
              <a:off x="2862" y="1869"/>
              <a:ext cx="511" cy="441"/>
            </a:xfrm>
            <a:prstGeom prst="rect">
              <a:avLst/>
            </a:prstGeom>
            <a:grpFill/>
            <a:ln w="6350" algn="ctr">
              <a:noFill/>
              <a:miter lim="800000"/>
              <a:headEnd type="none" w="sm" len="sm"/>
              <a:tailEnd type="none" w="sm" len="sm"/>
            </a:ln>
            <a:effectLst>
              <a:outerShdw dist="17961" dir="2700000" algn="ctr" rotWithShape="0">
                <a:srgbClr val="808080"/>
              </a:outerShdw>
            </a:effectLst>
          </p:spPr>
          <p:txBody>
            <a:bodyPr wrap="none" tIns="91440" bIns="91440" anchor="ctr"/>
            <a:lstStyle/>
            <a:p>
              <a:pPr>
                <a:defRPr/>
              </a:pPr>
              <a:r>
                <a:rPr lang="ko-KR" altLang="en-US" sz="1200" b="1" dirty="0">
                  <a:solidFill>
                    <a:srgbClr val="091D5D"/>
                  </a:solidFill>
                  <a:latin typeface="맑은 고딕" pitchFamily="50" charset="-127"/>
                  <a:ea typeface="맑은 고딕" pitchFamily="50" charset="-127"/>
                </a:rPr>
                <a:t>  </a:t>
              </a:r>
              <a:r>
                <a:rPr lang="ko-KR" altLang="en-US" sz="1200" b="1" dirty="0" err="1">
                  <a:solidFill>
                    <a:srgbClr val="091D5D"/>
                  </a:solidFill>
                  <a:latin typeface="맑은 고딕" pitchFamily="50" charset="-127"/>
                  <a:ea typeface="맑은 고딕" pitchFamily="50" charset="-127"/>
                </a:rPr>
                <a:t>고통감</a:t>
              </a:r>
              <a:r>
                <a:rPr lang="en-US" altLang="ko-KR" sz="1200" b="1" dirty="0">
                  <a:solidFill>
                    <a:srgbClr val="091D5D"/>
                  </a:solidFill>
                  <a:latin typeface="맑은 고딕" pitchFamily="50" charset="-127"/>
                  <a:ea typeface="맑은 고딕" pitchFamily="50" charset="-127"/>
                </a:rPr>
                <a:t>,</a:t>
              </a:r>
              <a:r>
                <a:rPr lang="ko-KR" altLang="en-US" sz="1200" b="1" dirty="0">
                  <a:solidFill>
                    <a:srgbClr val="091D5D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en-US" altLang="ko-KR" sz="1200" b="1" dirty="0">
                <a:solidFill>
                  <a:srgbClr val="091D5D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defRPr/>
              </a:pPr>
              <a:r>
                <a:rPr lang="ko-KR" altLang="en-US" sz="1200" b="1" dirty="0">
                  <a:solidFill>
                    <a:srgbClr val="091D5D"/>
                  </a:solidFill>
                  <a:latin typeface="맑은 고딕" pitchFamily="50" charset="-127"/>
                  <a:ea typeface="맑은 고딕" pitchFamily="50" charset="-127"/>
                </a:rPr>
                <a:t>불안 발생</a:t>
              </a:r>
              <a:endParaRPr lang="en-US" sz="1200" b="1" dirty="0">
                <a:solidFill>
                  <a:srgbClr val="091D5D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69" name="Rectangle 31"/>
          <p:cNvSpPr>
            <a:spLocks noChangeArrowheads="1"/>
          </p:cNvSpPr>
          <p:nvPr/>
        </p:nvSpPr>
        <p:spPr bwMode="auto">
          <a:xfrm>
            <a:off x="8794751" y="2419351"/>
            <a:ext cx="1323975" cy="2619375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0" name="AutoShape 32"/>
          <p:cNvSpPr>
            <a:spLocks noChangeArrowheads="1"/>
          </p:cNvSpPr>
          <p:nvPr/>
        </p:nvSpPr>
        <p:spPr bwMode="auto">
          <a:xfrm>
            <a:off x="9207501" y="3279776"/>
            <a:ext cx="498475" cy="130175"/>
          </a:xfrm>
          <a:prstGeom prst="triangle">
            <a:avLst>
              <a:gd name="adj" fmla="val 50000"/>
            </a:avLst>
          </a:prstGeom>
          <a:solidFill>
            <a:srgbClr val="9773AE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AutoShape 33"/>
          <p:cNvSpPr>
            <a:spLocks noChangeArrowheads="1"/>
          </p:cNvSpPr>
          <p:nvPr/>
        </p:nvSpPr>
        <p:spPr bwMode="auto">
          <a:xfrm flipV="1">
            <a:off x="9207501" y="4054476"/>
            <a:ext cx="498475" cy="131763"/>
          </a:xfrm>
          <a:prstGeom prst="triangle">
            <a:avLst>
              <a:gd name="adj" fmla="val 50000"/>
            </a:avLst>
          </a:prstGeom>
          <a:solidFill>
            <a:srgbClr val="9773AE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44" name="Rectangle 34"/>
          <p:cNvSpPr>
            <a:spLocks noChangeArrowheads="1"/>
          </p:cNvSpPr>
          <p:nvPr/>
        </p:nvSpPr>
        <p:spPr bwMode="auto">
          <a:xfrm>
            <a:off x="8977313" y="2557464"/>
            <a:ext cx="958850" cy="619125"/>
          </a:xfrm>
          <a:prstGeom prst="rect">
            <a:avLst/>
          </a:prstGeom>
          <a:solidFill>
            <a:srgbClr val="FFFFFF"/>
          </a:solidFill>
          <a:ln w="12700">
            <a:solidFill>
              <a:srgbClr val="091D5D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우울</a:t>
            </a:r>
            <a:r>
              <a:rPr lang="en-US" altLang="ko-KR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불안내적고통감지속</a:t>
            </a:r>
            <a:endParaRPr lang="nl-NL" altLang="zh-CN" sz="1200" b="1">
              <a:solidFill>
                <a:srgbClr val="091D5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45" name="Rectangle 35"/>
          <p:cNvSpPr>
            <a:spLocks noChangeArrowheads="1"/>
          </p:cNvSpPr>
          <p:nvPr/>
        </p:nvSpPr>
        <p:spPr bwMode="auto">
          <a:xfrm>
            <a:off x="8977313" y="4322764"/>
            <a:ext cx="958850" cy="619125"/>
          </a:xfrm>
          <a:prstGeom prst="rect">
            <a:avLst/>
          </a:prstGeom>
          <a:solidFill>
            <a:srgbClr val="FFFFFF"/>
          </a:solidFill>
          <a:ln w="12700">
            <a:solidFill>
              <a:srgbClr val="091D5D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일상생활 제한</a:t>
            </a:r>
            <a:r>
              <a:rPr lang="en-US" altLang="ko-KR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축소</a:t>
            </a:r>
            <a:endParaRPr lang="nl-NL" altLang="zh-CN" sz="1200" b="1">
              <a:solidFill>
                <a:srgbClr val="091D5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Oval 36"/>
          <p:cNvSpPr>
            <a:spLocks noChangeArrowheads="1"/>
          </p:cNvSpPr>
          <p:nvPr/>
        </p:nvSpPr>
        <p:spPr bwMode="auto">
          <a:xfrm>
            <a:off x="8853489" y="3482975"/>
            <a:ext cx="1208087" cy="503238"/>
          </a:xfrm>
          <a:prstGeom prst="ellipse">
            <a:avLst/>
          </a:prstGeom>
          <a:solidFill>
            <a:srgbClr val="091D5D"/>
          </a:solidFill>
          <a:ln w="6350" algn="ctr">
            <a:noFill/>
            <a:round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상황 회피</a:t>
            </a:r>
            <a:endParaRPr lang="nl-NL" altLang="zh-CN" sz="1200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Rectangle 37"/>
          <p:cNvSpPr>
            <a:spLocks noChangeArrowheads="1"/>
          </p:cNvSpPr>
          <p:nvPr/>
        </p:nvSpPr>
        <p:spPr bwMode="auto">
          <a:xfrm>
            <a:off x="7140575" y="2419351"/>
            <a:ext cx="1322388" cy="2619375"/>
          </a:xfrm>
          <a:prstGeom prst="rect">
            <a:avLst/>
          </a:prstGeom>
          <a:solidFill>
            <a:srgbClr val="DDD2B5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6" name="AutoShape 38"/>
          <p:cNvSpPr>
            <a:spLocks noChangeArrowheads="1"/>
          </p:cNvSpPr>
          <p:nvPr/>
        </p:nvSpPr>
        <p:spPr bwMode="auto">
          <a:xfrm flipV="1">
            <a:off x="7553325" y="3279776"/>
            <a:ext cx="496888" cy="130175"/>
          </a:xfrm>
          <a:prstGeom prst="triangle">
            <a:avLst>
              <a:gd name="adj" fmla="val 50000"/>
            </a:avLst>
          </a:prstGeom>
          <a:solidFill>
            <a:srgbClr val="9773AE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7" name="AutoShape 39"/>
          <p:cNvSpPr>
            <a:spLocks noChangeArrowheads="1"/>
          </p:cNvSpPr>
          <p:nvPr/>
        </p:nvSpPr>
        <p:spPr bwMode="auto">
          <a:xfrm>
            <a:off x="7553325" y="4054476"/>
            <a:ext cx="496888" cy="131763"/>
          </a:xfrm>
          <a:prstGeom prst="triangle">
            <a:avLst>
              <a:gd name="adj" fmla="val 50000"/>
            </a:avLst>
          </a:prstGeom>
          <a:solidFill>
            <a:srgbClr val="9773AE"/>
          </a:solidFill>
          <a:ln w="6350" algn="ctr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endParaRPr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50" name="Rectangle 40"/>
          <p:cNvSpPr>
            <a:spLocks noChangeArrowheads="1"/>
          </p:cNvSpPr>
          <p:nvPr/>
        </p:nvSpPr>
        <p:spPr bwMode="auto">
          <a:xfrm>
            <a:off x="7321550" y="2557464"/>
            <a:ext cx="958850" cy="619125"/>
          </a:xfrm>
          <a:prstGeom prst="rect">
            <a:avLst/>
          </a:prstGeom>
          <a:solidFill>
            <a:srgbClr val="FFFFFF"/>
          </a:solidFill>
          <a:ln w="12700">
            <a:solidFill>
              <a:srgbClr val="091D5D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안전감 느끼기 위한 행동들</a:t>
            </a:r>
            <a:endParaRPr lang="nl-NL" altLang="zh-CN" sz="1200" b="1">
              <a:solidFill>
                <a:srgbClr val="091D5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51" name="Rectangle 41"/>
          <p:cNvSpPr>
            <a:spLocks noChangeArrowheads="1"/>
          </p:cNvSpPr>
          <p:nvPr/>
        </p:nvSpPr>
        <p:spPr bwMode="auto">
          <a:xfrm>
            <a:off x="7321550" y="4322764"/>
            <a:ext cx="958850" cy="619125"/>
          </a:xfrm>
          <a:prstGeom prst="rect">
            <a:avLst/>
          </a:prstGeom>
          <a:solidFill>
            <a:srgbClr val="FFFFFF"/>
          </a:solidFill>
          <a:ln w="12700">
            <a:solidFill>
              <a:srgbClr val="091D5D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불안감을 줄이려는 노력들</a:t>
            </a:r>
            <a:endParaRPr lang="nl-NL" altLang="zh-CN" sz="1200" b="1">
              <a:solidFill>
                <a:srgbClr val="091D5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Oval 42"/>
          <p:cNvSpPr>
            <a:spLocks noChangeArrowheads="1"/>
          </p:cNvSpPr>
          <p:nvPr/>
        </p:nvSpPr>
        <p:spPr bwMode="auto">
          <a:xfrm>
            <a:off x="7196139" y="3482975"/>
            <a:ext cx="1209675" cy="503238"/>
          </a:xfrm>
          <a:prstGeom prst="ellipse">
            <a:avLst/>
          </a:prstGeom>
          <a:solidFill>
            <a:srgbClr val="091D5D"/>
          </a:solidFill>
          <a:ln w="6350" algn="ctr">
            <a:noFill/>
            <a:round/>
            <a:headEnd type="none" w="sm" len="sm"/>
            <a:tailEnd type="none" w="sm" len="sm"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defRPr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강박행동</a:t>
            </a:r>
            <a:endParaRPr lang="nl-NL" altLang="zh-CN" sz="1200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53" name="Text Box 43"/>
          <p:cNvSpPr txBox="1">
            <a:spLocks noChangeArrowheads="1"/>
          </p:cNvSpPr>
          <p:nvPr/>
        </p:nvSpPr>
        <p:spPr bwMode="auto">
          <a:xfrm>
            <a:off x="3467101" y="5156201"/>
            <a:ext cx="31734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 b="1">
                <a:solidFill>
                  <a:srgbClr val="091D5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비슷한 상황의 재경험으로 순환패턴 일어남</a:t>
            </a:r>
            <a:endParaRPr lang="en-US" altLang="ko-KR" sz="1200" b="1">
              <a:solidFill>
                <a:srgbClr val="091D5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AutoShape 48"/>
          <p:cNvSpPr>
            <a:spLocks noChangeArrowheads="1"/>
          </p:cNvSpPr>
          <p:nvPr/>
        </p:nvSpPr>
        <p:spPr bwMode="auto">
          <a:xfrm>
            <a:off x="6294439" y="2636839"/>
            <a:ext cx="1081087" cy="587375"/>
          </a:xfrm>
          <a:prstGeom prst="irregularSeal1">
            <a:avLst/>
          </a:prstGeom>
          <a:solidFill>
            <a:srgbClr val="9773AE"/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tIns="91440" bIns="91440" anchor="ctr"/>
          <a:lstStyle/>
          <a:p>
            <a:pPr>
              <a:buClr>
                <a:schemeClr val="bg1"/>
              </a:buClr>
              <a:buSzPct val="100000"/>
              <a:defRPr/>
            </a:pP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불안 </a:t>
            </a: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UP!!</a:t>
            </a:r>
            <a:endParaRPr lang="nl-NL" altLang="zh-CN" sz="1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3" name="Rectangle 2"/>
          <p:cNvSpPr txBox="1">
            <a:spLocks noChangeArrowheads="1"/>
          </p:cNvSpPr>
          <p:nvPr/>
        </p:nvSpPr>
        <p:spPr bwMode="auto">
          <a:xfrm>
            <a:off x="2381251" y="1857376"/>
            <a:ext cx="3571875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nl-NL" altLang="zh-CN" sz="1600" b="1" dirty="0">
                <a:solidFill>
                  <a:srgbClr val="091D5D"/>
                </a:solidFill>
                <a:latin typeface="+mj-lt"/>
                <a:ea typeface="宋体" pitchFamily="2" charset="-122"/>
                <a:cs typeface="+mj-cs"/>
              </a:rPr>
              <a:t>OCD symptoms cycle</a:t>
            </a:r>
          </a:p>
        </p:txBody>
      </p:sp>
    </p:spTree>
    <p:extLst>
      <p:ext uri="{BB962C8B-B14F-4D97-AF65-F5344CB8AC3E}">
        <p14:creationId xmlns:p14="http://schemas.microsoft.com/office/powerpoint/2010/main" val="27189466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1952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1952625" y="142875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7"/>
          <p:cNvSpPr>
            <a:spLocks noGrp="1" noChangeArrowheads="1"/>
          </p:cNvSpPr>
          <p:nvPr>
            <p:ph type="title"/>
          </p:nvPr>
        </p:nvSpPr>
        <p:spPr>
          <a:xfrm>
            <a:off x="2595563" y="357188"/>
            <a:ext cx="7313612" cy="11430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증상에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대한 탐색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5095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10246" name="Picture 8" descr="J:\SNUH\BS0001_jpg\BS00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1364" y="6154739"/>
            <a:ext cx="5746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Group 344"/>
          <p:cNvGraphicFramePr>
            <a:graphicFrameLocks noGrp="1"/>
          </p:cNvGraphicFramePr>
          <p:nvPr/>
        </p:nvGraphicFramePr>
        <p:xfrm>
          <a:off x="2170114" y="2928939"/>
          <a:ext cx="7858125" cy="2769687"/>
        </p:xfrm>
        <a:graphic>
          <a:graphicData uri="http://schemas.openxmlformats.org/drawingml/2006/table">
            <a:tbl>
              <a:tblPr/>
              <a:tblGrid>
                <a:gridCol w="1000125"/>
                <a:gridCol w="5214937"/>
                <a:gridCol w="1643063"/>
              </a:tblGrid>
              <a:tr h="508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1D5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       황 </a:t>
                      </a:r>
                      <a:endParaRPr kumimoji="0" lang="en-GB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1D5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고통의 정도</a:t>
                      </a:r>
                      <a:endParaRPr kumimoji="0" lang="en-US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(0-100)*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1D5D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문단속을 마친 후 잠자리에 들었을 때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873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여러 사람이 다니는 건물의 현관 손잡이를 만졌을 때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형이 베란다에 서서 아래를 내려다보고 있는 것을 보았을 때 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92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</a:tbl>
          </a:graphicData>
        </a:graphic>
      </p:graphicFrame>
      <p:grpSp>
        <p:nvGrpSpPr>
          <p:cNvPr id="10289" name="그룹 9"/>
          <p:cNvGrpSpPr>
            <a:grpSpLocks/>
          </p:cNvGrpSpPr>
          <p:nvPr/>
        </p:nvGrpSpPr>
        <p:grpSpPr bwMode="auto">
          <a:xfrm>
            <a:off x="2170114" y="1814259"/>
            <a:ext cx="7786687" cy="782805"/>
            <a:chOff x="1428728" y="4803027"/>
            <a:chExt cx="7143800" cy="461879"/>
          </a:xfrm>
        </p:grpSpPr>
        <p:sp>
          <p:nvSpPr>
            <p:cNvPr id="10290" name="TextBox 14"/>
            <p:cNvSpPr txBox="1">
              <a:spLocks noChangeArrowheads="1"/>
            </p:cNvSpPr>
            <p:nvPr/>
          </p:nvSpPr>
          <p:spPr bwMode="auto">
            <a:xfrm>
              <a:off x="1428728" y="4956190"/>
              <a:ext cx="7143800" cy="308716"/>
            </a:xfrm>
            <a:prstGeom prst="rect">
              <a:avLst/>
            </a:prstGeom>
            <a:solidFill>
              <a:srgbClr val="DDD2B5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en-US" altLang="ko-KR" sz="1400" b="1">
                <a:solidFill>
                  <a:srgbClr val="660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hangingPunct="1">
                <a:buFont typeface="Wingdings" panose="05000000000000000000" pitchFamily="2" charset="2"/>
                <a:buChar char="§"/>
              </a:pPr>
              <a:r>
                <a:rPr lang="ko-KR" altLang="en-US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첫째</a:t>
              </a:r>
              <a:r>
                <a:rPr lang="en-US" altLang="ko-KR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어떤 상황이나 대상에 직면했을 때 스트레스 느끼는 것</a:t>
              </a:r>
            </a:p>
          </p:txBody>
        </p:sp>
        <p:sp>
          <p:nvSpPr>
            <p:cNvPr id="10291" name="TextBox 8"/>
            <p:cNvSpPr txBox="1">
              <a:spLocks noChangeArrowheads="1"/>
            </p:cNvSpPr>
            <p:nvPr/>
          </p:nvSpPr>
          <p:spPr bwMode="auto">
            <a:xfrm>
              <a:off x="1643043" y="4803027"/>
              <a:ext cx="2286009" cy="199757"/>
            </a:xfrm>
            <a:prstGeom prst="rect">
              <a:avLst/>
            </a:prstGeom>
            <a:solidFill>
              <a:srgbClr val="091D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r>
                <a:rPr lang="ko-KR" altLang="en-US" sz="16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강박 사고의 종류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03032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1952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1952625" y="142875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7"/>
          <p:cNvSpPr>
            <a:spLocks noGrp="1" noChangeArrowheads="1"/>
          </p:cNvSpPr>
          <p:nvPr>
            <p:ph type="title"/>
          </p:nvPr>
        </p:nvSpPr>
        <p:spPr>
          <a:xfrm>
            <a:off x="2595563" y="357188"/>
            <a:ext cx="7313612" cy="11430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증상에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대한 탐색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5095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11270" name="Picture 8" descr="J:\SNUH\BS0001_jpg\BS00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1364" y="6154739"/>
            <a:ext cx="5746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Group 344"/>
          <p:cNvGraphicFramePr>
            <a:graphicFrameLocks noGrp="1"/>
          </p:cNvGraphicFramePr>
          <p:nvPr/>
        </p:nvGraphicFramePr>
        <p:xfrm>
          <a:off x="2170114" y="2928939"/>
          <a:ext cx="7858125" cy="2935677"/>
        </p:xfrm>
        <a:graphic>
          <a:graphicData uri="http://schemas.openxmlformats.org/drawingml/2006/table">
            <a:tbl>
              <a:tblPr/>
              <a:tblGrid>
                <a:gridCol w="1000125"/>
                <a:gridCol w="5214937"/>
                <a:gridCol w="1643063"/>
              </a:tblGrid>
              <a:tr h="508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1D5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생각 </a:t>
                      </a: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충동 </a:t>
                      </a: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</a:t>
                      </a:r>
                      <a:endParaRPr kumimoji="0" lang="en-GB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1D5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고통의 정도</a:t>
                      </a:r>
                      <a:endParaRPr kumimoji="0" lang="en-US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(0-100)*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1D5D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내가 현관문을 정확히 잠갔나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873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수많은 사람이 이 손잡이를 만졌을 것이고</a:t>
                      </a: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분명히 온갖 세균이 들끓을 텐데 그게 내 손에 잔뜩 묻었을 게 분명해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내가 형에게로 다가가서 형을 아래로 밀어버리는 장면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시험에 대한 걱정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92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</a:tbl>
          </a:graphicData>
        </a:graphic>
      </p:graphicFrame>
      <p:grpSp>
        <p:nvGrpSpPr>
          <p:cNvPr id="11313" name="그룹 9"/>
          <p:cNvGrpSpPr>
            <a:grpSpLocks/>
          </p:cNvGrpSpPr>
          <p:nvPr/>
        </p:nvGrpSpPr>
        <p:grpSpPr bwMode="auto">
          <a:xfrm>
            <a:off x="2170114" y="1785935"/>
            <a:ext cx="7786687" cy="735681"/>
            <a:chOff x="1428728" y="4867490"/>
            <a:chExt cx="7143800" cy="278624"/>
          </a:xfrm>
        </p:grpSpPr>
        <p:sp>
          <p:nvSpPr>
            <p:cNvPr id="11314" name="TextBox 14"/>
            <p:cNvSpPr txBox="1">
              <a:spLocks noChangeArrowheads="1"/>
            </p:cNvSpPr>
            <p:nvPr/>
          </p:nvSpPr>
          <p:spPr bwMode="auto">
            <a:xfrm>
              <a:off x="1428728" y="4947955"/>
              <a:ext cx="7143800" cy="198159"/>
            </a:xfrm>
            <a:prstGeom prst="rect">
              <a:avLst/>
            </a:prstGeom>
            <a:solidFill>
              <a:srgbClr val="DDD2B5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en-US" altLang="ko-KR" sz="1400" b="1">
                <a:solidFill>
                  <a:srgbClr val="660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hangingPunct="1">
                <a:buFont typeface="Wingdings" panose="05000000000000000000" pitchFamily="2" charset="2"/>
                <a:buChar char="§"/>
              </a:pPr>
              <a:r>
                <a:rPr lang="ko-KR" altLang="en-US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둘째</a:t>
              </a:r>
              <a:r>
                <a:rPr lang="en-US" altLang="ko-KR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생각</a:t>
              </a:r>
              <a:r>
                <a:rPr lang="en-US" altLang="ko-KR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충동</a:t>
              </a:r>
              <a:r>
                <a:rPr lang="en-US" altLang="ko-KR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이미지 때문에 불안</a:t>
              </a:r>
              <a:r>
                <a:rPr lang="en-US" altLang="ko-KR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수치심</a:t>
              </a:r>
              <a:r>
                <a:rPr lang="en-US" altLang="ko-KR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두려움</a:t>
              </a:r>
              <a:r>
                <a:rPr lang="en-US" altLang="ko-KR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답답함 같은 스트레스를 느끼는 것 </a:t>
              </a:r>
            </a:p>
          </p:txBody>
        </p:sp>
        <p:sp>
          <p:nvSpPr>
            <p:cNvPr id="11315" name="TextBox 8"/>
            <p:cNvSpPr txBox="1">
              <a:spLocks noChangeArrowheads="1"/>
            </p:cNvSpPr>
            <p:nvPr/>
          </p:nvSpPr>
          <p:spPr bwMode="auto">
            <a:xfrm>
              <a:off x="1643043" y="4867490"/>
              <a:ext cx="2286009" cy="128221"/>
            </a:xfrm>
            <a:prstGeom prst="rect">
              <a:avLst/>
            </a:prstGeom>
            <a:solidFill>
              <a:srgbClr val="091D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r>
                <a:rPr lang="ko-KR" altLang="en-US" sz="16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강박 사고의 종류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5382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1952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1952625" y="142875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7"/>
          <p:cNvSpPr>
            <a:spLocks noGrp="1" noChangeArrowheads="1"/>
          </p:cNvSpPr>
          <p:nvPr>
            <p:ph type="title"/>
          </p:nvPr>
        </p:nvSpPr>
        <p:spPr>
          <a:xfrm>
            <a:off x="2595563" y="357188"/>
            <a:ext cx="7313612" cy="11430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증상에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대한 탐색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5095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12294" name="Picture 8" descr="J:\SNUH\BS0001_jpg\BS00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1364" y="6154739"/>
            <a:ext cx="5746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Group 344"/>
          <p:cNvGraphicFramePr>
            <a:graphicFrameLocks noGrp="1"/>
          </p:cNvGraphicFramePr>
          <p:nvPr/>
        </p:nvGraphicFramePr>
        <p:xfrm>
          <a:off x="2182814" y="2928938"/>
          <a:ext cx="7858125" cy="2956250"/>
        </p:xfrm>
        <a:graphic>
          <a:graphicData uri="http://schemas.openxmlformats.org/drawingml/2006/table">
            <a:tbl>
              <a:tblPr/>
              <a:tblGrid>
                <a:gridCol w="679450"/>
                <a:gridCol w="4464050"/>
                <a:gridCol w="1571625"/>
                <a:gridCol w="1143000"/>
              </a:tblGrid>
              <a:tr h="508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1D5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외부적인 상황으로 인한 결과들 </a:t>
                      </a:r>
                      <a:endParaRPr kumimoji="0" lang="en-GB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1D5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고통의 정도</a:t>
                      </a:r>
                      <a:endParaRPr kumimoji="0" lang="en-US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(50-100)*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1D5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일이 일어날 가능성</a:t>
                      </a:r>
                      <a:endParaRPr kumimoji="0" lang="en-US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(0-100)+</a:t>
                      </a:r>
                      <a:endParaRPr kumimoji="0" lang="en-GB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1D5D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밤 사이에 도둑이 들어 가족을 해칠 수도 있다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873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더러운 세균에 오염되어 심각한 병에 걸릴 것이다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92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</a:tbl>
          </a:graphicData>
        </a:graphic>
      </p:graphicFrame>
      <p:grpSp>
        <p:nvGrpSpPr>
          <p:cNvPr id="12347" name="그룹 9"/>
          <p:cNvGrpSpPr>
            <a:grpSpLocks/>
          </p:cNvGrpSpPr>
          <p:nvPr/>
        </p:nvGrpSpPr>
        <p:grpSpPr bwMode="auto">
          <a:xfrm>
            <a:off x="2182814" y="1789117"/>
            <a:ext cx="7786687" cy="744539"/>
            <a:chOff x="1428728" y="4818697"/>
            <a:chExt cx="7143800" cy="370380"/>
          </a:xfrm>
        </p:grpSpPr>
        <p:sp>
          <p:nvSpPr>
            <p:cNvPr id="12348" name="TextBox 14"/>
            <p:cNvSpPr txBox="1">
              <a:spLocks noChangeArrowheads="1"/>
            </p:cNvSpPr>
            <p:nvPr/>
          </p:nvSpPr>
          <p:spPr bwMode="auto">
            <a:xfrm>
              <a:off x="1428728" y="4928970"/>
              <a:ext cx="7143800" cy="260107"/>
            </a:xfrm>
            <a:prstGeom prst="rect">
              <a:avLst/>
            </a:prstGeom>
            <a:solidFill>
              <a:srgbClr val="DDD2B5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en-US" altLang="ko-KR" sz="1400" b="1">
                <a:solidFill>
                  <a:srgbClr val="660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hangingPunct="1">
                <a:buFont typeface="Wingdings" panose="05000000000000000000" pitchFamily="2" charset="2"/>
                <a:buChar char="§"/>
              </a:pPr>
              <a:r>
                <a:rPr lang="ko-KR" altLang="en-US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셋째</a:t>
              </a:r>
              <a:r>
                <a:rPr lang="en-US" altLang="ko-KR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회피하거나 의식적 행위를 통해 방어하지 않는다면 어떤 두려운 일이 일어날 것</a:t>
              </a:r>
            </a:p>
          </p:txBody>
        </p:sp>
        <p:sp>
          <p:nvSpPr>
            <p:cNvPr id="12349" name="TextBox 8"/>
            <p:cNvSpPr txBox="1">
              <a:spLocks noChangeArrowheads="1"/>
            </p:cNvSpPr>
            <p:nvPr/>
          </p:nvSpPr>
          <p:spPr bwMode="auto">
            <a:xfrm>
              <a:off x="1643043" y="4818697"/>
              <a:ext cx="2286009" cy="168418"/>
            </a:xfrm>
            <a:prstGeom prst="rect">
              <a:avLst/>
            </a:prstGeom>
            <a:solidFill>
              <a:srgbClr val="091D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r>
                <a:rPr lang="ko-KR" altLang="en-US" sz="16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강박 사고의 종류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18458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1952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1952625" y="142875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7"/>
          <p:cNvSpPr>
            <a:spLocks noGrp="1" noChangeArrowheads="1"/>
          </p:cNvSpPr>
          <p:nvPr>
            <p:ph type="title"/>
          </p:nvPr>
        </p:nvSpPr>
        <p:spPr>
          <a:xfrm>
            <a:off x="2595563" y="357188"/>
            <a:ext cx="7313612" cy="11430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증상에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대한 탐색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5095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13318" name="Picture 8" descr="J:\SNUH\BS0001_jpg\BS00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1364" y="6154739"/>
            <a:ext cx="5746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Group 344"/>
          <p:cNvGraphicFramePr>
            <a:graphicFrameLocks noGrp="1"/>
          </p:cNvGraphicFramePr>
          <p:nvPr/>
        </p:nvGraphicFramePr>
        <p:xfrm>
          <a:off x="2170114" y="2928939"/>
          <a:ext cx="7858125" cy="2958599"/>
        </p:xfrm>
        <a:graphic>
          <a:graphicData uri="http://schemas.openxmlformats.org/drawingml/2006/table">
            <a:tbl>
              <a:tblPr/>
              <a:tblGrid>
                <a:gridCol w="679450"/>
                <a:gridCol w="4464050"/>
                <a:gridCol w="1571625"/>
                <a:gridCol w="1143000"/>
              </a:tblGrid>
              <a:tr h="508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1D5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나의 생각</a:t>
                      </a: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충동</a:t>
                      </a: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심상들에 의한 결과들 </a:t>
                      </a:r>
                      <a:endParaRPr kumimoji="0" lang="en-GB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1D5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고통의 정도</a:t>
                      </a:r>
                      <a:endParaRPr kumimoji="0" lang="en-US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(50-100)*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1D5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일이 일어날 가능성</a:t>
                      </a:r>
                      <a:endParaRPr kumimoji="0" lang="en-US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(0-100)+</a:t>
                      </a:r>
                      <a:endParaRPr kumimoji="0" lang="en-GB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1D5D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내가 형을 베란다 아래로 밀어버릴지도 모른다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873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나는 미쳐버릴 것이다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불안함이 절대 사라지지 않고 고통스러울 것이다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 생각을 하지 않는다면 중요한 자료를 잊어버릴 것이다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92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</a:tbl>
          </a:graphicData>
        </a:graphic>
      </p:graphicFrame>
      <p:grpSp>
        <p:nvGrpSpPr>
          <p:cNvPr id="13371" name="그룹 9"/>
          <p:cNvGrpSpPr>
            <a:grpSpLocks/>
          </p:cNvGrpSpPr>
          <p:nvPr/>
        </p:nvGrpSpPr>
        <p:grpSpPr bwMode="auto">
          <a:xfrm>
            <a:off x="2170114" y="1776417"/>
            <a:ext cx="7786687" cy="744539"/>
            <a:chOff x="1428728" y="4818697"/>
            <a:chExt cx="7143800" cy="370380"/>
          </a:xfrm>
        </p:grpSpPr>
        <p:sp>
          <p:nvSpPr>
            <p:cNvPr id="13372" name="TextBox 14"/>
            <p:cNvSpPr txBox="1">
              <a:spLocks noChangeArrowheads="1"/>
            </p:cNvSpPr>
            <p:nvPr/>
          </p:nvSpPr>
          <p:spPr bwMode="auto">
            <a:xfrm>
              <a:off x="1428728" y="4928970"/>
              <a:ext cx="7143800" cy="260107"/>
            </a:xfrm>
            <a:prstGeom prst="rect">
              <a:avLst/>
            </a:prstGeom>
            <a:solidFill>
              <a:srgbClr val="DDD2B5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en-US" altLang="ko-KR" sz="1400" b="1">
                <a:solidFill>
                  <a:srgbClr val="660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hangingPunct="1">
                <a:buFont typeface="Wingdings" panose="05000000000000000000" pitchFamily="2" charset="2"/>
                <a:buChar char="§"/>
              </a:pPr>
              <a:r>
                <a:rPr lang="ko-KR" altLang="en-US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셋째</a:t>
              </a:r>
              <a:r>
                <a:rPr lang="en-US" altLang="ko-KR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회피하거나 의식적 행위를 하지 않았을 때 나타나는 결과들  </a:t>
              </a:r>
            </a:p>
          </p:txBody>
        </p:sp>
        <p:sp>
          <p:nvSpPr>
            <p:cNvPr id="13373" name="TextBox 8"/>
            <p:cNvSpPr txBox="1">
              <a:spLocks noChangeArrowheads="1"/>
            </p:cNvSpPr>
            <p:nvPr/>
          </p:nvSpPr>
          <p:spPr bwMode="auto">
            <a:xfrm>
              <a:off x="1643043" y="4818697"/>
              <a:ext cx="2286009" cy="168418"/>
            </a:xfrm>
            <a:prstGeom prst="rect">
              <a:avLst/>
            </a:prstGeom>
            <a:solidFill>
              <a:srgbClr val="091D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r>
                <a:rPr lang="ko-KR" altLang="en-US" sz="16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강박 사고의 종류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87811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1952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1952625" y="142875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7"/>
          <p:cNvSpPr>
            <a:spLocks noGrp="1" noChangeArrowheads="1"/>
          </p:cNvSpPr>
          <p:nvPr>
            <p:ph type="title"/>
          </p:nvPr>
        </p:nvSpPr>
        <p:spPr>
          <a:xfrm>
            <a:off x="2595563" y="357188"/>
            <a:ext cx="7313612" cy="11430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32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증상에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대한 탐색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5095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14342" name="Picture 8" descr="J:\SNUH\BS0001_jpg\BS00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1364" y="6154739"/>
            <a:ext cx="5746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Group 344"/>
          <p:cNvGraphicFramePr>
            <a:graphicFrameLocks noGrp="1"/>
          </p:cNvGraphicFramePr>
          <p:nvPr/>
        </p:nvGraphicFramePr>
        <p:xfrm>
          <a:off x="2170113" y="2928939"/>
          <a:ext cx="7783512" cy="2775719"/>
        </p:xfrm>
        <a:graphic>
          <a:graphicData uri="http://schemas.openxmlformats.org/drawingml/2006/table">
            <a:tbl>
              <a:tblPr/>
              <a:tblGrid>
                <a:gridCol w="425450"/>
                <a:gridCol w="4714875"/>
                <a:gridCol w="857250"/>
                <a:gridCol w="785812"/>
                <a:gridCol w="1000125"/>
              </a:tblGrid>
              <a:tr h="508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1D5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의식적 행동 및 회피 행동</a:t>
                      </a:r>
                      <a:endParaRPr kumimoji="0" lang="en-GB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1D5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빈도</a:t>
                      </a:r>
                      <a:endParaRPr kumimoji="0" lang="en-US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</a:t>
                      </a: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en-GB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1D5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지속시간</a:t>
                      </a:r>
                      <a:endParaRPr kumimoji="0" lang="en-US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</a:t>
                      </a: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en-GB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1D5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행동의 정도</a:t>
                      </a:r>
                      <a:endParaRPr kumimoji="0" lang="en-US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(0-100)*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1D5D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현관문이 잠겨 있는지 반복적으로 확인한다</a:t>
                      </a: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 </a:t>
                      </a: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7-8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 </a:t>
                      </a: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2-3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873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정해진 절차대로 손을 씻는다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 </a:t>
                      </a: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 </a:t>
                      </a: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고개를 </a:t>
                      </a: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 흔든 후 속으로 </a:t>
                      </a: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1-10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거꾸로 센다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불규칙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5-20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809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사람들이 많이 다니는 공공건물</a:t>
                      </a: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특히 손잡이는 절대 만지지 않음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베란다로 시선을 두지 않으려 함</a:t>
                      </a: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  <a:tr h="292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2000"/>
                        </a:lnSpc>
                        <a:spcBef>
                          <a:spcPct val="0"/>
                        </a:spcBef>
                        <a:spcAft>
                          <a:spcPct val="37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nl-NL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077" marR="83077" marT="46800" marB="4680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2B5"/>
                    </a:solidFill>
                  </a:tcPr>
                </a:tc>
              </a:tr>
            </a:tbl>
          </a:graphicData>
        </a:graphic>
      </p:graphicFrame>
      <p:grpSp>
        <p:nvGrpSpPr>
          <p:cNvPr id="14405" name="그룹 9"/>
          <p:cNvGrpSpPr>
            <a:grpSpLocks/>
          </p:cNvGrpSpPr>
          <p:nvPr/>
        </p:nvGrpSpPr>
        <p:grpSpPr bwMode="auto">
          <a:xfrm>
            <a:off x="2170114" y="1698626"/>
            <a:ext cx="7786687" cy="936625"/>
            <a:chOff x="1428728" y="4830514"/>
            <a:chExt cx="7143800" cy="465665"/>
          </a:xfrm>
        </p:grpSpPr>
        <p:sp>
          <p:nvSpPr>
            <p:cNvPr id="14406" name="TextBox 14"/>
            <p:cNvSpPr txBox="1">
              <a:spLocks noChangeArrowheads="1"/>
            </p:cNvSpPr>
            <p:nvPr/>
          </p:nvSpPr>
          <p:spPr bwMode="auto">
            <a:xfrm>
              <a:off x="1428728" y="4928970"/>
              <a:ext cx="7143800" cy="367209"/>
            </a:xfrm>
            <a:prstGeom prst="rect">
              <a:avLst/>
            </a:prstGeom>
            <a:solidFill>
              <a:srgbClr val="DDD2B5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en-US" altLang="ko-KR" sz="1400" b="1">
                <a:solidFill>
                  <a:srgbClr val="660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hangingPunct="1">
                <a:buFont typeface="Wingdings" panose="05000000000000000000" pitchFamily="2" charset="2"/>
                <a:buChar char="§"/>
              </a:pPr>
              <a:r>
                <a:rPr lang="ko-KR" altLang="en-US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이런 불안감과 스트레스</a:t>
              </a:r>
              <a:r>
                <a:rPr lang="en-US" altLang="ko-KR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400" b="1">
                  <a:solidFill>
                    <a:srgbClr val="6600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걱정스런 결과들로 인해 안전감을 느끼기 위해 어떤 행동을 강박적으로 하거나 피하게 되는 행동들</a:t>
              </a:r>
            </a:p>
          </p:txBody>
        </p:sp>
        <p:sp>
          <p:nvSpPr>
            <p:cNvPr id="14407" name="TextBox 8"/>
            <p:cNvSpPr txBox="1">
              <a:spLocks noChangeArrowheads="1"/>
            </p:cNvSpPr>
            <p:nvPr/>
          </p:nvSpPr>
          <p:spPr bwMode="auto">
            <a:xfrm>
              <a:off x="1643043" y="4830514"/>
              <a:ext cx="2286009" cy="168304"/>
            </a:xfrm>
            <a:prstGeom prst="rect">
              <a:avLst/>
            </a:prstGeom>
            <a:solidFill>
              <a:srgbClr val="091D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r>
                <a:rPr lang="ko-KR" altLang="en-US" sz="16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의식적 행동 및 회피행동</a:t>
              </a:r>
              <a:endParaRPr lang="en-US" altLang="ko-KR"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27008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</Words>
  <Application>Microsoft Office PowerPoint</Application>
  <PresentationFormat>와이드스크린</PresentationFormat>
  <Paragraphs>181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宋体</vt:lpstr>
      <vt:lpstr>굴림</vt:lpstr>
      <vt:lpstr>맑은 고딕</vt:lpstr>
      <vt:lpstr>Arial</vt:lpstr>
      <vt:lpstr>Arial Narrow</vt:lpstr>
      <vt:lpstr>Wingdings</vt:lpstr>
      <vt:lpstr>Office 테마</vt:lpstr>
      <vt:lpstr>증상에 대한 탐색</vt:lpstr>
      <vt:lpstr>증상에 대한 탐색</vt:lpstr>
      <vt:lpstr>증상에 대한 탐색</vt:lpstr>
      <vt:lpstr>증상에 대한 탐색</vt:lpstr>
      <vt:lpstr>증상에 대한 탐색</vt:lpstr>
      <vt:lpstr>증상에 대한 탐색</vt:lpstr>
      <vt:lpstr>증상에 대한 탐색</vt:lpstr>
      <vt:lpstr>증상에 대한 탐색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증상에 대한 탐색</dc:title>
  <dc:creator>Windows 사용자</dc:creator>
  <cp:lastModifiedBy>Windows 사용자</cp:lastModifiedBy>
  <cp:revision>1</cp:revision>
  <dcterms:created xsi:type="dcterms:W3CDTF">2018-12-29T01:08:13Z</dcterms:created>
  <dcterms:modified xsi:type="dcterms:W3CDTF">2018-12-29T01:08:23Z</dcterms:modified>
</cp:coreProperties>
</file>