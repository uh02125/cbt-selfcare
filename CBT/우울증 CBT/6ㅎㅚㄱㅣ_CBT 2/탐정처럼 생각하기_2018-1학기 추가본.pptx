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6256000" cy="21674138"/>
  <p:notesSz cx="6797675" cy="9928225"/>
  <p:defaultTextStyle>
    <a:defPPr>
      <a:defRPr lang="ko-KR"/>
    </a:defPPr>
    <a:lvl1pPr marL="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8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36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54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72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90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08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26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440" algn="l" defTabSz="914360" rtl="0" eaLnBrk="1" latinLnBrk="1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450" y="-4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547135"/>
            <a:ext cx="13817600" cy="7545811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2000" y="11383941"/>
            <a:ext cx="12192000" cy="5232898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54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531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9134" y="5403489"/>
            <a:ext cx="14020800" cy="9015838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9134" y="14504620"/>
            <a:ext cx="14020800" cy="4741216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36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5769736"/>
            <a:ext cx="6908800" cy="137520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5769736"/>
            <a:ext cx="6908800" cy="137520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1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1153952"/>
            <a:ext cx="14020800" cy="418933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719" y="5313176"/>
            <a:ext cx="6877049" cy="2603905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9719" y="7917081"/>
            <a:ext cx="6877049" cy="1164483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229601" y="5313176"/>
            <a:ext cx="6910917" cy="2603905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7917081"/>
            <a:ext cx="6910917" cy="1164483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15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789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1444942"/>
            <a:ext cx="5242983" cy="5057299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10917" y="3120679"/>
            <a:ext cx="8229600" cy="15402686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6502241"/>
            <a:ext cx="5242983" cy="12046207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332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717" y="1444942"/>
            <a:ext cx="5242983" cy="5057299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10917" y="3120679"/>
            <a:ext cx="8229600" cy="15402686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9717" y="6502241"/>
            <a:ext cx="5242983" cy="12046207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3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3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1153947"/>
            <a:ext cx="3505200" cy="1836783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601" y="1153947"/>
            <a:ext cx="10312400" cy="1836783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858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600" y="1153952"/>
            <a:ext cx="14020800" cy="4189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600" y="5769736"/>
            <a:ext cx="14020800" cy="137520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600" y="20088720"/>
            <a:ext cx="36576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3561B-02EC-44B5-86F7-0CB1B1214542}" type="datetimeFigureOut">
              <a:rPr lang="ko-KR" altLang="en-US" smtClean="0"/>
              <a:t>2018-05-10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84800" y="20088720"/>
            <a:ext cx="54864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80800" y="20088720"/>
            <a:ext cx="3657600" cy="11539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35F865-D212-4F7F-B14D-00BF1F9A9C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741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625620" rtl="0" eaLnBrk="1" latinLnBrk="1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1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1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1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/>
          <p:cNvGrpSpPr/>
          <p:nvPr/>
        </p:nvGrpSpPr>
        <p:grpSpPr>
          <a:xfrm>
            <a:off x="5441887" y="7122221"/>
            <a:ext cx="5448433" cy="6284283"/>
            <a:chOff x="5441887" y="6484046"/>
            <a:chExt cx="5448433" cy="6284283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5441888" y="6484046"/>
              <a:ext cx="5448432" cy="167644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수정이와 윤아 두 여자아이가 있습니다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. 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둘 다 친구들에게 금요일 저녁에 놀자고 제안했는데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, 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둘 다 친구들로부터 해야 할 일이 너무 많아서 놀 수 없다는 이야기를 들었습니다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.</a:t>
              </a:r>
              <a:endParaRPr lang="ko-KR" altLang="en-US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</p:txBody>
        </p:sp>
        <p:sp>
          <p:nvSpPr>
            <p:cNvPr id="6" name="아래쪽 화살표 5"/>
            <p:cNvSpPr/>
            <p:nvPr/>
          </p:nvSpPr>
          <p:spPr>
            <a:xfrm>
              <a:off x="6527766" y="8160483"/>
              <a:ext cx="428635" cy="54293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2"/>
            </a:p>
          </p:txBody>
        </p:sp>
        <p:sp>
          <p:nvSpPr>
            <p:cNvPr id="7" name="아래쪽 화살표 6"/>
            <p:cNvSpPr/>
            <p:nvPr/>
          </p:nvSpPr>
          <p:spPr>
            <a:xfrm>
              <a:off x="9367071" y="8160483"/>
              <a:ext cx="428635" cy="542939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2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5441889" y="8703422"/>
              <a:ext cx="2600392" cy="176216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수정이 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“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내 친구는 날 좋아하지 않고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, 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나랑 놀러 가기 싫어하니까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, 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앞으로도 </a:t>
              </a:r>
              <a:endParaRPr lang="en-US" altLang="ko-KR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나와 놀고 싶어하지 않을 거야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.”</a:t>
              </a:r>
              <a:endParaRPr lang="ko-KR" altLang="en-US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8272456" y="8703422"/>
              <a:ext cx="2617863" cy="176216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윤아 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:</a:t>
              </a:r>
            </a:p>
            <a:p>
              <a:pPr>
                <a:lnSpc>
                  <a:spcPct val="150000"/>
                </a:lnSpc>
              </a:pP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“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친구가 바쁜 것 같지만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, 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다른 날 </a:t>
              </a:r>
              <a:endParaRPr lang="en-US" altLang="ko-KR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놀면 돼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. </a:t>
              </a:r>
              <a:r>
                <a:rPr lang="ko-KR" altLang="en-US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얘는 여전히 내 절친이야</a:t>
              </a:r>
              <a:r>
                <a:rPr lang="en-US" altLang="ko-KR" sz="1199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.”</a:t>
              </a:r>
              <a:endParaRPr lang="ko-KR" altLang="en-US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</p:txBody>
        </p:sp>
        <p:sp>
          <p:nvSpPr>
            <p:cNvPr id="10" name="아래쪽 화살표 9"/>
            <p:cNvSpPr/>
            <p:nvPr/>
          </p:nvSpPr>
          <p:spPr>
            <a:xfrm>
              <a:off x="6527763" y="10465592"/>
              <a:ext cx="428635" cy="54293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2"/>
            </a:p>
          </p:txBody>
        </p:sp>
        <p:sp>
          <p:nvSpPr>
            <p:cNvPr id="11" name="아래쪽 화살표 10"/>
            <p:cNvSpPr/>
            <p:nvPr/>
          </p:nvSpPr>
          <p:spPr>
            <a:xfrm>
              <a:off x="9367071" y="10465592"/>
              <a:ext cx="428635" cy="542933"/>
            </a:xfrm>
            <a:prstGeom prst="down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12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5441887" y="11006162"/>
              <a:ext cx="2600392" cy="176216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1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실망스러움</a:t>
              </a:r>
              <a:endParaRPr lang="en-US" altLang="ko-KR" sz="1401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401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슬픔</a:t>
              </a:r>
              <a:endParaRPr lang="ko-KR" altLang="en-US" sz="1199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endParaRPr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8272454" y="11006162"/>
              <a:ext cx="2617863" cy="1762167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1" tIns="45721" rIns="91441" bIns="45721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401" dirty="0">
                  <a:solidFill>
                    <a:schemeClr val="tx1"/>
                  </a:solidFill>
                  <a:latin typeface="아리따-돋움(TTF)-SemiBold" panose="02020603020101020101" pitchFamily="18" charset="-127"/>
                  <a:ea typeface="아리따-돋움(TTF)-SemiBold" panose="02020603020101020101" pitchFamily="18" charset="-127"/>
                </a:rPr>
                <a:t>즐거움</a:t>
              </a: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441887" y="13916189"/>
            <a:ext cx="5448432" cy="16190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2" tIns="45721" rIns="91442" bIns="4572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rPr>
              <a:t>☞ 겪은 일은 같아도</a:t>
            </a:r>
            <a:r>
              <a:rPr lang="en-US" altLang="ko-KR" sz="1800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rPr>
              <a:t>, </a:t>
            </a:r>
            <a:r>
              <a:rPr lang="ko-KR" altLang="en-US" sz="1800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rPr>
              <a:t>생각에 따라 감정과 결과가 달라짐</a:t>
            </a:r>
            <a:endParaRPr lang="en-US" altLang="ko-KR" sz="1800" dirty="0">
              <a:solidFill>
                <a:schemeClr val="tx1"/>
              </a:solidFill>
              <a:latin typeface="아리따-돋움(TTF)-SemiBold" panose="02020603020101020101" pitchFamily="18" charset="-127"/>
              <a:ea typeface="아리따-돋움(TTF)-SemiBold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rPr>
              <a:t>☞ 탐정처럼 내 부정적인 자동적 생각을 찾는 게 중요</a:t>
            </a:r>
            <a:r>
              <a:rPr lang="en-US" altLang="ko-KR" sz="1800" dirty="0">
                <a:solidFill>
                  <a:schemeClr val="tx1"/>
                </a:solidFill>
                <a:latin typeface="아리따-돋움(TTF)-SemiBold" panose="02020603020101020101" pitchFamily="18" charset="-127"/>
                <a:ea typeface="아리따-돋움(TTF)-SemiBold" panose="02020603020101020101" pitchFamily="18" charset="-127"/>
              </a:rPr>
              <a:t>!</a:t>
            </a:r>
            <a:endParaRPr lang="ko-KR" altLang="en-US" sz="1600" dirty="0">
              <a:solidFill>
                <a:schemeClr val="tx1"/>
              </a:solidFill>
              <a:latin typeface="아리따-돋움(TTF)-SemiBold" panose="02020603020101020101" pitchFamily="18" charset="-127"/>
              <a:ea typeface="아리따-돋움(TTF)-SemiBold" panose="02020603020101020101" pitchFamily="18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450283"/>
              </p:ext>
            </p:extLst>
          </p:nvPr>
        </p:nvGraphicFramePr>
        <p:xfrm>
          <a:off x="5441888" y="6029175"/>
          <a:ext cx="5448430" cy="552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8430"/>
              </a:tblGrid>
              <a:tr h="552473">
                <a:tc>
                  <a:txBody>
                    <a:bodyPr/>
                    <a:lstStyle/>
                    <a:p>
                      <a:pPr marL="0" marR="0" lvl="0" indent="0" algn="ctr" defTabSz="162562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  <a:latin typeface="아리따-돋움(TTF)-SemiBold" panose="02020603020101020101" pitchFamily="18" charset="-127"/>
                          <a:ea typeface="아리따-돋움(TTF)-SemiBold" panose="02020603020101020101" pitchFamily="18" charset="-127"/>
                        </a:rPr>
                        <a:t>부정적인 자동적 생각 찾기 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latin typeface="아리따-돋움(TTF)-SemiBold" panose="02020603020101020101" pitchFamily="18" charset="-127"/>
                          <a:ea typeface="아리따-돋움(TTF)-SemiBold" panose="02020603020101020101" pitchFamily="18" charset="-127"/>
                        </a:rPr>
                        <a:t>: </a:t>
                      </a:r>
                      <a:r>
                        <a:rPr lang="ko-KR" altLang="en-US" sz="1800" dirty="0" smtClean="0">
                          <a:solidFill>
                            <a:schemeClr val="tx1"/>
                          </a:solidFill>
                          <a:latin typeface="아리따-돋움(TTF)-SemiBold" panose="02020603020101020101" pitchFamily="18" charset="-127"/>
                          <a:ea typeface="아리따-돋움(TTF)-SemiBold" panose="02020603020101020101" pitchFamily="18" charset="-127"/>
                        </a:rPr>
                        <a:t>탐정처럼 생각하기</a:t>
                      </a:r>
                      <a:r>
                        <a:rPr lang="en-US" altLang="ko-KR" sz="1800" dirty="0" smtClean="0">
                          <a:solidFill>
                            <a:schemeClr val="tx1"/>
                          </a:solidFill>
                          <a:latin typeface="아리따-돋움(TTF)-SemiBold" panose="02020603020101020101" pitchFamily="18" charset="-127"/>
                          <a:ea typeface="아리따-돋움(TTF)-SemiBold" panose="02020603020101020101" pitchFamily="18" charset="-127"/>
                        </a:rPr>
                        <a:t>!</a:t>
                      </a:r>
                      <a:endParaRPr lang="ko-KR" altLang="en-US" sz="1800" dirty="0" smtClean="0">
                        <a:solidFill>
                          <a:schemeClr val="tx1"/>
                        </a:solidFill>
                        <a:latin typeface="아리따-돋움(TTF)-SemiBold" panose="02020603020101020101" pitchFamily="18" charset="-127"/>
                        <a:ea typeface="아리따-돋움(TTF)-SemiBold" panose="02020603020101020101" pitchFamily="18" charset="-127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9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</TotalTime>
  <Words>98</Words>
  <Application>Microsoft Office PowerPoint</Application>
  <PresentationFormat>사용자 지정</PresentationFormat>
  <Paragraphs>15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아리따-돋움(TTF)-SemiBold</vt:lpstr>
      <vt:lpstr>Arial</vt:lpstr>
      <vt:lpstr>Calibri</vt:lpstr>
      <vt:lpstr>Calibri Light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SNUH</dc:creator>
  <cp:lastModifiedBy>SNUH</cp:lastModifiedBy>
  <cp:revision>19</cp:revision>
  <cp:lastPrinted>2018-05-10T07:28:33Z</cp:lastPrinted>
  <dcterms:created xsi:type="dcterms:W3CDTF">2018-05-10T06:43:49Z</dcterms:created>
  <dcterms:modified xsi:type="dcterms:W3CDTF">2018-05-10T07:28:49Z</dcterms:modified>
</cp:coreProperties>
</file>