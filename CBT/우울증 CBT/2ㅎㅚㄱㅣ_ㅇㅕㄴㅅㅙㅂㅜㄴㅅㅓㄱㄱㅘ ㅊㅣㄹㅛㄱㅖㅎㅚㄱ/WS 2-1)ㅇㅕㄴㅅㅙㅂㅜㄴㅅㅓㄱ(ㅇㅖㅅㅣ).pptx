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124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60365-FB64-46C8-B449-4A5813F3F5A2}" type="datetimeFigureOut">
              <a:rPr lang="ko-KR" altLang="en-US" smtClean="0"/>
              <a:t>2017-02-24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EBBB0-F63C-4B0F-BC14-785D5DA74E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7661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60365-FB64-46C8-B449-4A5813F3F5A2}" type="datetimeFigureOut">
              <a:rPr lang="ko-KR" altLang="en-US" smtClean="0"/>
              <a:t>2017-02-24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EBBB0-F63C-4B0F-BC14-785D5DA74E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8257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60365-FB64-46C8-B449-4A5813F3F5A2}" type="datetimeFigureOut">
              <a:rPr lang="ko-KR" altLang="en-US" smtClean="0"/>
              <a:t>2017-02-24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EBBB0-F63C-4B0F-BC14-785D5DA74E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5067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60365-FB64-46C8-B449-4A5813F3F5A2}" type="datetimeFigureOut">
              <a:rPr lang="ko-KR" altLang="en-US" smtClean="0"/>
              <a:t>2017-02-24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EBBB0-F63C-4B0F-BC14-785D5DA74E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5309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60365-FB64-46C8-B449-4A5813F3F5A2}" type="datetimeFigureOut">
              <a:rPr lang="ko-KR" altLang="en-US" smtClean="0"/>
              <a:t>2017-02-24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EBBB0-F63C-4B0F-BC14-785D5DA74E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5693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60365-FB64-46C8-B449-4A5813F3F5A2}" type="datetimeFigureOut">
              <a:rPr lang="ko-KR" altLang="en-US" smtClean="0"/>
              <a:t>2017-02-24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EBBB0-F63C-4B0F-BC14-785D5DA74E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45677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60365-FB64-46C8-B449-4A5813F3F5A2}" type="datetimeFigureOut">
              <a:rPr lang="ko-KR" altLang="en-US" smtClean="0"/>
              <a:t>2017-02-24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EBBB0-F63C-4B0F-BC14-785D5DA74E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4887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60365-FB64-46C8-B449-4A5813F3F5A2}" type="datetimeFigureOut">
              <a:rPr lang="ko-KR" altLang="en-US" smtClean="0"/>
              <a:t>2017-02-24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EBBB0-F63C-4B0F-BC14-785D5DA74E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5107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60365-FB64-46C8-B449-4A5813F3F5A2}" type="datetimeFigureOut">
              <a:rPr lang="ko-KR" altLang="en-US" smtClean="0"/>
              <a:t>2017-02-24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EBBB0-F63C-4B0F-BC14-785D5DA74E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4416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60365-FB64-46C8-B449-4A5813F3F5A2}" type="datetimeFigureOut">
              <a:rPr lang="ko-KR" altLang="en-US" smtClean="0"/>
              <a:t>2017-02-24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EBBB0-F63C-4B0F-BC14-785D5DA74E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3478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60365-FB64-46C8-B449-4A5813F3F5A2}" type="datetimeFigureOut">
              <a:rPr lang="ko-KR" altLang="en-US" smtClean="0"/>
              <a:t>2017-02-24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EBBB0-F63C-4B0F-BC14-785D5DA74E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7617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E60365-FB64-46C8-B449-4A5813F3F5A2}" type="datetimeFigureOut">
              <a:rPr lang="ko-KR" altLang="en-US" smtClean="0"/>
              <a:t>2017-02-24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7EBBB0-F63C-4B0F-BC14-785D5DA74E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5798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타원 7"/>
          <p:cNvSpPr/>
          <p:nvPr/>
        </p:nvSpPr>
        <p:spPr>
          <a:xfrm>
            <a:off x="2646591" y="1954530"/>
            <a:ext cx="2148246" cy="176348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89013"/>
            <a:r>
              <a:rPr lang="ko-KR" altLang="en-US" sz="1400" dirty="0">
                <a:solidFill>
                  <a:schemeClr val="tx1"/>
                </a:solidFill>
              </a:rPr>
              <a:t>칼로 손목을 그음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21030" y="2063933"/>
            <a:ext cx="9555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문제</a:t>
            </a:r>
          </a:p>
        </p:txBody>
      </p:sp>
      <p:sp>
        <p:nvSpPr>
          <p:cNvPr id="10" name="타원 9"/>
          <p:cNvSpPr/>
          <p:nvPr/>
        </p:nvSpPr>
        <p:spPr>
          <a:xfrm>
            <a:off x="2119993" y="451366"/>
            <a:ext cx="1382486" cy="125185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기분이 상함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585" y="707963"/>
            <a:ext cx="664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시작</a:t>
            </a:r>
          </a:p>
        </p:txBody>
      </p:sp>
      <p:sp>
        <p:nvSpPr>
          <p:cNvPr id="12" name="타원 11"/>
          <p:cNvSpPr/>
          <p:nvPr/>
        </p:nvSpPr>
        <p:spPr>
          <a:xfrm>
            <a:off x="3429002" y="341963"/>
            <a:ext cx="1382486" cy="125185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졸려서 커피 마심</a:t>
            </a:r>
          </a:p>
        </p:txBody>
      </p:sp>
      <p:sp>
        <p:nvSpPr>
          <p:cNvPr id="13" name="타원 12"/>
          <p:cNvSpPr/>
          <p:nvPr/>
        </p:nvSpPr>
        <p:spPr>
          <a:xfrm>
            <a:off x="990600" y="892629"/>
            <a:ext cx="1382486" cy="125185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소풍가는</a:t>
            </a:r>
            <a:r>
              <a:rPr lang="ko-KR" altLang="en-US" sz="1200" dirty="0">
                <a:solidFill>
                  <a:schemeClr val="tx1"/>
                </a:solidFill>
              </a:rPr>
              <a:t> 차에서 단짝이 다른 친구와 앉음</a:t>
            </a:r>
          </a:p>
        </p:txBody>
      </p:sp>
      <p:sp>
        <p:nvSpPr>
          <p:cNvPr id="14" name="타원 13"/>
          <p:cNvSpPr/>
          <p:nvPr/>
        </p:nvSpPr>
        <p:spPr>
          <a:xfrm>
            <a:off x="4738011" y="363735"/>
            <a:ext cx="1382486" cy="125185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둘이서 이야기를 </a:t>
            </a:r>
            <a:r>
              <a:rPr lang="ko-KR" altLang="en-US" sz="1400" dirty="0" err="1">
                <a:solidFill>
                  <a:schemeClr val="tx1"/>
                </a:solidFill>
              </a:rPr>
              <a:t>재밌게</a:t>
            </a:r>
            <a:r>
              <a:rPr lang="ko-KR" altLang="en-US" sz="1400" dirty="0">
                <a:solidFill>
                  <a:schemeClr val="tx1"/>
                </a:solidFill>
              </a:rPr>
              <a:t> 함</a:t>
            </a:r>
          </a:p>
        </p:txBody>
      </p:sp>
      <p:sp>
        <p:nvSpPr>
          <p:cNvPr id="15" name="타원 14"/>
          <p:cNvSpPr/>
          <p:nvPr/>
        </p:nvSpPr>
        <p:spPr>
          <a:xfrm>
            <a:off x="6038858" y="522123"/>
            <a:ext cx="1382486" cy="125185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핸드폰을 만지작거림</a:t>
            </a:r>
          </a:p>
        </p:txBody>
      </p:sp>
      <p:sp>
        <p:nvSpPr>
          <p:cNvPr id="16" name="타원 15"/>
          <p:cNvSpPr/>
          <p:nvPr/>
        </p:nvSpPr>
        <p:spPr>
          <a:xfrm>
            <a:off x="7168251" y="1153886"/>
            <a:ext cx="1382486" cy="125185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둘에게 말을 걸었으나 </a:t>
            </a:r>
            <a:r>
              <a:rPr lang="ko-KR" altLang="en-US" sz="1400" dirty="0" err="1">
                <a:solidFill>
                  <a:schemeClr val="tx1"/>
                </a:solidFill>
              </a:rPr>
              <a:t>반응없음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7" name="타원 16"/>
          <p:cNvSpPr/>
          <p:nvPr/>
        </p:nvSpPr>
        <p:spPr>
          <a:xfrm>
            <a:off x="7587343" y="2221233"/>
            <a:ext cx="1382486" cy="125185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ko-KR" altLang="en-US" sz="1400" dirty="0">
                <a:solidFill>
                  <a:prstClr val="black"/>
                </a:solidFill>
              </a:rPr>
              <a:t>생각 </a:t>
            </a:r>
            <a:r>
              <a:rPr lang="en-US" altLang="ko-KR" sz="1400" dirty="0">
                <a:solidFill>
                  <a:prstClr val="black"/>
                </a:solidFill>
              </a:rPr>
              <a:t>“</a:t>
            </a:r>
            <a:r>
              <a:rPr lang="ko-KR" altLang="en-US" sz="1400" dirty="0">
                <a:solidFill>
                  <a:prstClr val="black"/>
                </a:solidFill>
              </a:rPr>
              <a:t>나를 무시한다</a:t>
            </a:r>
            <a:r>
              <a:rPr lang="en-US" altLang="ko-KR" sz="1400" dirty="0">
                <a:solidFill>
                  <a:prstClr val="black"/>
                </a:solidFill>
              </a:rPr>
              <a:t>＂</a:t>
            </a:r>
            <a:endParaRPr lang="ko-KR" altLang="en-US" sz="1400" dirty="0">
              <a:solidFill>
                <a:prstClr val="black"/>
              </a:solidFill>
            </a:endParaRPr>
          </a:p>
        </p:txBody>
      </p:sp>
      <p:sp>
        <p:nvSpPr>
          <p:cNvPr id="18" name="타원 17"/>
          <p:cNvSpPr/>
          <p:nvPr/>
        </p:nvSpPr>
        <p:spPr>
          <a:xfrm>
            <a:off x="7600956" y="3352801"/>
            <a:ext cx="1382486" cy="125185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ko-KR" altLang="en-US" sz="1400" dirty="0">
                <a:solidFill>
                  <a:prstClr val="black"/>
                </a:solidFill>
              </a:rPr>
              <a:t>화가 남</a:t>
            </a:r>
          </a:p>
        </p:txBody>
      </p:sp>
      <p:sp>
        <p:nvSpPr>
          <p:cNvPr id="19" name="타원 18"/>
          <p:cNvSpPr/>
          <p:nvPr/>
        </p:nvSpPr>
        <p:spPr>
          <a:xfrm>
            <a:off x="7246470" y="4420148"/>
            <a:ext cx="1382486" cy="125185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친구에게 트집잡음</a:t>
            </a:r>
          </a:p>
        </p:txBody>
      </p:sp>
      <p:sp>
        <p:nvSpPr>
          <p:cNvPr id="20" name="타원 19"/>
          <p:cNvSpPr/>
          <p:nvPr/>
        </p:nvSpPr>
        <p:spPr>
          <a:xfrm>
            <a:off x="6379028" y="5177798"/>
            <a:ext cx="1382486" cy="125185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단짝이 나의 말을 비판함</a:t>
            </a:r>
          </a:p>
        </p:txBody>
      </p:sp>
      <p:sp>
        <p:nvSpPr>
          <p:cNvPr id="21" name="타원 20"/>
          <p:cNvSpPr/>
          <p:nvPr/>
        </p:nvSpPr>
        <p:spPr>
          <a:xfrm>
            <a:off x="5196571" y="5366658"/>
            <a:ext cx="1382486" cy="125185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생각 </a:t>
            </a:r>
            <a:r>
              <a:rPr lang="en-US" altLang="ko-KR" sz="1400" dirty="0">
                <a:solidFill>
                  <a:schemeClr val="tx1"/>
                </a:solidFill>
              </a:rPr>
              <a:t>“</a:t>
            </a:r>
            <a:r>
              <a:rPr lang="ko-KR" altLang="en-US" sz="1400" dirty="0">
                <a:solidFill>
                  <a:schemeClr val="tx1"/>
                </a:solidFill>
              </a:rPr>
              <a:t>내 편이 되어주지 않는다</a:t>
            </a:r>
            <a:r>
              <a:rPr lang="en-US" altLang="ko-KR" sz="1400" dirty="0">
                <a:solidFill>
                  <a:schemeClr val="tx1"/>
                </a:solidFill>
              </a:rPr>
              <a:t>＂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22" name="타원 21"/>
          <p:cNvSpPr/>
          <p:nvPr/>
        </p:nvSpPr>
        <p:spPr>
          <a:xfrm>
            <a:off x="3917500" y="5366658"/>
            <a:ext cx="1382486" cy="125185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</a:rPr>
              <a:t>좌절스러움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23" name="타원 22"/>
          <p:cNvSpPr/>
          <p:nvPr/>
        </p:nvSpPr>
        <p:spPr>
          <a:xfrm>
            <a:off x="2619384" y="5366657"/>
            <a:ext cx="1382486" cy="125185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단짝에게 화를 냄</a:t>
            </a:r>
          </a:p>
        </p:txBody>
      </p:sp>
      <p:sp>
        <p:nvSpPr>
          <p:cNvPr id="24" name="타원 23"/>
          <p:cNvSpPr/>
          <p:nvPr/>
        </p:nvSpPr>
        <p:spPr>
          <a:xfrm>
            <a:off x="1472284" y="5166365"/>
            <a:ext cx="1382486" cy="125185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귀가 후 문자를 보냈으나 답장이 없음</a:t>
            </a:r>
          </a:p>
        </p:txBody>
      </p:sp>
      <p:sp>
        <p:nvSpPr>
          <p:cNvPr id="25" name="타원 24"/>
          <p:cNvSpPr/>
          <p:nvPr/>
        </p:nvSpPr>
        <p:spPr>
          <a:xfrm>
            <a:off x="466056" y="4540436"/>
            <a:ext cx="1382486" cy="125185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“</a:t>
            </a:r>
            <a:r>
              <a:rPr lang="ko-KR" altLang="en-US" sz="1400" dirty="0">
                <a:solidFill>
                  <a:schemeClr val="tx1"/>
                </a:solidFill>
              </a:rPr>
              <a:t>아무도 날 좋아하지 않아</a:t>
            </a:r>
            <a:r>
              <a:rPr lang="en-US" altLang="ko-KR" sz="1400" dirty="0">
                <a:solidFill>
                  <a:schemeClr val="tx1"/>
                </a:solidFill>
              </a:rPr>
              <a:t>＂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26" name="타원 25"/>
          <p:cNvSpPr/>
          <p:nvPr/>
        </p:nvSpPr>
        <p:spPr>
          <a:xfrm>
            <a:off x="277927" y="3473090"/>
            <a:ext cx="1382486" cy="125185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ko-KR" altLang="en-US" sz="1400" dirty="0">
                <a:solidFill>
                  <a:prstClr val="black"/>
                </a:solidFill>
              </a:rPr>
              <a:t>칼로 손목을 그음</a:t>
            </a:r>
          </a:p>
        </p:txBody>
      </p:sp>
      <p:sp>
        <p:nvSpPr>
          <p:cNvPr id="27" name="타원 26"/>
          <p:cNvSpPr/>
          <p:nvPr/>
        </p:nvSpPr>
        <p:spPr>
          <a:xfrm>
            <a:off x="216351" y="2349686"/>
            <a:ext cx="1382486" cy="125185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고통과 상처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1598" y="1980354"/>
            <a:ext cx="664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68694" y="2165019"/>
            <a:ext cx="214228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취약점</a:t>
            </a:r>
            <a:r>
              <a:rPr lang="en-US" altLang="ko-KR" sz="1600" dirty="0"/>
              <a:t>: </a:t>
            </a:r>
            <a:r>
              <a:rPr lang="ko-KR" altLang="en-US" sz="1400" dirty="0"/>
              <a:t>수면부족</a:t>
            </a:r>
            <a:r>
              <a:rPr lang="en-US" altLang="ko-KR" sz="1400" dirty="0"/>
              <a:t>, </a:t>
            </a:r>
          </a:p>
          <a:p>
            <a:r>
              <a:rPr lang="ko-KR" altLang="en-US" sz="1400" dirty="0"/>
              <a:t>우울</a:t>
            </a:r>
            <a:r>
              <a:rPr lang="en-US" altLang="ko-KR" sz="1400" dirty="0"/>
              <a:t>, </a:t>
            </a:r>
            <a:r>
              <a:rPr lang="ko-KR" altLang="en-US" sz="1400" dirty="0"/>
              <a:t>좌절감</a:t>
            </a:r>
            <a:r>
              <a:rPr lang="en-US" altLang="ko-KR" sz="1400" dirty="0"/>
              <a:t>, </a:t>
            </a:r>
            <a:r>
              <a:rPr lang="ko-KR" altLang="en-US" sz="1400" dirty="0"/>
              <a:t>불안</a:t>
            </a:r>
            <a:r>
              <a:rPr lang="en-US" altLang="ko-KR" sz="1400" dirty="0"/>
              <a:t>,</a:t>
            </a:r>
          </a:p>
          <a:p>
            <a:r>
              <a:rPr lang="ko-KR" altLang="en-US" sz="1400" dirty="0"/>
              <a:t>솔직하게 표현하지 못함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40813" y="3701003"/>
            <a:ext cx="192743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결과</a:t>
            </a:r>
            <a:r>
              <a:rPr lang="en-US" altLang="ko-KR" sz="1600" dirty="0"/>
              <a:t>: </a:t>
            </a:r>
            <a:r>
              <a:rPr lang="ko-KR" altLang="en-US" sz="1400" dirty="0"/>
              <a:t>친한 친구와 싸움</a:t>
            </a:r>
            <a:r>
              <a:rPr lang="en-US" altLang="ko-KR" sz="1400" dirty="0"/>
              <a:t>, </a:t>
            </a:r>
            <a:r>
              <a:rPr lang="ko-KR" altLang="en-US" sz="1400" dirty="0"/>
              <a:t>상처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71864" y="3829047"/>
            <a:ext cx="259466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다음 번에 할 수 있는 </a:t>
            </a:r>
            <a:endParaRPr lang="en-US" altLang="ko-KR" sz="1400" dirty="0"/>
          </a:p>
          <a:p>
            <a:r>
              <a:rPr lang="ko-KR" altLang="en-US" sz="1400" dirty="0"/>
              <a:t>다른 행동</a:t>
            </a:r>
            <a:r>
              <a:rPr lang="en-US" altLang="ko-KR" sz="1400" dirty="0"/>
              <a:t>: </a:t>
            </a:r>
            <a:r>
              <a:rPr lang="ko-KR" altLang="en-US" sz="1400" dirty="0"/>
              <a:t>친구에게 솔직하게 다가가기</a:t>
            </a:r>
            <a:r>
              <a:rPr lang="en-US" altLang="ko-KR" sz="1400" dirty="0"/>
              <a:t>, </a:t>
            </a:r>
            <a:r>
              <a:rPr lang="ko-KR" altLang="en-US" sz="1400" dirty="0"/>
              <a:t>충분한 수면취하기</a:t>
            </a:r>
          </a:p>
        </p:txBody>
      </p:sp>
    </p:spTree>
    <p:extLst>
      <p:ext uri="{BB962C8B-B14F-4D97-AF65-F5344CB8AC3E}">
        <p14:creationId xmlns:p14="http://schemas.microsoft.com/office/powerpoint/2010/main" val="30328037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타원 7"/>
          <p:cNvSpPr/>
          <p:nvPr/>
        </p:nvSpPr>
        <p:spPr>
          <a:xfrm>
            <a:off x="2646591" y="1954530"/>
            <a:ext cx="2148246" cy="176348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89013"/>
            <a:r>
              <a:rPr lang="ko-KR" altLang="en-US" sz="2000" dirty="0">
                <a:solidFill>
                  <a:schemeClr val="tx1"/>
                </a:solidFill>
              </a:rPr>
              <a:t>엄마와 싸움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21030" y="2063933"/>
            <a:ext cx="9555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문제</a:t>
            </a:r>
          </a:p>
        </p:txBody>
      </p:sp>
      <p:sp>
        <p:nvSpPr>
          <p:cNvPr id="10" name="타원 9"/>
          <p:cNvSpPr/>
          <p:nvPr/>
        </p:nvSpPr>
        <p:spPr>
          <a:xfrm>
            <a:off x="2119992" y="451366"/>
            <a:ext cx="1590177" cy="125185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기대한 만큼의 성적이 나오지 않음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585" y="707963"/>
            <a:ext cx="664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시작</a:t>
            </a:r>
          </a:p>
        </p:txBody>
      </p:sp>
      <p:sp>
        <p:nvSpPr>
          <p:cNvPr id="12" name="타원 11"/>
          <p:cNvSpPr/>
          <p:nvPr/>
        </p:nvSpPr>
        <p:spPr>
          <a:xfrm>
            <a:off x="3429002" y="341963"/>
            <a:ext cx="1528348" cy="125185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생각 </a:t>
            </a:r>
            <a:r>
              <a:rPr lang="en-US" altLang="ko-KR" sz="1200" dirty="0">
                <a:solidFill>
                  <a:schemeClr val="tx1"/>
                </a:solidFill>
              </a:rPr>
              <a:t>“</a:t>
            </a:r>
            <a:r>
              <a:rPr lang="ko-KR" altLang="en-US" sz="1200" dirty="0">
                <a:solidFill>
                  <a:schemeClr val="tx1"/>
                </a:solidFill>
              </a:rPr>
              <a:t>망했네</a:t>
            </a:r>
            <a:r>
              <a:rPr lang="en-US" altLang="ko-KR" sz="1200" dirty="0">
                <a:solidFill>
                  <a:schemeClr val="tx1"/>
                </a:solidFill>
              </a:rPr>
              <a:t>. </a:t>
            </a: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엄마한테 혼나겠다＂</a:t>
            </a:r>
          </a:p>
        </p:txBody>
      </p:sp>
      <p:sp>
        <p:nvSpPr>
          <p:cNvPr id="13" name="타원 12"/>
          <p:cNvSpPr/>
          <p:nvPr/>
        </p:nvSpPr>
        <p:spPr>
          <a:xfrm>
            <a:off x="990600" y="892629"/>
            <a:ext cx="1510128" cy="125185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시험 성적표가 나옴</a:t>
            </a:r>
          </a:p>
        </p:txBody>
      </p:sp>
      <p:sp>
        <p:nvSpPr>
          <p:cNvPr id="14" name="타원 13"/>
          <p:cNvSpPr/>
          <p:nvPr/>
        </p:nvSpPr>
        <p:spPr>
          <a:xfrm>
            <a:off x="4839560" y="451366"/>
            <a:ext cx="1512687" cy="125185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생각 </a:t>
            </a:r>
            <a:r>
              <a:rPr lang="en-US" altLang="ko-KR" sz="1200" dirty="0">
                <a:solidFill>
                  <a:schemeClr val="tx1"/>
                </a:solidFill>
              </a:rPr>
              <a:t>“</a:t>
            </a:r>
            <a:r>
              <a:rPr lang="ko-KR" altLang="en-US" sz="1200" dirty="0">
                <a:solidFill>
                  <a:schemeClr val="tx1"/>
                </a:solidFill>
              </a:rPr>
              <a:t>이래서 대학은 갈 수 있을까＂</a:t>
            </a:r>
          </a:p>
        </p:txBody>
      </p:sp>
      <p:sp>
        <p:nvSpPr>
          <p:cNvPr id="15" name="타원 14"/>
          <p:cNvSpPr/>
          <p:nvPr/>
        </p:nvSpPr>
        <p:spPr>
          <a:xfrm>
            <a:off x="6204532" y="622205"/>
            <a:ext cx="1555730" cy="125185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</a:rPr>
              <a:t>좌절스럽고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우울해짐</a:t>
            </a:r>
          </a:p>
        </p:txBody>
      </p:sp>
      <p:sp>
        <p:nvSpPr>
          <p:cNvPr id="16" name="타원 15"/>
          <p:cNvSpPr/>
          <p:nvPr/>
        </p:nvSpPr>
        <p:spPr>
          <a:xfrm>
            <a:off x="7410981" y="2581251"/>
            <a:ext cx="1498349" cy="125185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귀가 후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엄마 표정이 좋지 않음</a:t>
            </a:r>
          </a:p>
        </p:txBody>
      </p:sp>
      <p:sp>
        <p:nvSpPr>
          <p:cNvPr id="17" name="타원 16"/>
          <p:cNvSpPr/>
          <p:nvPr/>
        </p:nvSpPr>
        <p:spPr>
          <a:xfrm>
            <a:off x="7321782" y="3718016"/>
            <a:ext cx="1587548" cy="125185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ko-KR" altLang="en-US" sz="1200" dirty="0">
                <a:solidFill>
                  <a:prstClr val="black"/>
                </a:solidFill>
              </a:rPr>
              <a:t>생각 </a:t>
            </a:r>
            <a:r>
              <a:rPr lang="en-US" altLang="ko-KR" sz="1200" dirty="0">
                <a:solidFill>
                  <a:prstClr val="black"/>
                </a:solidFill>
              </a:rPr>
              <a:t>“</a:t>
            </a:r>
            <a:r>
              <a:rPr lang="ko-KR" altLang="en-US" sz="1200" dirty="0">
                <a:solidFill>
                  <a:prstClr val="black"/>
                </a:solidFill>
              </a:rPr>
              <a:t>성적표 나오는 날인 걸 알고 미리 화가 나신 것 같다</a:t>
            </a:r>
            <a:r>
              <a:rPr lang="en-US" altLang="ko-KR" sz="1200" dirty="0">
                <a:solidFill>
                  <a:prstClr val="black"/>
                </a:solidFill>
              </a:rPr>
              <a:t>＂</a:t>
            </a:r>
            <a:endParaRPr lang="ko-KR" altLang="en-US" sz="1200" dirty="0">
              <a:solidFill>
                <a:prstClr val="black"/>
              </a:solidFill>
            </a:endParaRPr>
          </a:p>
        </p:txBody>
      </p:sp>
      <p:sp>
        <p:nvSpPr>
          <p:cNvPr id="18" name="타원 17"/>
          <p:cNvSpPr/>
          <p:nvPr/>
        </p:nvSpPr>
        <p:spPr>
          <a:xfrm>
            <a:off x="7127699" y="1518557"/>
            <a:ext cx="1620028" cy="125185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ko-KR" altLang="en-US" sz="1400" dirty="0">
                <a:solidFill>
                  <a:prstClr val="black"/>
                </a:solidFill>
              </a:rPr>
              <a:t>아무 것도 하기 싫고</a:t>
            </a:r>
            <a:r>
              <a:rPr lang="en-US" altLang="ko-KR" sz="1400" dirty="0">
                <a:solidFill>
                  <a:prstClr val="black"/>
                </a:solidFill>
              </a:rPr>
              <a:t>, </a:t>
            </a:r>
            <a:r>
              <a:rPr lang="ko-KR" altLang="en-US" sz="1400" dirty="0">
                <a:solidFill>
                  <a:prstClr val="black"/>
                </a:solidFill>
              </a:rPr>
              <a:t>입맛도 없음</a:t>
            </a:r>
          </a:p>
        </p:txBody>
      </p:sp>
      <p:sp>
        <p:nvSpPr>
          <p:cNvPr id="19" name="타원 18"/>
          <p:cNvSpPr/>
          <p:nvPr/>
        </p:nvSpPr>
        <p:spPr>
          <a:xfrm>
            <a:off x="7115982" y="4841541"/>
            <a:ext cx="1603253" cy="125185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prstClr val="black"/>
                </a:solidFill>
              </a:rPr>
              <a:t>더 긴장되고 위축됨</a:t>
            </a:r>
          </a:p>
        </p:txBody>
      </p:sp>
      <p:sp>
        <p:nvSpPr>
          <p:cNvPr id="21" name="타원 20"/>
          <p:cNvSpPr/>
          <p:nvPr/>
        </p:nvSpPr>
        <p:spPr>
          <a:xfrm>
            <a:off x="3242612" y="5436475"/>
            <a:ext cx="1382486" cy="125185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생각 </a:t>
            </a:r>
            <a:r>
              <a:rPr lang="en-US" altLang="ko-KR" sz="1400" dirty="0">
                <a:solidFill>
                  <a:schemeClr val="tx1"/>
                </a:solidFill>
              </a:rPr>
              <a:t>“</a:t>
            </a:r>
            <a:r>
              <a:rPr lang="ko-KR" altLang="en-US" sz="1400" dirty="0">
                <a:solidFill>
                  <a:schemeClr val="tx1"/>
                </a:solidFill>
              </a:rPr>
              <a:t>내 입장을 생각해주지  않는다</a:t>
            </a:r>
            <a:r>
              <a:rPr lang="en-US" altLang="ko-KR" sz="1400" dirty="0">
                <a:solidFill>
                  <a:schemeClr val="tx1"/>
                </a:solidFill>
              </a:rPr>
              <a:t>＂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22" name="타원 21"/>
          <p:cNvSpPr/>
          <p:nvPr/>
        </p:nvSpPr>
        <p:spPr>
          <a:xfrm>
            <a:off x="2028565" y="5362377"/>
            <a:ext cx="1382486" cy="125185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서운하고 짜증이 남</a:t>
            </a:r>
          </a:p>
        </p:txBody>
      </p:sp>
      <p:sp>
        <p:nvSpPr>
          <p:cNvPr id="23" name="타원 22"/>
          <p:cNvSpPr/>
          <p:nvPr/>
        </p:nvSpPr>
        <p:spPr>
          <a:xfrm>
            <a:off x="875412" y="5125921"/>
            <a:ext cx="1382486" cy="125185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퉁명스럽게 반응함</a:t>
            </a:r>
          </a:p>
        </p:txBody>
      </p:sp>
      <p:sp>
        <p:nvSpPr>
          <p:cNvPr id="24" name="타원 23"/>
          <p:cNvSpPr/>
          <p:nvPr/>
        </p:nvSpPr>
        <p:spPr>
          <a:xfrm>
            <a:off x="5785748" y="5338453"/>
            <a:ext cx="1631266" cy="125185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엄마가 성적표를 보고 걱정을 하심</a:t>
            </a:r>
          </a:p>
        </p:txBody>
      </p:sp>
      <p:sp>
        <p:nvSpPr>
          <p:cNvPr id="26" name="타원 25"/>
          <p:cNvSpPr/>
          <p:nvPr/>
        </p:nvSpPr>
        <p:spPr>
          <a:xfrm>
            <a:off x="246127" y="4161103"/>
            <a:ext cx="1513806" cy="125185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ko-KR" altLang="en-US" sz="1200" dirty="0">
                <a:solidFill>
                  <a:prstClr val="black"/>
                </a:solidFill>
              </a:rPr>
              <a:t>엄마도 기분이 상해 나를 책망하는 말을 함</a:t>
            </a:r>
          </a:p>
        </p:txBody>
      </p:sp>
      <p:sp>
        <p:nvSpPr>
          <p:cNvPr id="27" name="타원 26"/>
          <p:cNvSpPr/>
          <p:nvPr/>
        </p:nvSpPr>
        <p:spPr>
          <a:xfrm>
            <a:off x="165359" y="3041436"/>
            <a:ext cx="1594573" cy="125185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매우 </a:t>
            </a:r>
            <a:r>
              <a:rPr lang="ko-KR" altLang="en-US" sz="1400">
                <a:solidFill>
                  <a:schemeClr val="tx1"/>
                </a:solidFill>
              </a:rPr>
              <a:t>화가 나서 엄마와 싸우게 됨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14365" y="2644085"/>
            <a:ext cx="664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47329" y="2265428"/>
            <a:ext cx="214228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취약점</a:t>
            </a:r>
            <a:r>
              <a:rPr lang="en-US" altLang="ko-KR" sz="1600" dirty="0"/>
              <a:t>: </a:t>
            </a:r>
            <a:r>
              <a:rPr lang="ko-KR" altLang="en-US" sz="1400" dirty="0"/>
              <a:t>부정적인 생각</a:t>
            </a:r>
            <a:r>
              <a:rPr lang="en-US" altLang="ko-KR" sz="1400" dirty="0"/>
              <a:t>,</a:t>
            </a:r>
          </a:p>
          <a:p>
            <a:r>
              <a:rPr lang="ko-KR" altLang="en-US" sz="1400" dirty="0"/>
              <a:t>상대의 생각을 지레 짐작</a:t>
            </a:r>
            <a:endParaRPr lang="en-US" altLang="ko-KR" sz="1400" dirty="0"/>
          </a:p>
        </p:txBody>
      </p:sp>
      <p:sp>
        <p:nvSpPr>
          <p:cNvPr id="30" name="TextBox 29"/>
          <p:cNvSpPr txBox="1"/>
          <p:nvPr/>
        </p:nvSpPr>
        <p:spPr>
          <a:xfrm>
            <a:off x="5078119" y="3701003"/>
            <a:ext cx="20901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결과</a:t>
            </a:r>
            <a:r>
              <a:rPr lang="en-US" altLang="ko-KR" sz="1600" dirty="0"/>
              <a:t>: </a:t>
            </a:r>
            <a:r>
              <a:rPr lang="ko-KR" altLang="en-US" sz="1400" dirty="0"/>
              <a:t>엄마와의 말다툼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71864" y="3829047"/>
            <a:ext cx="259466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다음 번에 할 수 있는 </a:t>
            </a:r>
            <a:endParaRPr lang="en-US" altLang="ko-KR" sz="1400" dirty="0"/>
          </a:p>
          <a:p>
            <a:r>
              <a:rPr lang="ko-KR" altLang="en-US" sz="1400" dirty="0"/>
              <a:t>다른 행동</a:t>
            </a:r>
            <a:r>
              <a:rPr lang="en-US" altLang="ko-KR" sz="1400" dirty="0"/>
              <a:t>: </a:t>
            </a:r>
            <a:r>
              <a:rPr lang="ko-KR" altLang="en-US" sz="1400" dirty="0"/>
              <a:t>부정적인 생각 인식하고 </a:t>
            </a:r>
            <a:r>
              <a:rPr lang="ko-KR" altLang="en-US" sz="1400"/>
              <a:t>대안생각 찾아보기</a:t>
            </a:r>
            <a:endParaRPr lang="ko-KR" altLang="en-US" sz="1400" dirty="0"/>
          </a:p>
        </p:txBody>
      </p:sp>
      <p:sp>
        <p:nvSpPr>
          <p:cNvPr id="32" name="타원 31"/>
          <p:cNvSpPr/>
          <p:nvPr/>
        </p:nvSpPr>
        <p:spPr>
          <a:xfrm>
            <a:off x="4466532" y="5436476"/>
            <a:ext cx="1488800" cy="125185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생각 </a:t>
            </a:r>
            <a:r>
              <a:rPr lang="en-US" altLang="ko-KR" sz="1400" dirty="0">
                <a:solidFill>
                  <a:schemeClr val="tx1"/>
                </a:solidFill>
              </a:rPr>
              <a:t>“</a:t>
            </a:r>
            <a:r>
              <a:rPr lang="ko-KR" altLang="en-US" sz="1400" dirty="0">
                <a:solidFill>
                  <a:schemeClr val="tx1"/>
                </a:solidFill>
              </a:rPr>
              <a:t>맨날 공부하라고 잔소리만 하네</a:t>
            </a:r>
            <a:r>
              <a:rPr lang="en-US" altLang="ko-KR" sz="1400" dirty="0">
                <a:solidFill>
                  <a:schemeClr val="tx1"/>
                </a:solidFill>
              </a:rPr>
              <a:t>＂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80426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타원 7"/>
          <p:cNvSpPr/>
          <p:nvPr/>
        </p:nvSpPr>
        <p:spPr>
          <a:xfrm>
            <a:off x="2289710" y="2644085"/>
            <a:ext cx="2148246" cy="176348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89013"/>
            <a:endParaRPr lang="en-US" altLang="ko-KR" sz="2000" dirty="0">
              <a:solidFill>
                <a:schemeClr val="tx1"/>
              </a:solidFill>
            </a:endParaRPr>
          </a:p>
          <a:p>
            <a:pPr algn="ctr" defTabSz="989013"/>
            <a:r>
              <a:rPr lang="en-US" altLang="ko-KR" sz="2000" dirty="0">
                <a:solidFill>
                  <a:schemeClr val="tx1"/>
                </a:solidFill>
              </a:rPr>
              <a:t>Fight with mom</a:t>
            </a:r>
            <a:endParaRPr lang="ko-KR" altLang="en-US" sz="2000" dirty="0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751292" y="2828751"/>
            <a:ext cx="12866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Problem</a:t>
            </a:r>
            <a:endParaRPr lang="ko-KR" altLang="en-US" sz="2400" b="1" dirty="0"/>
          </a:p>
        </p:txBody>
      </p:sp>
      <p:sp>
        <p:nvSpPr>
          <p:cNvPr id="10" name="타원 9"/>
          <p:cNvSpPr/>
          <p:nvPr/>
        </p:nvSpPr>
        <p:spPr>
          <a:xfrm>
            <a:off x="2119992" y="451366"/>
            <a:ext cx="1590177" cy="125185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did not get as much as expected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8585" y="707963"/>
            <a:ext cx="664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시작</a:t>
            </a:r>
          </a:p>
        </p:txBody>
      </p:sp>
      <p:sp>
        <p:nvSpPr>
          <p:cNvPr id="12" name="타원 11"/>
          <p:cNvSpPr/>
          <p:nvPr/>
        </p:nvSpPr>
        <p:spPr>
          <a:xfrm>
            <a:off x="3429002" y="341963"/>
            <a:ext cx="1528348" cy="125185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thought</a:t>
            </a:r>
            <a:r>
              <a:rPr lang="ko-KR" altLang="en-US" sz="1400" dirty="0">
                <a:solidFill>
                  <a:schemeClr val="tx1"/>
                </a:solidFill>
              </a:rPr>
              <a:t> </a:t>
            </a:r>
            <a:r>
              <a:rPr lang="en-US" altLang="ko-KR" sz="1400" dirty="0">
                <a:solidFill>
                  <a:schemeClr val="tx1"/>
                </a:solidFill>
              </a:rPr>
              <a:t>“</a:t>
            </a:r>
            <a:r>
              <a:rPr lang="en-US" altLang="ko-KR" sz="1400" dirty="0">
                <a:solidFill>
                  <a:schemeClr val="tx1"/>
                </a:solidFill>
              </a:rPr>
              <a:t>I'm screwed.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Mom's going to kill me.</a:t>
            </a:r>
            <a:r>
              <a:rPr lang="ko-KR" altLang="en-US" sz="1400" dirty="0">
                <a:solidFill>
                  <a:schemeClr val="tx1"/>
                </a:solidFill>
              </a:rPr>
              <a:t>＂</a:t>
            </a:r>
          </a:p>
        </p:txBody>
      </p:sp>
      <p:sp>
        <p:nvSpPr>
          <p:cNvPr id="13" name="타원 12"/>
          <p:cNvSpPr/>
          <p:nvPr/>
        </p:nvSpPr>
        <p:spPr>
          <a:xfrm>
            <a:off x="990600" y="892629"/>
            <a:ext cx="1510128" cy="125185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Got a test report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4" name="타원 13"/>
          <p:cNvSpPr/>
          <p:nvPr/>
        </p:nvSpPr>
        <p:spPr>
          <a:xfrm>
            <a:off x="4839560" y="451366"/>
            <a:ext cx="1512687" cy="125185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Thought “</a:t>
            </a:r>
            <a:r>
              <a:rPr lang="en-US" altLang="ko-KR" sz="1400" dirty="0">
                <a:solidFill>
                  <a:schemeClr val="tx1"/>
                </a:solidFill>
              </a:rPr>
              <a:t>Can I go to college with these grades?</a:t>
            </a:r>
            <a:r>
              <a:rPr lang="ko-KR" altLang="en-US" sz="1400" dirty="0">
                <a:solidFill>
                  <a:schemeClr val="tx1"/>
                </a:solidFill>
              </a:rPr>
              <a:t>＂</a:t>
            </a:r>
          </a:p>
        </p:txBody>
      </p:sp>
      <p:sp>
        <p:nvSpPr>
          <p:cNvPr id="15" name="타원 14"/>
          <p:cNvSpPr/>
          <p:nvPr/>
        </p:nvSpPr>
        <p:spPr>
          <a:xfrm>
            <a:off x="6204532" y="622205"/>
            <a:ext cx="1555730" cy="125185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Feeling frustrated, depressed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6" name="타원 15"/>
          <p:cNvSpPr/>
          <p:nvPr/>
        </p:nvSpPr>
        <p:spPr>
          <a:xfrm>
            <a:off x="7410981" y="2581251"/>
            <a:ext cx="1498349" cy="125185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Mom seems to feel bad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7" name="타원 16"/>
          <p:cNvSpPr/>
          <p:nvPr/>
        </p:nvSpPr>
        <p:spPr>
          <a:xfrm>
            <a:off x="7226188" y="3718016"/>
            <a:ext cx="1683142" cy="125185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ko-KR" sz="1200" dirty="0">
                <a:solidFill>
                  <a:prstClr val="black"/>
                </a:solidFill>
              </a:rPr>
              <a:t>Thought</a:t>
            </a:r>
            <a:r>
              <a:rPr lang="ko-KR" altLang="en-US" sz="1200" dirty="0">
                <a:solidFill>
                  <a:prstClr val="black"/>
                </a:solidFill>
              </a:rPr>
              <a:t>  </a:t>
            </a:r>
            <a:r>
              <a:rPr lang="en-US" altLang="ko-KR" sz="1200" dirty="0">
                <a:solidFill>
                  <a:prstClr val="black"/>
                </a:solidFill>
              </a:rPr>
              <a:t>“She seems to be angry, because she already knew my grade”</a:t>
            </a:r>
            <a:endParaRPr lang="ko-KR" altLang="en-US" sz="1200" dirty="0">
              <a:solidFill>
                <a:prstClr val="black"/>
              </a:solidFill>
            </a:endParaRPr>
          </a:p>
        </p:txBody>
      </p:sp>
      <p:sp>
        <p:nvSpPr>
          <p:cNvPr id="18" name="타원 17"/>
          <p:cNvSpPr/>
          <p:nvPr/>
        </p:nvSpPr>
        <p:spPr>
          <a:xfrm>
            <a:off x="7127699" y="1518557"/>
            <a:ext cx="1620028" cy="125185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ko-KR" sz="1400" dirty="0">
                <a:solidFill>
                  <a:prstClr val="black"/>
                </a:solidFill>
              </a:rPr>
              <a:t>Don’t want to do anything, lose appetite</a:t>
            </a:r>
            <a:endParaRPr lang="ko-KR" altLang="en-US" sz="1400" dirty="0">
              <a:solidFill>
                <a:prstClr val="black"/>
              </a:solidFill>
            </a:endParaRPr>
          </a:p>
        </p:txBody>
      </p:sp>
      <p:sp>
        <p:nvSpPr>
          <p:cNvPr id="19" name="타원 18"/>
          <p:cNvSpPr/>
          <p:nvPr/>
        </p:nvSpPr>
        <p:spPr>
          <a:xfrm>
            <a:off x="7115982" y="4841541"/>
            <a:ext cx="1603253" cy="125185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</a:rPr>
              <a:t>Be more tensed and cower</a:t>
            </a:r>
            <a:endParaRPr lang="ko-KR" altLang="en-US" sz="1400" dirty="0">
              <a:solidFill>
                <a:prstClr val="black"/>
              </a:solidFill>
            </a:endParaRPr>
          </a:p>
        </p:txBody>
      </p:sp>
      <p:sp>
        <p:nvSpPr>
          <p:cNvPr id="21" name="타원 20"/>
          <p:cNvSpPr/>
          <p:nvPr/>
        </p:nvSpPr>
        <p:spPr>
          <a:xfrm>
            <a:off x="3147801" y="5436475"/>
            <a:ext cx="1582465" cy="125185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Thought</a:t>
            </a:r>
            <a:r>
              <a:rPr lang="ko-KR" altLang="en-US" sz="1400" dirty="0">
                <a:solidFill>
                  <a:schemeClr val="tx1"/>
                </a:solidFill>
              </a:rPr>
              <a:t> </a:t>
            </a:r>
            <a:r>
              <a:rPr lang="en-US" altLang="ko-KR" sz="1400" dirty="0">
                <a:solidFill>
                  <a:schemeClr val="tx1"/>
                </a:solidFill>
              </a:rPr>
              <a:t>“She doesn’t consider my position＂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22" name="타원 21"/>
          <p:cNvSpPr/>
          <p:nvPr/>
        </p:nvSpPr>
        <p:spPr>
          <a:xfrm>
            <a:off x="2028565" y="5362377"/>
            <a:ext cx="1382486" cy="125185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Feel bad about mom and be annoyed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23" name="타원 22"/>
          <p:cNvSpPr/>
          <p:nvPr/>
        </p:nvSpPr>
        <p:spPr>
          <a:xfrm>
            <a:off x="875412" y="5125921"/>
            <a:ext cx="1382486" cy="125185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reacted bluntly to mom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24" name="타원 23"/>
          <p:cNvSpPr/>
          <p:nvPr/>
        </p:nvSpPr>
        <p:spPr>
          <a:xfrm>
            <a:off x="5785748" y="5338453"/>
            <a:ext cx="1631266" cy="125185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Mom worried after seeing my report card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26" name="타원 25"/>
          <p:cNvSpPr/>
          <p:nvPr/>
        </p:nvSpPr>
        <p:spPr>
          <a:xfrm>
            <a:off x="246127" y="4161103"/>
            <a:ext cx="1513806" cy="125185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ko-KR" sz="1200" dirty="0">
                <a:solidFill>
                  <a:prstClr val="black"/>
                </a:solidFill>
              </a:rPr>
              <a:t>Mom was also upset, so she blamed me</a:t>
            </a:r>
            <a:endParaRPr lang="ko-KR" altLang="en-US" sz="1200" dirty="0">
              <a:solidFill>
                <a:prstClr val="black"/>
              </a:solidFill>
            </a:endParaRPr>
          </a:p>
        </p:txBody>
      </p:sp>
      <p:sp>
        <p:nvSpPr>
          <p:cNvPr id="27" name="타원 26"/>
          <p:cNvSpPr/>
          <p:nvPr/>
        </p:nvSpPr>
        <p:spPr>
          <a:xfrm>
            <a:off x="165359" y="3041436"/>
            <a:ext cx="1594573" cy="125185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Being so angry that </a:t>
            </a:r>
            <a:r>
              <a:rPr lang="en-US" altLang="ko-KR" sz="1400" dirty="0" err="1">
                <a:solidFill>
                  <a:schemeClr val="tx1"/>
                </a:solidFill>
              </a:rPr>
              <a:t>Ifought</a:t>
            </a:r>
            <a:r>
              <a:rPr lang="en-US" altLang="ko-KR" sz="1400" dirty="0">
                <a:solidFill>
                  <a:schemeClr val="tx1"/>
                </a:solidFill>
              </a:rPr>
              <a:t> with mom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14365" y="2644085"/>
            <a:ext cx="664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42260" y="3114663"/>
            <a:ext cx="2142287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Vulnerability </a:t>
            </a:r>
            <a:r>
              <a:rPr lang="en-US" altLang="ko-KR" sz="1600" dirty="0"/>
              <a:t>: negative thought, </a:t>
            </a:r>
            <a:r>
              <a:rPr lang="en-US" altLang="ko-KR" sz="1600" dirty="0"/>
              <a:t>guess about the other's mind</a:t>
            </a:r>
          </a:p>
          <a:p>
            <a:endParaRPr lang="en-US" altLang="ko-KR" sz="1400" dirty="0"/>
          </a:p>
        </p:txBody>
      </p:sp>
      <p:sp>
        <p:nvSpPr>
          <p:cNvPr id="32" name="타원 31"/>
          <p:cNvSpPr/>
          <p:nvPr/>
        </p:nvSpPr>
        <p:spPr>
          <a:xfrm>
            <a:off x="4466532" y="5436476"/>
            <a:ext cx="1488800" cy="125185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Thought </a:t>
            </a:r>
            <a:r>
              <a:rPr lang="ko-KR" altLang="en-US" sz="1400" dirty="0">
                <a:solidFill>
                  <a:schemeClr val="tx1"/>
                </a:solidFill>
              </a:rPr>
              <a:t> </a:t>
            </a:r>
            <a:r>
              <a:rPr lang="en-US" altLang="ko-KR" sz="1400" dirty="0">
                <a:solidFill>
                  <a:schemeClr val="tx1"/>
                </a:solidFill>
              </a:rPr>
              <a:t>“she nags me to study every day＂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79529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727</TotalTime>
  <Words>366</Words>
  <Application>Microsoft Office PowerPoint</Application>
  <PresentationFormat>화면 슬라이드 쇼(4:3)</PresentationFormat>
  <Paragraphs>76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8" baseType="lpstr">
      <vt:lpstr>맑은 고딕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Hyejin Jeon</dc:creator>
  <cp:lastModifiedBy>SNUH</cp:lastModifiedBy>
  <cp:revision>16</cp:revision>
  <dcterms:created xsi:type="dcterms:W3CDTF">2014-12-10T15:03:05Z</dcterms:created>
  <dcterms:modified xsi:type="dcterms:W3CDTF">2017-02-24T07:03:11Z</dcterms:modified>
</cp:coreProperties>
</file>